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 id="2147483709" r:id="rId5"/>
    <p:sldMasterId id="2147483722" r:id="rId6"/>
    <p:sldMasterId id="2147483735" r:id="rId7"/>
  </p:sldMasterIdLst>
  <p:notesMasterIdLst>
    <p:notesMasterId r:id="rId81"/>
  </p:notesMasterIdLst>
  <p:sldIdLst>
    <p:sldId id="257" r:id="rId8"/>
    <p:sldId id="259" r:id="rId9"/>
    <p:sldId id="260" r:id="rId10"/>
    <p:sldId id="261" r:id="rId11"/>
    <p:sldId id="262" r:id="rId12"/>
    <p:sldId id="263" r:id="rId13"/>
    <p:sldId id="264" r:id="rId14"/>
    <p:sldId id="265" r:id="rId15"/>
    <p:sldId id="266" r:id="rId16"/>
    <p:sldId id="267" r:id="rId17"/>
    <p:sldId id="278" r:id="rId18"/>
    <p:sldId id="281" r:id="rId19"/>
    <p:sldId id="284" r:id="rId20"/>
    <p:sldId id="285" r:id="rId21"/>
    <p:sldId id="282" r:id="rId22"/>
    <p:sldId id="283" r:id="rId23"/>
    <p:sldId id="286" r:id="rId24"/>
    <p:sldId id="287" r:id="rId25"/>
    <p:sldId id="279" r:id="rId26"/>
    <p:sldId id="280" r:id="rId27"/>
    <p:sldId id="288" r:id="rId28"/>
    <p:sldId id="289" r:id="rId29"/>
    <p:sldId id="290" r:id="rId30"/>
    <p:sldId id="291" r:id="rId31"/>
    <p:sldId id="292" r:id="rId32"/>
    <p:sldId id="293" r:id="rId33"/>
    <p:sldId id="294" r:id="rId34"/>
    <p:sldId id="295" r:id="rId35"/>
    <p:sldId id="296" r:id="rId36"/>
    <p:sldId id="297" r:id="rId37"/>
    <p:sldId id="269" r:id="rId38"/>
    <p:sldId id="270" r:id="rId39"/>
    <p:sldId id="271" r:id="rId40"/>
    <p:sldId id="272" r:id="rId41"/>
    <p:sldId id="273" r:id="rId42"/>
    <p:sldId id="274" r:id="rId43"/>
    <p:sldId id="298" r:id="rId44"/>
    <p:sldId id="299" r:id="rId45"/>
    <p:sldId id="300" r:id="rId46"/>
    <p:sldId id="301" r:id="rId47"/>
    <p:sldId id="302" r:id="rId48"/>
    <p:sldId id="275" r:id="rId49"/>
    <p:sldId id="276" r:id="rId50"/>
    <p:sldId id="303" r:id="rId51"/>
    <p:sldId id="304" r:id="rId52"/>
    <p:sldId id="277" r:id="rId53"/>
    <p:sldId id="305" r:id="rId54"/>
    <p:sldId id="306" r:id="rId55"/>
    <p:sldId id="307" r:id="rId56"/>
    <p:sldId id="308" r:id="rId57"/>
    <p:sldId id="309" r:id="rId58"/>
    <p:sldId id="310"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7" r:id="rId74"/>
    <p:sldId id="338" r:id="rId75"/>
    <p:sldId id="339" r:id="rId76"/>
    <p:sldId id="340" r:id="rId77"/>
    <p:sldId id="341" r:id="rId78"/>
    <p:sldId id="342" r:id="rId79"/>
    <p:sldId id="343" r:id="rId8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60" y="3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theme" Target="theme/theme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5.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7.xml"/><Relationship Id="rId71" Type="http://schemas.openxmlformats.org/officeDocument/2006/relationships/slide" Target="slides/slide64.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61" Type="http://schemas.openxmlformats.org/officeDocument/2006/relationships/slide" Target="slides/slide54.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2A377-316B-47BA-8B60-77710CE4748E}" type="datetimeFigureOut">
              <a:rPr lang="zh-CN" altLang="en-US" smtClean="0"/>
              <a:t>2023/4/13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1DBCCD-5D42-4042-9735-9FE6BCC3BEF9}" type="slidenum">
              <a:rPr lang="zh-CN" altLang="en-US" smtClean="0"/>
              <a:t>‹#›</a:t>
            </a:fld>
            <a:endParaRPr lang="zh-CN" altLang="en-US"/>
          </a:p>
        </p:txBody>
      </p:sp>
    </p:spTree>
    <p:extLst>
      <p:ext uri="{BB962C8B-B14F-4D97-AF65-F5344CB8AC3E}">
        <p14:creationId xmlns:p14="http://schemas.microsoft.com/office/powerpoint/2010/main" val="3719663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39546679-2729-2F05-8131-29921FD5170B}"/>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18435" name="备注占位符 2">
            <a:extLst>
              <a:ext uri="{FF2B5EF4-FFF2-40B4-BE49-F238E27FC236}">
                <a16:creationId xmlns:a16="http://schemas.microsoft.com/office/drawing/2014/main" id="{DDC40A2C-0277-06DA-BBCF-43C9CE06F793}"/>
              </a:ext>
            </a:extLst>
          </p:cNvPr>
          <p:cNvSpPr>
            <a:spLocks noGrp="1" noChangeArrowheads="1"/>
          </p:cNvSpPr>
          <p:nvPr>
            <p:ph type="body" idx="429496729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8436" name="灯片编号占位符 3">
            <a:extLst>
              <a:ext uri="{FF2B5EF4-FFF2-40B4-BE49-F238E27FC236}">
                <a16:creationId xmlns:a16="http://schemas.microsoft.com/office/drawing/2014/main" id="{60789B39-D532-1A6F-26DD-FD27709EA1E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等线" panose="02010600030101010101" pitchFamily="2" charset="-122"/>
                <a:ea typeface="等线" panose="02010600030101010101" pitchFamily="2" charset="-122"/>
              </a:defRPr>
            </a:lvl1pPr>
            <a:lvl2pPr marL="742950" indent="-285750">
              <a:spcBef>
                <a:spcPct val="30000"/>
              </a:spcBef>
              <a:defRPr sz="1200">
                <a:solidFill>
                  <a:schemeClr val="tx1"/>
                </a:solidFill>
                <a:latin typeface="等线" panose="02010600030101010101" pitchFamily="2" charset="-122"/>
                <a:ea typeface="等线" panose="02010600030101010101" pitchFamily="2" charset="-122"/>
              </a:defRPr>
            </a:lvl2pPr>
            <a:lvl3pPr marL="1143000" indent="-228600">
              <a:spcBef>
                <a:spcPct val="30000"/>
              </a:spcBef>
              <a:defRPr sz="1200">
                <a:solidFill>
                  <a:schemeClr val="tx1"/>
                </a:solidFill>
                <a:latin typeface="等线" panose="02010600030101010101" pitchFamily="2" charset="-122"/>
                <a:ea typeface="等线" panose="02010600030101010101" pitchFamily="2" charset="-122"/>
              </a:defRPr>
            </a:lvl3pPr>
            <a:lvl4pPr marL="1600200" indent="-228600">
              <a:spcBef>
                <a:spcPct val="30000"/>
              </a:spcBef>
              <a:defRPr sz="1200">
                <a:solidFill>
                  <a:schemeClr val="tx1"/>
                </a:solidFill>
                <a:latin typeface="等线" panose="02010600030101010101" pitchFamily="2" charset="-122"/>
                <a:ea typeface="等线" panose="02010600030101010101" pitchFamily="2" charset="-122"/>
              </a:defRPr>
            </a:lvl4pPr>
            <a:lvl5pPr marL="2057400" indent="-228600">
              <a:spcBef>
                <a:spcPct val="30000"/>
              </a:spcBef>
              <a:defRPr sz="1200">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30000"/>
              </a:spcBef>
              <a:spcAft>
                <a:spcPct val="0"/>
              </a:spcAft>
              <a:defRPr sz="1200">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30000"/>
              </a:spcBef>
              <a:spcAft>
                <a:spcPct val="0"/>
              </a:spcAft>
              <a:defRPr sz="1200">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30000"/>
              </a:spcBef>
              <a:spcAft>
                <a:spcPct val="0"/>
              </a:spcAft>
              <a:defRPr sz="1200">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30000"/>
              </a:spcBef>
              <a:spcAft>
                <a:spcPct val="0"/>
              </a:spcAft>
              <a:defRPr sz="1200">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91110F2-F59C-44D3-A1EC-590427F617CC}"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C796DC35-9012-401F-700E-D375F6900F4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备注占位符 2">
            <a:extLst>
              <a:ext uri="{FF2B5EF4-FFF2-40B4-BE49-F238E27FC236}">
                <a16:creationId xmlns:a16="http://schemas.microsoft.com/office/drawing/2014/main" id="{5B35D27A-C2F5-4858-A9A0-DEB6E7EAA0F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8436" name="灯片编号占位符 3">
            <a:extLst>
              <a:ext uri="{FF2B5EF4-FFF2-40B4-BE49-F238E27FC236}">
                <a16:creationId xmlns:a16="http://schemas.microsoft.com/office/drawing/2014/main" id="{B4E4BD01-9C76-9C78-9DF7-C48E5013BC2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71C891-BF42-40E3-B2C6-466D40A1FDCD}"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9F675D6C-4632-2394-D733-B9989ABD2AA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3DCDC897-F148-0464-E893-CB5734AF281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0484" name="灯片编号占位符 3">
            <a:extLst>
              <a:ext uri="{FF2B5EF4-FFF2-40B4-BE49-F238E27FC236}">
                <a16:creationId xmlns:a16="http://schemas.microsoft.com/office/drawing/2014/main" id="{A96E764A-AE40-24F0-F873-AF131A77A9D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0BBBB0-D85F-4F8C-A46C-94906121585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B0BE2C78-C24E-365E-A6B4-F1039CE1F51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a:extLst>
              <a:ext uri="{FF2B5EF4-FFF2-40B4-BE49-F238E27FC236}">
                <a16:creationId xmlns:a16="http://schemas.microsoft.com/office/drawing/2014/main" id="{F961F53A-0C7D-C750-4A2E-CB9351FCBA3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2532" name="灯片编号占位符 3">
            <a:extLst>
              <a:ext uri="{FF2B5EF4-FFF2-40B4-BE49-F238E27FC236}">
                <a16:creationId xmlns:a16="http://schemas.microsoft.com/office/drawing/2014/main" id="{0D9512C3-5F89-E12D-B033-65A57CB0C43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352AAE5-E9E7-4A3C-ADB3-C1D37063C3E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7511B86B-042A-DB88-5AFC-8C7C1838857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AE19FB26-A857-6D17-B2D6-6BE778CEB0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4580" name="灯片编号占位符 3">
            <a:extLst>
              <a:ext uri="{FF2B5EF4-FFF2-40B4-BE49-F238E27FC236}">
                <a16:creationId xmlns:a16="http://schemas.microsoft.com/office/drawing/2014/main" id="{C264DA72-96FF-E486-F25D-73702A6C900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0BB9BE-6A20-491B-A6F9-4F43CB38667C}"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177108EF-99ED-D26A-3C1B-515128E8189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备注占位符 2">
            <a:extLst>
              <a:ext uri="{FF2B5EF4-FFF2-40B4-BE49-F238E27FC236}">
                <a16:creationId xmlns:a16="http://schemas.microsoft.com/office/drawing/2014/main" id="{2BAE2C00-419F-BA07-B860-40CF173E09F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6628" name="灯片编号占位符 3">
            <a:extLst>
              <a:ext uri="{FF2B5EF4-FFF2-40B4-BE49-F238E27FC236}">
                <a16:creationId xmlns:a16="http://schemas.microsoft.com/office/drawing/2014/main" id="{DB3EA5CB-E473-1486-4A87-C043B0950EE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504396-F0C1-46AB-85AA-6CAEDF60CD5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1A705541-3B73-2750-291A-70A3E997C57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备注占位符 2">
            <a:extLst>
              <a:ext uri="{FF2B5EF4-FFF2-40B4-BE49-F238E27FC236}">
                <a16:creationId xmlns:a16="http://schemas.microsoft.com/office/drawing/2014/main" id="{E662659B-FB89-E770-90B0-C5EBDB3E280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8676" name="灯片编号占位符 3">
            <a:extLst>
              <a:ext uri="{FF2B5EF4-FFF2-40B4-BE49-F238E27FC236}">
                <a16:creationId xmlns:a16="http://schemas.microsoft.com/office/drawing/2014/main" id="{9A227716-E53E-827A-90A5-D039BA8F2C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90C7EC3-7B3E-402B-925F-DBED6EE54701}"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8C88978D-474C-5DA4-93C3-211374C69D5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备注占位符 2">
            <a:extLst>
              <a:ext uri="{FF2B5EF4-FFF2-40B4-BE49-F238E27FC236}">
                <a16:creationId xmlns:a16="http://schemas.microsoft.com/office/drawing/2014/main" id="{AEBBC736-A717-575A-0183-F3335D107E9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30724" name="灯片编号占位符 3">
            <a:extLst>
              <a:ext uri="{FF2B5EF4-FFF2-40B4-BE49-F238E27FC236}">
                <a16:creationId xmlns:a16="http://schemas.microsoft.com/office/drawing/2014/main" id="{451C0394-C65C-D530-5C68-687DB07CEB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6CFAE8-E087-4427-9554-EB2BB61CABDD}"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AC7FB284-0047-1AE3-DD95-54E6A5F2F5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备注占位符 2">
            <a:extLst>
              <a:ext uri="{FF2B5EF4-FFF2-40B4-BE49-F238E27FC236}">
                <a16:creationId xmlns:a16="http://schemas.microsoft.com/office/drawing/2014/main" id="{A7FECF48-958A-D02B-9DEE-49BD3B01673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32772" name="灯片编号占位符 3">
            <a:extLst>
              <a:ext uri="{FF2B5EF4-FFF2-40B4-BE49-F238E27FC236}">
                <a16:creationId xmlns:a16="http://schemas.microsoft.com/office/drawing/2014/main" id="{0B86510B-6953-DCEC-CC07-751013084BE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D4CCA9A-B513-4C36-8062-6C911939E301}"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08814F2A-D177-2571-7396-1C05EDAAEAD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备注占位符 2">
            <a:extLst>
              <a:ext uri="{FF2B5EF4-FFF2-40B4-BE49-F238E27FC236}">
                <a16:creationId xmlns:a16="http://schemas.microsoft.com/office/drawing/2014/main" id="{9A31F952-F21D-23E9-1E96-AFFFA2F753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34820" name="灯片编号占位符 3">
            <a:extLst>
              <a:ext uri="{FF2B5EF4-FFF2-40B4-BE49-F238E27FC236}">
                <a16:creationId xmlns:a16="http://schemas.microsoft.com/office/drawing/2014/main" id="{871658A9-BE41-79C6-19F9-FA4973854C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E921DE3-32B3-4830-9452-B9483488D36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83E87BB4-2BFF-8E12-4010-2FA6C27F144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a:extLst>
              <a:ext uri="{FF2B5EF4-FFF2-40B4-BE49-F238E27FC236}">
                <a16:creationId xmlns:a16="http://schemas.microsoft.com/office/drawing/2014/main" id="{9EA2C6F5-D81F-E405-E078-7907288FC48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36868" name="灯片编号占位符 3">
            <a:extLst>
              <a:ext uri="{FF2B5EF4-FFF2-40B4-BE49-F238E27FC236}">
                <a16:creationId xmlns:a16="http://schemas.microsoft.com/office/drawing/2014/main" id="{DAE9EFEA-753E-54AE-11DF-F4A9B74EDFD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E9C1C60-FE0A-483D-A939-63F2C536C778}"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E75860B6-D891-E282-F652-C5FC49025B8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备注占位符 2">
            <a:extLst>
              <a:ext uri="{FF2B5EF4-FFF2-40B4-BE49-F238E27FC236}">
                <a16:creationId xmlns:a16="http://schemas.microsoft.com/office/drawing/2014/main" id="{7D4FC431-8AFD-4EE8-DB2E-85E18AA9C1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53252" name="灯片编号占位符 3">
            <a:extLst>
              <a:ext uri="{FF2B5EF4-FFF2-40B4-BE49-F238E27FC236}">
                <a16:creationId xmlns:a16="http://schemas.microsoft.com/office/drawing/2014/main" id="{73289A2B-0016-639C-7304-44D12988229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6F39DAA-E874-4490-AD78-983694FDC3B8}"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D55B5DD0-9C60-BA6C-FAB6-08F91749D55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备注占位符 2">
            <a:extLst>
              <a:ext uri="{FF2B5EF4-FFF2-40B4-BE49-F238E27FC236}">
                <a16:creationId xmlns:a16="http://schemas.microsoft.com/office/drawing/2014/main" id="{130056B2-5AED-D473-2B5A-285AA49374F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57348" name="灯片编号占位符 3">
            <a:extLst>
              <a:ext uri="{FF2B5EF4-FFF2-40B4-BE49-F238E27FC236}">
                <a16:creationId xmlns:a16="http://schemas.microsoft.com/office/drawing/2014/main" id="{BDA6D133-5F4C-DDFF-3EA4-15A09B1A20A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5BFE51B-4489-4EC2-99CD-E34C86CB3441}"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1027">
            <a:extLst>
              <a:ext uri="{FF2B5EF4-FFF2-40B4-BE49-F238E27FC236}">
                <a16:creationId xmlns:a16="http://schemas.microsoft.com/office/drawing/2014/main" id="{47043B20-125A-E85D-A7D1-14EED3971629}"/>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BF1C9410-B0B3-917B-9C28-21DC15B68FEF}"/>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160E3012-0F2D-52A1-C772-9C38E0C937E8}"/>
              </a:ext>
            </a:extLst>
          </p:cNvPr>
          <p:cNvSpPr>
            <a:spLocks noGrp="1"/>
          </p:cNvSpPr>
          <p:nvPr>
            <p:ph type="sldNum" sz="quarter" idx="12"/>
          </p:nvPr>
        </p:nvSpPr>
        <p:spPr>
          <a:ln/>
        </p:spPr>
        <p:txBody>
          <a:bodyPr/>
          <a:lstStyle>
            <a:lvl1pPr>
              <a:defRPr/>
            </a:lvl1pPr>
          </a:lstStyle>
          <a:p>
            <a:pPr>
              <a:defRPr/>
            </a:pPr>
            <a:fld id="{6B8219A9-3686-4026-8E92-7B1A9D9CCDDB}" type="slidenum">
              <a:rPr lang="zh-CN" altLang="zh-CN"/>
              <a:pPr>
                <a:defRPr/>
              </a:pPr>
              <a:t>‹#›</a:t>
            </a:fld>
            <a:endParaRPr lang="zh-CN" altLang="zh-CN"/>
          </a:p>
        </p:txBody>
      </p:sp>
    </p:spTree>
    <p:extLst>
      <p:ext uri="{BB962C8B-B14F-4D97-AF65-F5344CB8AC3E}">
        <p14:creationId xmlns:p14="http://schemas.microsoft.com/office/powerpoint/2010/main" val="3318716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59EB4077-45B7-8188-D1C5-092E23221ADC}"/>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6813339B-1C78-6C9C-57DC-14FB58C938DE}"/>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64B48B3E-9229-3074-8A53-868C3E8E473A}"/>
              </a:ext>
            </a:extLst>
          </p:cNvPr>
          <p:cNvSpPr>
            <a:spLocks noGrp="1"/>
          </p:cNvSpPr>
          <p:nvPr>
            <p:ph type="sldNum" sz="quarter" idx="12"/>
          </p:nvPr>
        </p:nvSpPr>
        <p:spPr>
          <a:ln/>
        </p:spPr>
        <p:txBody>
          <a:bodyPr/>
          <a:lstStyle>
            <a:lvl1pPr>
              <a:defRPr/>
            </a:lvl1pPr>
          </a:lstStyle>
          <a:p>
            <a:pPr>
              <a:defRPr/>
            </a:pPr>
            <a:fld id="{7A4F64E5-4608-4B65-9989-3E17EF704C17}" type="slidenum">
              <a:rPr lang="zh-CN" altLang="zh-CN"/>
              <a:pPr>
                <a:defRPr/>
              </a:pPr>
              <a:t>‹#›</a:t>
            </a:fld>
            <a:endParaRPr lang="zh-CN" altLang="zh-CN"/>
          </a:p>
        </p:txBody>
      </p:sp>
    </p:spTree>
    <p:extLst>
      <p:ext uri="{BB962C8B-B14F-4D97-AF65-F5344CB8AC3E}">
        <p14:creationId xmlns:p14="http://schemas.microsoft.com/office/powerpoint/2010/main" val="27471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1027">
            <a:extLst>
              <a:ext uri="{FF2B5EF4-FFF2-40B4-BE49-F238E27FC236}">
                <a16:creationId xmlns:a16="http://schemas.microsoft.com/office/drawing/2014/main" id="{A42CFAFB-1B17-722C-9B00-40FE3DD343D2}"/>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04760FC4-5F71-D1F5-5E77-06B12F77FD58}"/>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6CBA8AF7-BB44-D846-3263-F1AF7C3A0401}"/>
              </a:ext>
            </a:extLst>
          </p:cNvPr>
          <p:cNvSpPr>
            <a:spLocks noGrp="1"/>
          </p:cNvSpPr>
          <p:nvPr>
            <p:ph type="sldNum" sz="quarter" idx="12"/>
          </p:nvPr>
        </p:nvSpPr>
        <p:spPr>
          <a:ln/>
        </p:spPr>
        <p:txBody>
          <a:bodyPr/>
          <a:lstStyle>
            <a:lvl1pPr>
              <a:defRPr/>
            </a:lvl1pPr>
          </a:lstStyle>
          <a:p>
            <a:pPr>
              <a:defRPr/>
            </a:pPr>
            <a:fld id="{B356415D-ED81-4665-B87E-940BC8726592}" type="slidenum">
              <a:rPr lang="zh-CN" altLang="zh-CN"/>
              <a:pPr>
                <a:defRPr/>
              </a:pPr>
              <a:t>‹#›</a:t>
            </a:fld>
            <a:endParaRPr lang="zh-CN" altLang="zh-CN"/>
          </a:p>
        </p:txBody>
      </p:sp>
    </p:spTree>
    <p:extLst>
      <p:ext uri="{BB962C8B-B14F-4D97-AF65-F5344CB8AC3E}">
        <p14:creationId xmlns:p14="http://schemas.microsoft.com/office/powerpoint/2010/main" val="1731089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600201"/>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205728" y="1600201"/>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027">
            <a:extLst>
              <a:ext uri="{FF2B5EF4-FFF2-40B4-BE49-F238E27FC236}">
                <a16:creationId xmlns:a16="http://schemas.microsoft.com/office/drawing/2014/main" id="{4E95CD91-8B2A-11E4-9A17-E1ABDA3B6D82}"/>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E72F712D-7BBB-4A68-84B3-0BCD456FBDCE}"/>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831FCF80-59AD-8B60-F651-3DED1A19775D}"/>
              </a:ext>
            </a:extLst>
          </p:cNvPr>
          <p:cNvSpPr>
            <a:spLocks noGrp="1"/>
          </p:cNvSpPr>
          <p:nvPr>
            <p:ph type="sldNum" sz="quarter" idx="12"/>
          </p:nvPr>
        </p:nvSpPr>
        <p:spPr>
          <a:ln/>
        </p:spPr>
        <p:txBody>
          <a:bodyPr/>
          <a:lstStyle>
            <a:lvl1pPr>
              <a:defRPr/>
            </a:lvl1pPr>
          </a:lstStyle>
          <a:p>
            <a:pPr>
              <a:defRPr/>
            </a:pPr>
            <a:fld id="{D515E2AC-69CD-407E-84D3-5B9383C299EF}" type="slidenum">
              <a:rPr lang="zh-CN" altLang="zh-CN"/>
              <a:pPr>
                <a:defRPr/>
              </a:pPr>
              <a:t>‹#›</a:t>
            </a:fld>
            <a:endParaRPr lang="zh-CN" altLang="zh-CN"/>
          </a:p>
        </p:txBody>
      </p:sp>
    </p:spTree>
    <p:extLst>
      <p:ext uri="{BB962C8B-B14F-4D97-AF65-F5344CB8AC3E}">
        <p14:creationId xmlns:p14="http://schemas.microsoft.com/office/powerpoint/2010/main" val="388260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1186775" y="1778438"/>
            <a:ext cx="4873575"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256939" y="1778438"/>
            <a:ext cx="4897576"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27">
            <a:extLst>
              <a:ext uri="{FF2B5EF4-FFF2-40B4-BE49-F238E27FC236}">
                <a16:creationId xmlns:a16="http://schemas.microsoft.com/office/drawing/2014/main" id="{36658A51-9CC7-FDB3-6B4A-A8FEBCD67CAD}"/>
              </a:ext>
            </a:extLst>
          </p:cNvPr>
          <p:cNvSpPr>
            <a:spLocks noGrp="1"/>
          </p:cNvSpPr>
          <p:nvPr>
            <p:ph type="dt" sz="half" idx="10"/>
          </p:nvPr>
        </p:nvSpPr>
        <p:spPr>
          <a:ln/>
        </p:spPr>
        <p:txBody>
          <a:bodyPr/>
          <a:lstStyle>
            <a:lvl1pPr>
              <a:defRPr/>
            </a:lvl1pPr>
          </a:lstStyle>
          <a:p>
            <a:pPr>
              <a:defRPr/>
            </a:pPr>
            <a:endParaRPr lang="zh-CN" altLang="zh-CN"/>
          </a:p>
        </p:txBody>
      </p:sp>
      <p:sp>
        <p:nvSpPr>
          <p:cNvPr id="8" name="页脚占位符 1028">
            <a:extLst>
              <a:ext uri="{FF2B5EF4-FFF2-40B4-BE49-F238E27FC236}">
                <a16:creationId xmlns:a16="http://schemas.microsoft.com/office/drawing/2014/main" id="{C3FED423-2204-A0BF-25E3-0BF5CD8C4AC4}"/>
              </a:ext>
            </a:extLst>
          </p:cNvPr>
          <p:cNvSpPr>
            <a:spLocks noGrp="1"/>
          </p:cNvSpPr>
          <p:nvPr>
            <p:ph type="ftr" sz="quarter" idx="11"/>
          </p:nvPr>
        </p:nvSpPr>
        <p:spPr>
          <a:ln/>
        </p:spPr>
        <p:txBody>
          <a:bodyPr/>
          <a:lstStyle>
            <a:lvl1pPr>
              <a:defRPr/>
            </a:lvl1pPr>
          </a:lstStyle>
          <a:p>
            <a:pPr>
              <a:defRPr/>
            </a:pPr>
            <a:endParaRPr lang="zh-CN" altLang="zh-CN"/>
          </a:p>
        </p:txBody>
      </p:sp>
      <p:sp>
        <p:nvSpPr>
          <p:cNvPr id="9" name="灯片编号占位符 1029">
            <a:extLst>
              <a:ext uri="{FF2B5EF4-FFF2-40B4-BE49-F238E27FC236}">
                <a16:creationId xmlns:a16="http://schemas.microsoft.com/office/drawing/2014/main" id="{31DCF598-2F8E-0196-4555-72AF6F1920F9}"/>
              </a:ext>
            </a:extLst>
          </p:cNvPr>
          <p:cNvSpPr>
            <a:spLocks noGrp="1"/>
          </p:cNvSpPr>
          <p:nvPr>
            <p:ph type="sldNum" sz="quarter" idx="12"/>
          </p:nvPr>
        </p:nvSpPr>
        <p:spPr>
          <a:ln/>
        </p:spPr>
        <p:txBody>
          <a:bodyPr/>
          <a:lstStyle>
            <a:lvl1pPr>
              <a:defRPr/>
            </a:lvl1pPr>
          </a:lstStyle>
          <a:p>
            <a:pPr>
              <a:defRPr/>
            </a:pPr>
            <a:fld id="{56A97C1B-D8A9-4E65-8D49-C47FE1A57F4E}" type="slidenum">
              <a:rPr lang="zh-CN" altLang="zh-CN"/>
              <a:pPr>
                <a:defRPr/>
              </a:pPr>
              <a:t>‹#›</a:t>
            </a:fld>
            <a:endParaRPr lang="zh-CN" altLang="zh-CN"/>
          </a:p>
        </p:txBody>
      </p:sp>
    </p:spTree>
    <p:extLst>
      <p:ext uri="{BB962C8B-B14F-4D97-AF65-F5344CB8AC3E}">
        <p14:creationId xmlns:p14="http://schemas.microsoft.com/office/powerpoint/2010/main" val="21808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1027">
            <a:extLst>
              <a:ext uri="{FF2B5EF4-FFF2-40B4-BE49-F238E27FC236}">
                <a16:creationId xmlns:a16="http://schemas.microsoft.com/office/drawing/2014/main" id="{408BF41D-DD43-692E-D694-709CB72EADE8}"/>
              </a:ext>
            </a:extLst>
          </p:cNvPr>
          <p:cNvSpPr>
            <a:spLocks noGrp="1"/>
          </p:cNvSpPr>
          <p:nvPr>
            <p:ph type="dt" sz="half" idx="10"/>
          </p:nvPr>
        </p:nvSpPr>
        <p:spPr>
          <a:ln/>
        </p:spPr>
        <p:txBody>
          <a:bodyPr/>
          <a:lstStyle>
            <a:lvl1pPr>
              <a:defRPr/>
            </a:lvl1pPr>
          </a:lstStyle>
          <a:p>
            <a:pPr>
              <a:defRPr/>
            </a:pPr>
            <a:endParaRPr lang="zh-CN" altLang="zh-CN"/>
          </a:p>
        </p:txBody>
      </p:sp>
      <p:sp>
        <p:nvSpPr>
          <p:cNvPr id="4" name="页脚占位符 1028">
            <a:extLst>
              <a:ext uri="{FF2B5EF4-FFF2-40B4-BE49-F238E27FC236}">
                <a16:creationId xmlns:a16="http://schemas.microsoft.com/office/drawing/2014/main" id="{816D29BD-4F17-507C-1CD8-8A84C5FAA9E3}"/>
              </a:ext>
            </a:extLst>
          </p:cNvPr>
          <p:cNvSpPr>
            <a:spLocks noGrp="1"/>
          </p:cNvSpPr>
          <p:nvPr>
            <p:ph type="ftr" sz="quarter" idx="11"/>
          </p:nvPr>
        </p:nvSpPr>
        <p:spPr>
          <a:ln/>
        </p:spPr>
        <p:txBody>
          <a:bodyPr/>
          <a:lstStyle>
            <a:lvl1pPr>
              <a:defRPr/>
            </a:lvl1pPr>
          </a:lstStyle>
          <a:p>
            <a:pPr>
              <a:defRPr/>
            </a:pPr>
            <a:endParaRPr lang="zh-CN" altLang="zh-CN"/>
          </a:p>
        </p:txBody>
      </p:sp>
      <p:sp>
        <p:nvSpPr>
          <p:cNvPr id="5" name="灯片编号占位符 1029">
            <a:extLst>
              <a:ext uri="{FF2B5EF4-FFF2-40B4-BE49-F238E27FC236}">
                <a16:creationId xmlns:a16="http://schemas.microsoft.com/office/drawing/2014/main" id="{8F2D9EEF-CB4D-B266-B3DB-874DA6C9BFB5}"/>
              </a:ext>
            </a:extLst>
          </p:cNvPr>
          <p:cNvSpPr>
            <a:spLocks noGrp="1"/>
          </p:cNvSpPr>
          <p:nvPr>
            <p:ph type="sldNum" sz="quarter" idx="12"/>
          </p:nvPr>
        </p:nvSpPr>
        <p:spPr>
          <a:ln/>
        </p:spPr>
        <p:txBody>
          <a:bodyPr/>
          <a:lstStyle>
            <a:lvl1pPr>
              <a:defRPr/>
            </a:lvl1pPr>
          </a:lstStyle>
          <a:p>
            <a:pPr>
              <a:defRPr/>
            </a:pPr>
            <a:fld id="{367AFA93-5447-4B83-8E34-16C0DEF76E85}" type="slidenum">
              <a:rPr lang="zh-CN" altLang="zh-CN"/>
              <a:pPr>
                <a:defRPr/>
              </a:pPr>
              <a:t>‹#›</a:t>
            </a:fld>
            <a:endParaRPr lang="zh-CN" altLang="zh-CN"/>
          </a:p>
        </p:txBody>
      </p:sp>
    </p:spTree>
    <p:extLst>
      <p:ext uri="{BB962C8B-B14F-4D97-AF65-F5344CB8AC3E}">
        <p14:creationId xmlns:p14="http://schemas.microsoft.com/office/powerpoint/2010/main" val="1364338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a:extLst>
              <a:ext uri="{FF2B5EF4-FFF2-40B4-BE49-F238E27FC236}">
                <a16:creationId xmlns:a16="http://schemas.microsoft.com/office/drawing/2014/main" id="{A3CF181B-6DE7-FDDD-5889-0BD9651D7E4F}"/>
              </a:ext>
            </a:extLst>
          </p:cNvPr>
          <p:cNvSpPr>
            <a:spLocks noGrp="1"/>
          </p:cNvSpPr>
          <p:nvPr>
            <p:ph type="dt" sz="half" idx="10"/>
          </p:nvPr>
        </p:nvSpPr>
        <p:spPr>
          <a:ln/>
        </p:spPr>
        <p:txBody>
          <a:bodyPr/>
          <a:lstStyle>
            <a:lvl1pPr>
              <a:defRPr/>
            </a:lvl1pPr>
          </a:lstStyle>
          <a:p>
            <a:pPr>
              <a:defRPr/>
            </a:pPr>
            <a:endParaRPr lang="zh-CN" altLang="zh-CN"/>
          </a:p>
        </p:txBody>
      </p:sp>
      <p:sp>
        <p:nvSpPr>
          <p:cNvPr id="3" name="页脚占位符 1028">
            <a:extLst>
              <a:ext uri="{FF2B5EF4-FFF2-40B4-BE49-F238E27FC236}">
                <a16:creationId xmlns:a16="http://schemas.microsoft.com/office/drawing/2014/main" id="{E8808E2E-0DA0-3BBD-EFF6-629F739F2E8E}"/>
              </a:ext>
            </a:extLst>
          </p:cNvPr>
          <p:cNvSpPr>
            <a:spLocks noGrp="1"/>
          </p:cNvSpPr>
          <p:nvPr>
            <p:ph type="ftr" sz="quarter" idx="11"/>
          </p:nvPr>
        </p:nvSpPr>
        <p:spPr>
          <a:ln/>
        </p:spPr>
        <p:txBody>
          <a:bodyPr/>
          <a:lstStyle>
            <a:lvl1pPr>
              <a:defRPr/>
            </a:lvl1pPr>
          </a:lstStyle>
          <a:p>
            <a:pPr>
              <a:defRPr/>
            </a:pPr>
            <a:endParaRPr lang="zh-CN" altLang="zh-CN"/>
          </a:p>
        </p:txBody>
      </p:sp>
      <p:sp>
        <p:nvSpPr>
          <p:cNvPr id="4" name="灯片编号占位符 1029">
            <a:extLst>
              <a:ext uri="{FF2B5EF4-FFF2-40B4-BE49-F238E27FC236}">
                <a16:creationId xmlns:a16="http://schemas.microsoft.com/office/drawing/2014/main" id="{334C3181-D78F-34D8-E45A-91A56D36939D}"/>
              </a:ext>
            </a:extLst>
          </p:cNvPr>
          <p:cNvSpPr>
            <a:spLocks noGrp="1"/>
          </p:cNvSpPr>
          <p:nvPr>
            <p:ph type="sldNum" sz="quarter" idx="12"/>
          </p:nvPr>
        </p:nvSpPr>
        <p:spPr>
          <a:ln/>
        </p:spPr>
        <p:txBody>
          <a:bodyPr/>
          <a:lstStyle>
            <a:lvl1pPr>
              <a:defRPr/>
            </a:lvl1pPr>
          </a:lstStyle>
          <a:p>
            <a:pPr>
              <a:defRPr/>
            </a:pPr>
            <a:fld id="{8AB97308-D8C2-48D3-B520-D9D109EB1FFC}" type="slidenum">
              <a:rPr lang="zh-CN" altLang="zh-CN"/>
              <a:pPr>
                <a:defRPr/>
              </a:pPr>
              <a:t>‹#›</a:t>
            </a:fld>
            <a:endParaRPr lang="zh-CN" altLang="zh-CN"/>
          </a:p>
        </p:txBody>
      </p:sp>
    </p:spTree>
    <p:extLst>
      <p:ext uri="{BB962C8B-B14F-4D97-AF65-F5344CB8AC3E}">
        <p14:creationId xmlns:p14="http://schemas.microsoft.com/office/powerpoint/2010/main" val="149531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0D13F054-3A1F-488F-1F30-0DC0D9902BB2}"/>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749CFE6D-CAB1-4A00-E3A5-5D3A8533DA09}"/>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081290F5-FFCE-10B4-5DFF-B32180B09687}"/>
              </a:ext>
            </a:extLst>
          </p:cNvPr>
          <p:cNvSpPr>
            <a:spLocks noGrp="1"/>
          </p:cNvSpPr>
          <p:nvPr>
            <p:ph type="sldNum" sz="quarter" idx="12"/>
          </p:nvPr>
        </p:nvSpPr>
        <p:spPr>
          <a:ln/>
        </p:spPr>
        <p:txBody>
          <a:bodyPr/>
          <a:lstStyle>
            <a:lvl1pPr>
              <a:defRPr/>
            </a:lvl1pPr>
          </a:lstStyle>
          <a:p>
            <a:pPr>
              <a:defRPr/>
            </a:pPr>
            <a:fld id="{64254CC1-E189-4F44-A78E-6772B488E025}" type="slidenum">
              <a:rPr lang="zh-CN" altLang="zh-CN"/>
              <a:pPr>
                <a:defRPr/>
              </a:pPr>
              <a:t>‹#›</a:t>
            </a:fld>
            <a:endParaRPr lang="zh-CN" altLang="zh-CN"/>
          </a:p>
        </p:txBody>
      </p:sp>
    </p:spTree>
    <p:extLst>
      <p:ext uri="{BB962C8B-B14F-4D97-AF65-F5344CB8AC3E}">
        <p14:creationId xmlns:p14="http://schemas.microsoft.com/office/powerpoint/2010/main" val="2990468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351586B5-1A42-1E8C-3353-E059EE05BEAA}"/>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AAD617B7-F82A-6C5F-EBE8-6184BE7400CC}"/>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96D70B6C-E395-7F55-0342-5A3898255F99}"/>
              </a:ext>
            </a:extLst>
          </p:cNvPr>
          <p:cNvSpPr>
            <a:spLocks noGrp="1"/>
          </p:cNvSpPr>
          <p:nvPr>
            <p:ph type="sldNum" sz="quarter" idx="12"/>
          </p:nvPr>
        </p:nvSpPr>
        <p:spPr>
          <a:ln/>
        </p:spPr>
        <p:txBody>
          <a:bodyPr/>
          <a:lstStyle>
            <a:lvl1pPr>
              <a:defRPr/>
            </a:lvl1pPr>
          </a:lstStyle>
          <a:p>
            <a:pPr>
              <a:defRPr/>
            </a:pPr>
            <a:fld id="{2A6FDA42-0A2D-459A-B2A7-C673EA07EF41}" type="slidenum">
              <a:rPr lang="zh-CN" altLang="zh-CN"/>
              <a:pPr>
                <a:defRPr/>
              </a:pPr>
              <a:t>‹#›</a:t>
            </a:fld>
            <a:endParaRPr lang="zh-CN" altLang="zh-CN"/>
          </a:p>
        </p:txBody>
      </p:sp>
    </p:spTree>
    <p:extLst>
      <p:ext uri="{BB962C8B-B14F-4D97-AF65-F5344CB8AC3E}">
        <p14:creationId xmlns:p14="http://schemas.microsoft.com/office/powerpoint/2010/main" val="994173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366EC87E-3CF1-2BA7-EA86-D06E86740493}"/>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42E81A02-A3CA-20E9-486E-3BC05B967A55}"/>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35E57B47-1085-6F51-5B7F-E5BEF2E8BE7A}"/>
              </a:ext>
            </a:extLst>
          </p:cNvPr>
          <p:cNvSpPr>
            <a:spLocks noGrp="1"/>
          </p:cNvSpPr>
          <p:nvPr>
            <p:ph type="sldNum" sz="quarter" idx="12"/>
          </p:nvPr>
        </p:nvSpPr>
        <p:spPr>
          <a:ln/>
        </p:spPr>
        <p:txBody>
          <a:bodyPr/>
          <a:lstStyle>
            <a:lvl1pPr>
              <a:defRPr/>
            </a:lvl1pPr>
          </a:lstStyle>
          <a:p>
            <a:pPr>
              <a:defRPr/>
            </a:pPr>
            <a:fld id="{5D33EF7F-B08B-4B7D-8B20-236393B9784E}" type="slidenum">
              <a:rPr lang="zh-CN" altLang="zh-CN"/>
              <a:pPr>
                <a:defRPr/>
              </a:pPr>
              <a:t>‹#›</a:t>
            </a:fld>
            <a:endParaRPr lang="zh-CN" altLang="zh-CN"/>
          </a:p>
        </p:txBody>
      </p:sp>
    </p:spTree>
    <p:extLst>
      <p:ext uri="{BB962C8B-B14F-4D97-AF65-F5344CB8AC3E}">
        <p14:creationId xmlns:p14="http://schemas.microsoft.com/office/powerpoint/2010/main" val="45932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274639"/>
            <a:ext cx="8070573"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FD9F3356-CEA8-24F2-CE5E-4A9069D128A5}"/>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5F206F3E-F39A-39BE-42A5-B5C452736AFB}"/>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C87582A0-AA1F-71AE-CD77-3AD60A92F4A2}"/>
              </a:ext>
            </a:extLst>
          </p:cNvPr>
          <p:cNvSpPr>
            <a:spLocks noGrp="1"/>
          </p:cNvSpPr>
          <p:nvPr>
            <p:ph type="sldNum" sz="quarter" idx="12"/>
          </p:nvPr>
        </p:nvSpPr>
        <p:spPr>
          <a:ln/>
        </p:spPr>
        <p:txBody>
          <a:bodyPr/>
          <a:lstStyle>
            <a:lvl1pPr>
              <a:defRPr/>
            </a:lvl1pPr>
          </a:lstStyle>
          <a:p>
            <a:pPr>
              <a:defRPr/>
            </a:pPr>
            <a:fld id="{21174DFA-3A96-424A-8926-7F8E213FC93B}" type="slidenum">
              <a:rPr lang="zh-CN" altLang="zh-CN"/>
              <a:pPr>
                <a:defRPr/>
              </a:pPr>
              <a:t>‹#›</a:t>
            </a:fld>
            <a:endParaRPr lang="zh-CN" altLang="zh-CN"/>
          </a:p>
        </p:txBody>
      </p:sp>
    </p:spTree>
    <p:extLst>
      <p:ext uri="{BB962C8B-B14F-4D97-AF65-F5344CB8AC3E}">
        <p14:creationId xmlns:p14="http://schemas.microsoft.com/office/powerpoint/2010/main" val="3149248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1027">
            <a:extLst>
              <a:ext uri="{FF2B5EF4-FFF2-40B4-BE49-F238E27FC236}">
                <a16:creationId xmlns:a16="http://schemas.microsoft.com/office/drawing/2014/main" id="{0BE86E5F-451B-564E-51B7-9DB5446300D5}"/>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D408BAEE-7EB5-4799-A765-942A204EBF5C}"/>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2F0905A5-31AA-9B55-2C53-C088B6DAF549}"/>
              </a:ext>
            </a:extLst>
          </p:cNvPr>
          <p:cNvSpPr>
            <a:spLocks noGrp="1"/>
          </p:cNvSpPr>
          <p:nvPr>
            <p:ph type="sldNum" sz="quarter" idx="12"/>
          </p:nvPr>
        </p:nvSpPr>
        <p:spPr>
          <a:ln/>
        </p:spPr>
        <p:txBody>
          <a:bodyPr/>
          <a:lstStyle>
            <a:lvl1pPr>
              <a:defRPr/>
            </a:lvl1pPr>
          </a:lstStyle>
          <a:p>
            <a:pPr>
              <a:defRPr/>
            </a:pPr>
            <a:fld id="{D1EBB98D-5BBA-4A47-82E6-ABB69B12BAFA}" type="slidenum">
              <a:rPr lang="zh-CN" altLang="zh-CN"/>
              <a:pPr>
                <a:defRPr/>
              </a:pPr>
              <a:t>‹#›</a:t>
            </a:fld>
            <a:endParaRPr lang="zh-CN" altLang="zh-CN"/>
          </a:p>
        </p:txBody>
      </p:sp>
    </p:spTree>
    <p:extLst>
      <p:ext uri="{BB962C8B-B14F-4D97-AF65-F5344CB8AC3E}">
        <p14:creationId xmlns:p14="http://schemas.microsoft.com/office/powerpoint/2010/main" val="4274050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E1FE8D90-A899-FFC4-971C-903377A5B894}"/>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7ABF90CA-F854-A75B-E7BB-D34AC3257038}"/>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D770F75D-6BAA-AD8C-DEF8-51BEF63F23D7}"/>
              </a:ext>
            </a:extLst>
          </p:cNvPr>
          <p:cNvSpPr>
            <a:spLocks noGrp="1"/>
          </p:cNvSpPr>
          <p:nvPr>
            <p:ph type="sldNum" sz="quarter" idx="12"/>
          </p:nvPr>
        </p:nvSpPr>
        <p:spPr>
          <a:ln/>
        </p:spPr>
        <p:txBody>
          <a:bodyPr/>
          <a:lstStyle>
            <a:lvl1pPr>
              <a:defRPr/>
            </a:lvl1pPr>
          </a:lstStyle>
          <a:p>
            <a:pPr>
              <a:defRPr/>
            </a:pPr>
            <a:fld id="{BB114DC3-FFE4-4F7D-9A00-B1B497395EB9}" type="slidenum">
              <a:rPr lang="zh-CN" altLang="zh-CN"/>
              <a:pPr>
                <a:defRPr/>
              </a:pPr>
              <a:t>‹#›</a:t>
            </a:fld>
            <a:endParaRPr lang="zh-CN" altLang="zh-CN"/>
          </a:p>
        </p:txBody>
      </p:sp>
    </p:spTree>
    <p:extLst>
      <p:ext uri="{BB962C8B-B14F-4D97-AF65-F5344CB8AC3E}">
        <p14:creationId xmlns:p14="http://schemas.microsoft.com/office/powerpoint/2010/main" val="4156314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1027">
            <a:extLst>
              <a:ext uri="{FF2B5EF4-FFF2-40B4-BE49-F238E27FC236}">
                <a16:creationId xmlns:a16="http://schemas.microsoft.com/office/drawing/2014/main" id="{BD000796-4BFA-D5DE-1304-E0B07ACDFBF5}"/>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9F8E5A97-143B-76B5-9CBB-07ABD6DEBAC2}"/>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FA9B6D10-123F-0E49-EAF0-F75AB3E6D267}"/>
              </a:ext>
            </a:extLst>
          </p:cNvPr>
          <p:cNvSpPr>
            <a:spLocks noGrp="1"/>
          </p:cNvSpPr>
          <p:nvPr>
            <p:ph type="sldNum" sz="quarter" idx="12"/>
          </p:nvPr>
        </p:nvSpPr>
        <p:spPr>
          <a:ln/>
        </p:spPr>
        <p:txBody>
          <a:bodyPr/>
          <a:lstStyle>
            <a:lvl1pPr>
              <a:defRPr/>
            </a:lvl1pPr>
          </a:lstStyle>
          <a:p>
            <a:pPr>
              <a:defRPr/>
            </a:pPr>
            <a:fld id="{FA818C49-CCBA-4522-A510-655DAA31FCCE}" type="slidenum">
              <a:rPr lang="zh-CN" altLang="zh-CN"/>
              <a:pPr>
                <a:defRPr/>
              </a:pPr>
              <a:t>‹#›</a:t>
            </a:fld>
            <a:endParaRPr lang="zh-CN" altLang="zh-CN"/>
          </a:p>
        </p:txBody>
      </p:sp>
    </p:spTree>
    <p:extLst>
      <p:ext uri="{BB962C8B-B14F-4D97-AF65-F5344CB8AC3E}">
        <p14:creationId xmlns:p14="http://schemas.microsoft.com/office/powerpoint/2010/main" val="322445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600201"/>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205728" y="1600201"/>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027">
            <a:extLst>
              <a:ext uri="{FF2B5EF4-FFF2-40B4-BE49-F238E27FC236}">
                <a16:creationId xmlns:a16="http://schemas.microsoft.com/office/drawing/2014/main" id="{2AE2FBBA-D958-302C-3F24-FECA079EA91F}"/>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98FD2797-FAE7-8B1D-1A56-75DC76FAE995}"/>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90EEE0B3-2FDB-AD93-44E8-08CD5BEBF566}"/>
              </a:ext>
            </a:extLst>
          </p:cNvPr>
          <p:cNvSpPr>
            <a:spLocks noGrp="1"/>
          </p:cNvSpPr>
          <p:nvPr>
            <p:ph type="sldNum" sz="quarter" idx="12"/>
          </p:nvPr>
        </p:nvSpPr>
        <p:spPr>
          <a:ln/>
        </p:spPr>
        <p:txBody>
          <a:bodyPr/>
          <a:lstStyle>
            <a:lvl1pPr>
              <a:defRPr/>
            </a:lvl1pPr>
          </a:lstStyle>
          <a:p>
            <a:pPr>
              <a:defRPr/>
            </a:pPr>
            <a:fld id="{5DFC5A34-E567-4798-9907-E32B017A897C}" type="slidenum">
              <a:rPr lang="zh-CN" altLang="zh-CN"/>
              <a:pPr>
                <a:defRPr/>
              </a:pPr>
              <a:t>‹#›</a:t>
            </a:fld>
            <a:endParaRPr lang="zh-CN" altLang="zh-CN"/>
          </a:p>
        </p:txBody>
      </p:sp>
    </p:spTree>
    <p:extLst>
      <p:ext uri="{BB962C8B-B14F-4D97-AF65-F5344CB8AC3E}">
        <p14:creationId xmlns:p14="http://schemas.microsoft.com/office/powerpoint/2010/main" val="1985328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1186775" y="1778438"/>
            <a:ext cx="4873575"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256939" y="1778438"/>
            <a:ext cx="4897576"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27">
            <a:extLst>
              <a:ext uri="{FF2B5EF4-FFF2-40B4-BE49-F238E27FC236}">
                <a16:creationId xmlns:a16="http://schemas.microsoft.com/office/drawing/2014/main" id="{5F4F0FF1-614F-943C-EC57-D5C177FF7DE1}"/>
              </a:ext>
            </a:extLst>
          </p:cNvPr>
          <p:cNvSpPr>
            <a:spLocks noGrp="1"/>
          </p:cNvSpPr>
          <p:nvPr>
            <p:ph type="dt" sz="half" idx="10"/>
          </p:nvPr>
        </p:nvSpPr>
        <p:spPr>
          <a:ln/>
        </p:spPr>
        <p:txBody>
          <a:bodyPr/>
          <a:lstStyle>
            <a:lvl1pPr>
              <a:defRPr/>
            </a:lvl1pPr>
          </a:lstStyle>
          <a:p>
            <a:pPr>
              <a:defRPr/>
            </a:pPr>
            <a:endParaRPr lang="zh-CN" altLang="zh-CN"/>
          </a:p>
        </p:txBody>
      </p:sp>
      <p:sp>
        <p:nvSpPr>
          <p:cNvPr id="8" name="页脚占位符 1028">
            <a:extLst>
              <a:ext uri="{FF2B5EF4-FFF2-40B4-BE49-F238E27FC236}">
                <a16:creationId xmlns:a16="http://schemas.microsoft.com/office/drawing/2014/main" id="{717C53F2-BD8F-AD07-A809-C84E6D3CDA0F}"/>
              </a:ext>
            </a:extLst>
          </p:cNvPr>
          <p:cNvSpPr>
            <a:spLocks noGrp="1"/>
          </p:cNvSpPr>
          <p:nvPr>
            <p:ph type="ftr" sz="quarter" idx="11"/>
          </p:nvPr>
        </p:nvSpPr>
        <p:spPr>
          <a:ln/>
        </p:spPr>
        <p:txBody>
          <a:bodyPr/>
          <a:lstStyle>
            <a:lvl1pPr>
              <a:defRPr/>
            </a:lvl1pPr>
          </a:lstStyle>
          <a:p>
            <a:pPr>
              <a:defRPr/>
            </a:pPr>
            <a:endParaRPr lang="zh-CN" altLang="zh-CN"/>
          </a:p>
        </p:txBody>
      </p:sp>
      <p:sp>
        <p:nvSpPr>
          <p:cNvPr id="9" name="灯片编号占位符 1029">
            <a:extLst>
              <a:ext uri="{FF2B5EF4-FFF2-40B4-BE49-F238E27FC236}">
                <a16:creationId xmlns:a16="http://schemas.microsoft.com/office/drawing/2014/main" id="{83E4B047-6FA0-CACB-8AC1-85D30D5521DB}"/>
              </a:ext>
            </a:extLst>
          </p:cNvPr>
          <p:cNvSpPr>
            <a:spLocks noGrp="1"/>
          </p:cNvSpPr>
          <p:nvPr>
            <p:ph type="sldNum" sz="quarter" idx="12"/>
          </p:nvPr>
        </p:nvSpPr>
        <p:spPr>
          <a:ln/>
        </p:spPr>
        <p:txBody>
          <a:bodyPr/>
          <a:lstStyle>
            <a:lvl1pPr>
              <a:defRPr/>
            </a:lvl1pPr>
          </a:lstStyle>
          <a:p>
            <a:pPr>
              <a:defRPr/>
            </a:pPr>
            <a:fld id="{17F5E1E0-33C1-464E-8949-6C1B7723E2EA}" type="slidenum">
              <a:rPr lang="zh-CN" altLang="zh-CN"/>
              <a:pPr>
                <a:defRPr/>
              </a:pPr>
              <a:t>‹#›</a:t>
            </a:fld>
            <a:endParaRPr lang="zh-CN" altLang="zh-CN"/>
          </a:p>
        </p:txBody>
      </p:sp>
    </p:spTree>
    <p:extLst>
      <p:ext uri="{BB962C8B-B14F-4D97-AF65-F5344CB8AC3E}">
        <p14:creationId xmlns:p14="http://schemas.microsoft.com/office/powerpoint/2010/main" val="717191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1027">
            <a:extLst>
              <a:ext uri="{FF2B5EF4-FFF2-40B4-BE49-F238E27FC236}">
                <a16:creationId xmlns:a16="http://schemas.microsoft.com/office/drawing/2014/main" id="{B3C15BF8-CED5-F5AD-C812-FD9BD037CB79}"/>
              </a:ext>
            </a:extLst>
          </p:cNvPr>
          <p:cNvSpPr>
            <a:spLocks noGrp="1"/>
          </p:cNvSpPr>
          <p:nvPr>
            <p:ph type="dt" sz="half" idx="10"/>
          </p:nvPr>
        </p:nvSpPr>
        <p:spPr>
          <a:ln/>
        </p:spPr>
        <p:txBody>
          <a:bodyPr/>
          <a:lstStyle>
            <a:lvl1pPr>
              <a:defRPr/>
            </a:lvl1pPr>
          </a:lstStyle>
          <a:p>
            <a:pPr>
              <a:defRPr/>
            </a:pPr>
            <a:endParaRPr lang="zh-CN" altLang="zh-CN"/>
          </a:p>
        </p:txBody>
      </p:sp>
      <p:sp>
        <p:nvSpPr>
          <p:cNvPr id="4" name="页脚占位符 1028">
            <a:extLst>
              <a:ext uri="{FF2B5EF4-FFF2-40B4-BE49-F238E27FC236}">
                <a16:creationId xmlns:a16="http://schemas.microsoft.com/office/drawing/2014/main" id="{1DF3FF80-AC15-0CD6-A5BD-F5341714B356}"/>
              </a:ext>
            </a:extLst>
          </p:cNvPr>
          <p:cNvSpPr>
            <a:spLocks noGrp="1"/>
          </p:cNvSpPr>
          <p:nvPr>
            <p:ph type="ftr" sz="quarter" idx="11"/>
          </p:nvPr>
        </p:nvSpPr>
        <p:spPr>
          <a:ln/>
        </p:spPr>
        <p:txBody>
          <a:bodyPr/>
          <a:lstStyle>
            <a:lvl1pPr>
              <a:defRPr/>
            </a:lvl1pPr>
          </a:lstStyle>
          <a:p>
            <a:pPr>
              <a:defRPr/>
            </a:pPr>
            <a:endParaRPr lang="zh-CN" altLang="zh-CN"/>
          </a:p>
        </p:txBody>
      </p:sp>
      <p:sp>
        <p:nvSpPr>
          <p:cNvPr id="5" name="灯片编号占位符 1029">
            <a:extLst>
              <a:ext uri="{FF2B5EF4-FFF2-40B4-BE49-F238E27FC236}">
                <a16:creationId xmlns:a16="http://schemas.microsoft.com/office/drawing/2014/main" id="{1B0A2010-A6CC-E7E3-1124-33C3E2BCD60D}"/>
              </a:ext>
            </a:extLst>
          </p:cNvPr>
          <p:cNvSpPr>
            <a:spLocks noGrp="1"/>
          </p:cNvSpPr>
          <p:nvPr>
            <p:ph type="sldNum" sz="quarter" idx="12"/>
          </p:nvPr>
        </p:nvSpPr>
        <p:spPr>
          <a:ln/>
        </p:spPr>
        <p:txBody>
          <a:bodyPr/>
          <a:lstStyle>
            <a:lvl1pPr>
              <a:defRPr/>
            </a:lvl1pPr>
          </a:lstStyle>
          <a:p>
            <a:pPr>
              <a:defRPr/>
            </a:pPr>
            <a:fld id="{E245963A-36EC-4B39-BC90-08E2EF53F3BE}" type="slidenum">
              <a:rPr lang="zh-CN" altLang="zh-CN"/>
              <a:pPr>
                <a:defRPr/>
              </a:pPr>
              <a:t>‹#›</a:t>
            </a:fld>
            <a:endParaRPr lang="zh-CN" altLang="zh-CN"/>
          </a:p>
        </p:txBody>
      </p:sp>
    </p:spTree>
    <p:extLst>
      <p:ext uri="{BB962C8B-B14F-4D97-AF65-F5344CB8AC3E}">
        <p14:creationId xmlns:p14="http://schemas.microsoft.com/office/powerpoint/2010/main" val="10012854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a:extLst>
              <a:ext uri="{FF2B5EF4-FFF2-40B4-BE49-F238E27FC236}">
                <a16:creationId xmlns:a16="http://schemas.microsoft.com/office/drawing/2014/main" id="{F3AF0DB5-E627-D50B-2CCD-67CDE8379FC6}"/>
              </a:ext>
            </a:extLst>
          </p:cNvPr>
          <p:cNvSpPr>
            <a:spLocks noGrp="1"/>
          </p:cNvSpPr>
          <p:nvPr>
            <p:ph type="dt" sz="half" idx="10"/>
          </p:nvPr>
        </p:nvSpPr>
        <p:spPr>
          <a:ln/>
        </p:spPr>
        <p:txBody>
          <a:bodyPr/>
          <a:lstStyle>
            <a:lvl1pPr>
              <a:defRPr/>
            </a:lvl1pPr>
          </a:lstStyle>
          <a:p>
            <a:pPr>
              <a:defRPr/>
            </a:pPr>
            <a:endParaRPr lang="zh-CN" altLang="zh-CN"/>
          </a:p>
        </p:txBody>
      </p:sp>
      <p:sp>
        <p:nvSpPr>
          <p:cNvPr id="3" name="页脚占位符 1028">
            <a:extLst>
              <a:ext uri="{FF2B5EF4-FFF2-40B4-BE49-F238E27FC236}">
                <a16:creationId xmlns:a16="http://schemas.microsoft.com/office/drawing/2014/main" id="{6E04726C-AE34-C527-19E7-BC2C55F7F52A}"/>
              </a:ext>
            </a:extLst>
          </p:cNvPr>
          <p:cNvSpPr>
            <a:spLocks noGrp="1"/>
          </p:cNvSpPr>
          <p:nvPr>
            <p:ph type="ftr" sz="quarter" idx="11"/>
          </p:nvPr>
        </p:nvSpPr>
        <p:spPr>
          <a:ln/>
        </p:spPr>
        <p:txBody>
          <a:bodyPr/>
          <a:lstStyle>
            <a:lvl1pPr>
              <a:defRPr/>
            </a:lvl1pPr>
          </a:lstStyle>
          <a:p>
            <a:pPr>
              <a:defRPr/>
            </a:pPr>
            <a:endParaRPr lang="zh-CN" altLang="zh-CN"/>
          </a:p>
        </p:txBody>
      </p:sp>
      <p:sp>
        <p:nvSpPr>
          <p:cNvPr id="4" name="灯片编号占位符 1029">
            <a:extLst>
              <a:ext uri="{FF2B5EF4-FFF2-40B4-BE49-F238E27FC236}">
                <a16:creationId xmlns:a16="http://schemas.microsoft.com/office/drawing/2014/main" id="{71CA9530-D343-08FE-0E34-1F45A0F20FF1}"/>
              </a:ext>
            </a:extLst>
          </p:cNvPr>
          <p:cNvSpPr>
            <a:spLocks noGrp="1"/>
          </p:cNvSpPr>
          <p:nvPr>
            <p:ph type="sldNum" sz="quarter" idx="12"/>
          </p:nvPr>
        </p:nvSpPr>
        <p:spPr>
          <a:ln/>
        </p:spPr>
        <p:txBody>
          <a:bodyPr/>
          <a:lstStyle>
            <a:lvl1pPr>
              <a:defRPr/>
            </a:lvl1pPr>
          </a:lstStyle>
          <a:p>
            <a:pPr>
              <a:defRPr/>
            </a:pPr>
            <a:fld id="{3F9D42EF-6D50-4833-95F2-B55268E4C17D}" type="slidenum">
              <a:rPr lang="zh-CN" altLang="zh-CN"/>
              <a:pPr>
                <a:defRPr/>
              </a:pPr>
              <a:t>‹#›</a:t>
            </a:fld>
            <a:endParaRPr lang="zh-CN" altLang="zh-CN"/>
          </a:p>
        </p:txBody>
      </p:sp>
    </p:spTree>
    <p:extLst>
      <p:ext uri="{BB962C8B-B14F-4D97-AF65-F5344CB8AC3E}">
        <p14:creationId xmlns:p14="http://schemas.microsoft.com/office/powerpoint/2010/main" val="29257509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0B78E18A-3BF8-0702-482F-0AA41A331D55}"/>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B10151CF-905F-E49F-00EA-9186B64EE219}"/>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57BFDCA4-3659-C7F6-7606-763E223ED49B}"/>
              </a:ext>
            </a:extLst>
          </p:cNvPr>
          <p:cNvSpPr>
            <a:spLocks noGrp="1"/>
          </p:cNvSpPr>
          <p:nvPr>
            <p:ph type="sldNum" sz="quarter" idx="12"/>
          </p:nvPr>
        </p:nvSpPr>
        <p:spPr>
          <a:ln/>
        </p:spPr>
        <p:txBody>
          <a:bodyPr/>
          <a:lstStyle>
            <a:lvl1pPr>
              <a:defRPr/>
            </a:lvl1pPr>
          </a:lstStyle>
          <a:p>
            <a:pPr>
              <a:defRPr/>
            </a:pPr>
            <a:fld id="{EE6701E1-2DAB-41C8-925B-C1EE8C47C5E6}" type="slidenum">
              <a:rPr lang="zh-CN" altLang="zh-CN"/>
              <a:pPr>
                <a:defRPr/>
              </a:pPr>
              <a:t>‹#›</a:t>
            </a:fld>
            <a:endParaRPr lang="zh-CN" altLang="zh-CN"/>
          </a:p>
        </p:txBody>
      </p:sp>
    </p:spTree>
    <p:extLst>
      <p:ext uri="{BB962C8B-B14F-4D97-AF65-F5344CB8AC3E}">
        <p14:creationId xmlns:p14="http://schemas.microsoft.com/office/powerpoint/2010/main" val="4274115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4911BFE6-1720-A05F-A8EA-D84BEF570D63}"/>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9DF58DCD-5647-CC99-C616-6FF53E85BA1A}"/>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FA712747-49E1-9321-708F-46952DC67A7A}"/>
              </a:ext>
            </a:extLst>
          </p:cNvPr>
          <p:cNvSpPr>
            <a:spLocks noGrp="1"/>
          </p:cNvSpPr>
          <p:nvPr>
            <p:ph type="sldNum" sz="quarter" idx="12"/>
          </p:nvPr>
        </p:nvSpPr>
        <p:spPr>
          <a:ln/>
        </p:spPr>
        <p:txBody>
          <a:bodyPr/>
          <a:lstStyle>
            <a:lvl1pPr>
              <a:defRPr/>
            </a:lvl1pPr>
          </a:lstStyle>
          <a:p>
            <a:pPr>
              <a:defRPr/>
            </a:pPr>
            <a:fld id="{47B6CD95-6DBB-4759-A8C0-B1352CDB3659}" type="slidenum">
              <a:rPr lang="zh-CN" altLang="zh-CN"/>
              <a:pPr>
                <a:defRPr/>
              </a:pPr>
              <a:t>‹#›</a:t>
            </a:fld>
            <a:endParaRPr lang="zh-CN" altLang="zh-CN"/>
          </a:p>
        </p:txBody>
      </p:sp>
    </p:spTree>
    <p:extLst>
      <p:ext uri="{BB962C8B-B14F-4D97-AF65-F5344CB8AC3E}">
        <p14:creationId xmlns:p14="http://schemas.microsoft.com/office/powerpoint/2010/main" val="29873042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D301A5A3-C039-FE9C-690B-BE9248E1E603}"/>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1DEC5A98-DED9-540A-B550-7743E4D3FEDF}"/>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928A00FE-0BEB-11DB-2E71-95513F5AACDA}"/>
              </a:ext>
            </a:extLst>
          </p:cNvPr>
          <p:cNvSpPr>
            <a:spLocks noGrp="1"/>
          </p:cNvSpPr>
          <p:nvPr>
            <p:ph type="sldNum" sz="quarter" idx="12"/>
          </p:nvPr>
        </p:nvSpPr>
        <p:spPr>
          <a:ln/>
        </p:spPr>
        <p:txBody>
          <a:bodyPr/>
          <a:lstStyle>
            <a:lvl1pPr>
              <a:defRPr/>
            </a:lvl1pPr>
          </a:lstStyle>
          <a:p>
            <a:pPr>
              <a:defRPr/>
            </a:pPr>
            <a:fld id="{05001416-A3FF-49E9-AE1E-9D88E236E0A1}" type="slidenum">
              <a:rPr lang="zh-CN" altLang="zh-CN"/>
              <a:pPr>
                <a:defRPr/>
              </a:pPr>
              <a:t>‹#›</a:t>
            </a:fld>
            <a:endParaRPr lang="zh-CN" altLang="zh-CN"/>
          </a:p>
        </p:txBody>
      </p:sp>
    </p:spTree>
    <p:extLst>
      <p:ext uri="{BB962C8B-B14F-4D97-AF65-F5344CB8AC3E}">
        <p14:creationId xmlns:p14="http://schemas.microsoft.com/office/powerpoint/2010/main" val="1575784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274639"/>
            <a:ext cx="8070573"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D68C876D-CEAF-D017-88D2-A844D2F1E91C}"/>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D909C37B-8844-472C-13DA-B888667CC991}"/>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E7BCD259-F11A-3F77-9BA4-21A25187A951}"/>
              </a:ext>
            </a:extLst>
          </p:cNvPr>
          <p:cNvSpPr>
            <a:spLocks noGrp="1"/>
          </p:cNvSpPr>
          <p:nvPr>
            <p:ph type="sldNum" sz="quarter" idx="12"/>
          </p:nvPr>
        </p:nvSpPr>
        <p:spPr>
          <a:ln/>
        </p:spPr>
        <p:txBody>
          <a:bodyPr/>
          <a:lstStyle>
            <a:lvl1pPr>
              <a:defRPr/>
            </a:lvl1pPr>
          </a:lstStyle>
          <a:p>
            <a:pPr>
              <a:defRPr/>
            </a:pPr>
            <a:fld id="{521E5E73-C200-4036-9641-1AB705BDBFA4}" type="slidenum">
              <a:rPr lang="zh-CN" altLang="zh-CN"/>
              <a:pPr>
                <a:defRPr/>
              </a:pPr>
              <a:t>‹#›</a:t>
            </a:fld>
            <a:endParaRPr lang="zh-CN" altLang="zh-CN"/>
          </a:p>
        </p:txBody>
      </p:sp>
    </p:spTree>
    <p:extLst>
      <p:ext uri="{BB962C8B-B14F-4D97-AF65-F5344CB8AC3E}">
        <p14:creationId xmlns:p14="http://schemas.microsoft.com/office/powerpoint/2010/main" val="3791846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1173158"/>
            <a:ext cx="10363200" cy="1470025"/>
          </a:xfrm>
        </p:spPr>
        <p:txBody>
          <a:bodyPr anchor="b"/>
          <a:lstStyle>
            <a:lvl1pPr algn="l">
              <a:defRPr sz="4800"/>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916955" y="2643182"/>
            <a:ext cx="8893821"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3023085123"/>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1568905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2924181"/>
            <a:ext cx="10363200" cy="1362075"/>
          </a:xfrm>
        </p:spPr>
        <p:txBody>
          <a:bodyPr anchor="t"/>
          <a:lstStyle>
            <a:lvl1pPr algn="l">
              <a:defRPr sz="44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914400" y="1428748"/>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2860518887"/>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28831663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3746446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7575319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39997620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613843" y="1071546"/>
            <a:ext cx="6815667"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7572111" y="1071547"/>
            <a:ext cx="4011084"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pPr/>
              <a:t>‹#›</a:t>
            </a:fld>
            <a:endParaRPr lang="zh-CN" altLang="en-US"/>
          </a:p>
        </p:txBody>
      </p:sp>
      <p:sp>
        <p:nvSpPr>
          <p:cNvPr id="2" name="标题 1"/>
          <p:cNvSpPr>
            <a:spLocks noGrp="1"/>
          </p:cNvSpPr>
          <p:nvPr>
            <p:ph type="title"/>
          </p:nvPr>
        </p:nvSpPr>
        <p:spPr>
          <a:xfrm>
            <a:off x="609608" y="285728"/>
            <a:ext cx="10974657" cy="696626"/>
          </a:xfrm>
        </p:spPr>
        <p:txBody>
          <a:bodyPr anchor="ctr"/>
          <a:lstStyle>
            <a:lvl1pPr algn="ctr">
              <a:defRPr sz="3600" b="0"/>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22089451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0668032" y="642918"/>
            <a:ext cx="1047757" cy="4572032"/>
          </a:xfrm>
        </p:spPr>
        <p:txBody>
          <a:bodyPr vert="eaVert"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590563" y="541340"/>
            <a:ext cx="8553459"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9429774" y="1000108"/>
            <a:ext cx="1219157"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24827693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22437524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525024" y="274640"/>
            <a:ext cx="2057376"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609600" y="274640"/>
            <a:ext cx="8820173"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7916F35-EB6E-4187-A0C0-48C4698F8122}" type="datetimeFigureOut">
              <a:rPr lang="zh-CN" altLang="en-US" smtClean="0"/>
              <a:pPr/>
              <a:t>2023/4/13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30092330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标题与副标题">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标题文本"/>
          <p:cNvSpPr txBox="1">
            <a:spLocks noGrp="1"/>
          </p:cNvSpPr>
          <p:nvPr>
            <p:ph type="title" hasCustomPrompt="1"/>
          </p:nvPr>
        </p:nvSpPr>
        <p:spPr>
          <a:xfrm>
            <a:off x="736600" y="1060450"/>
            <a:ext cx="10718800" cy="2679700"/>
          </a:xfrm>
          <a:prstGeom prst="rect">
            <a:avLst/>
          </a:prstGeom>
        </p:spPr>
        <p:txBody>
          <a:bodyPr anchor="b"/>
          <a:lstStyle>
            <a:lvl1pPr>
              <a:defRPr>
                <a:solidFill>
                  <a:srgbClr val="276D6D"/>
                </a:solidFill>
              </a:defRPr>
            </a:lvl1pPr>
          </a:lstStyle>
          <a:p>
            <a:r>
              <a:t>标题文本</a:t>
            </a:r>
          </a:p>
        </p:txBody>
      </p:sp>
      <p:sp>
        <p:nvSpPr>
          <p:cNvPr id="12" name="正文级别 1…"/>
          <p:cNvSpPr txBox="1">
            <a:spLocks noGrp="1"/>
          </p:cNvSpPr>
          <p:nvPr>
            <p:ph type="body" sz="quarter" idx="1" hasCustomPrompt="1"/>
          </p:nvPr>
        </p:nvSpPr>
        <p:spPr>
          <a:xfrm>
            <a:off x="736600" y="3733800"/>
            <a:ext cx="10718800" cy="10160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4188134520"/>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照片 - 水平">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0" name="图像"/>
          <p:cNvSpPr>
            <a:spLocks noGrp="1"/>
          </p:cNvSpPr>
          <p:nvPr>
            <p:ph type="pic" idx="21"/>
          </p:nvPr>
        </p:nvSpPr>
        <p:spPr>
          <a:xfrm>
            <a:off x="1654991" y="16586"/>
            <a:ext cx="8873799" cy="5906622"/>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21" name="标题文本"/>
          <p:cNvSpPr txBox="1">
            <a:spLocks noGrp="1"/>
          </p:cNvSpPr>
          <p:nvPr>
            <p:ph type="title" hasCustomPrompt="1"/>
          </p:nvPr>
        </p:nvSpPr>
        <p:spPr>
          <a:xfrm>
            <a:off x="736600" y="5054600"/>
            <a:ext cx="10718800" cy="895350"/>
          </a:xfrm>
          <a:prstGeom prst="rect">
            <a:avLst/>
          </a:prstGeom>
        </p:spPr>
        <p:txBody>
          <a:bodyPr anchor="b"/>
          <a:lstStyle>
            <a:lvl1pPr>
              <a:defRPr>
                <a:solidFill>
                  <a:srgbClr val="276D6D"/>
                </a:solidFill>
              </a:defRPr>
            </a:lvl1pPr>
          </a:lstStyle>
          <a:p>
            <a:r>
              <a:t>标题文本</a:t>
            </a:r>
          </a:p>
        </p:txBody>
      </p:sp>
      <p:sp>
        <p:nvSpPr>
          <p:cNvPr id="22" name="正文级别 1…"/>
          <p:cNvSpPr txBox="1">
            <a:spLocks noGrp="1"/>
          </p:cNvSpPr>
          <p:nvPr>
            <p:ph type="body" sz="quarter" idx="1" hasCustomPrompt="1"/>
          </p:nvPr>
        </p:nvSpPr>
        <p:spPr>
          <a:xfrm>
            <a:off x="736600" y="5911850"/>
            <a:ext cx="10718800" cy="7239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23" name="幻灯片编号"/>
          <p:cNvSpPr txBox="1">
            <a:spLocks noGrp="1"/>
          </p:cNvSpPr>
          <p:nvPr>
            <p:ph type="sldNum" sz="quarter" idx="2"/>
          </p:nvPr>
        </p:nvSpPr>
        <p:spPr>
          <a:xfrm>
            <a:off x="5955554" y="6419850"/>
            <a:ext cx="286938" cy="333425"/>
          </a:xfrm>
          <a:prstGeom prst="rect">
            <a:avLst/>
          </a:prstGeom>
        </p:spPr>
        <p:txBody>
          <a:bodyPr anchor="t"/>
          <a:lstStyle>
            <a:lvl1pPr>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4253185813"/>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标题文本"/>
          <p:cNvSpPr txBox="1">
            <a:spLocks noGrp="1"/>
          </p:cNvSpPr>
          <p:nvPr>
            <p:ph type="title" hasCustomPrompt="1"/>
          </p:nvPr>
        </p:nvSpPr>
        <p:spPr>
          <a:xfrm>
            <a:off x="736600" y="2571750"/>
            <a:ext cx="10718800" cy="1714500"/>
          </a:xfrm>
          <a:prstGeom prst="rect">
            <a:avLst/>
          </a:prstGeom>
        </p:spPr>
        <p:txBody>
          <a:bodyPr/>
          <a:lstStyle/>
          <a:p>
            <a:r>
              <a:t>标题文本</a:t>
            </a:r>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356518545"/>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图像"/>
          <p:cNvSpPr>
            <a:spLocks noGrp="1"/>
          </p:cNvSpPr>
          <p:nvPr>
            <p:ph type="pic" sz="half" idx="21"/>
          </p:nvPr>
        </p:nvSpPr>
        <p:spPr>
          <a:xfrm>
            <a:off x="5996002" y="297782"/>
            <a:ext cx="5041901" cy="6230569"/>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39" name="标题文本"/>
          <p:cNvSpPr txBox="1">
            <a:spLocks noGrp="1"/>
          </p:cNvSpPr>
          <p:nvPr>
            <p:ph type="title" hasCustomPrompt="1"/>
          </p:nvPr>
        </p:nvSpPr>
        <p:spPr>
          <a:xfrm>
            <a:off x="736600" y="876300"/>
            <a:ext cx="4940300" cy="2438400"/>
          </a:xfrm>
          <a:prstGeom prst="rect">
            <a:avLst/>
          </a:prstGeom>
        </p:spPr>
        <p:txBody>
          <a:bodyPr anchor="b"/>
          <a:lstStyle/>
          <a:p>
            <a:r>
              <a:t>标题文本</a:t>
            </a:r>
          </a:p>
        </p:txBody>
      </p:sp>
      <p:sp>
        <p:nvSpPr>
          <p:cNvPr id="40" name="正文级别 1…"/>
          <p:cNvSpPr txBox="1">
            <a:spLocks noGrp="1"/>
          </p:cNvSpPr>
          <p:nvPr>
            <p:ph type="body" sz="quarter" idx="1" hasCustomPrompt="1"/>
          </p:nvPr>
        </p:nvSpPr>
        <p:spPr>
          <a:xfrm>
            <a:off x="736600" y="3429000"/>
            <a:ext cx="4940300" cy="25527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965991256"/>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标题文本"/>
          <p:cNvSpPr txBox="1">
            <a:spLocks noGrp="1"/>
          </p:cNvSpPr>
          <p:nvPr>
            <p:ph type="title" hasCustomPrompt="1"/>
          </p:nvPr>
        </p:nvSpPr>
        <p:spPr>
          <a:prstGeom prst="rect">
            <a:avLst/>
          </a:prstGeom>
        </p:spPr>
        <p:txBody>
          <a:bodyPr/>
          <a:lstStyle/>
          <a:p>
            <a:r>
              <a:t>标题文本</a:t>
            </a:r>
          </a:p>
        </p:txBody>
      </p:sp>
      <p:sp>
        <p:nvSpPr>
          <p:cNvPr id="4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394827100"/>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xfrm>
            <a:off x="736600" y="1949450"/>
            <a:ext cx="10718800" cy="401955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159162492"/>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图像"/>
          <p:cNvSpPr>
            <a:spLocks noGrp="1"/>
          </p:cNvSpPr>
          <p:nvPr>
            <p:ph type="pic" sz="half" idx="21"/>
          </p:nvPr>
        </p:nvSpPr>
        <p:spPr>
          <a:xfrm>
            <a:off x="6992132" y="1280054"/>
            <a:ext cx="3950416" cy="4881758"/>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66" name="标题文本"/>
          <p:cNvSpPr txBox="1">
            <a:spLocks noGrp="1"/>
          </p:cNvSpPr>
          <p:nvPr>
            <p:ph type="title" hasCustomPrompt="1"/>
          </p:nvPr>
        </p:nvSpPr>
        <p:spPr>
          <a:xfrm>
            <a:off x="736600" y="285750"/>
            <a:ext cx="10718800" cy="1498600"/>
          </a:xfrm>
          <a:prstGeom prst="rect">
            <a:avLst/>
          </a:prstGeom>
        </p:spPr>
        <p:txBody>
          <a:bodyPr/>
          <a:lstStyle/>
          <a:p>
            <a:r>
              <a:t>标题文本</a:t>
            </a:r>
          </a:p>
        </p:txBody>
      </p:sp>
      <p:sp>
        <p:nvSpPr>
          <p:cNvPr id="67" name="正文级别 1…"/>
          <p:cNvSpPr txBox="1">
            <a:spLocks noGrp="1"/>
          </p:cNvSpPr>
          <p:nvPr>
            <p:ph type="body" sz="half" idx="1" hasCustomPrompt="1"/>
          </p:nvPr>
        </p:nvSpPr>
        <p:spPr>
          <a:xfrm>
            <a:off x="736600" y="2000250"/>
            <a:ext cx="5130800" cy="4013200"/>
          </a:xfrm>
          <a:prstGeom prst="rect">
            <a:avLst/>
          </a:prstGeom>
        </p:spPr>
        <p:txBody>
          <a:bodyPr/>
          <a:lstStyle>
            <a:lvl1pPr>
              <a:spcBef>
                <a:spcPts val="1950"/>
              </a:spcBef>
              <a:buBlip>
                <a:blip r:embed="rId2"/>
              </a:buBlip>
              <a:defRPr sz="2100"/>
            </a:lvl1pPr>
            <a:lvl2pPr>
              <a:spcBef>
                <a:spcPts val="1950"/>
              </a:spcBef>
              <a:buBlip>
                <a:blip r:embed="rId2"/>
              </a:buBlip>
              <a:defRPr sz="2100"/>
            </a:lvl2pPr>
            <a:lvl3pPr>
              <a:spcBef>
                <a:spcPts val="1950"/>
              </a:spcBef>
              <a:buBlip>
                <a:blip r:embed="rId2"/>
              </a:buBlip>
              <a:defRPr sz="2100"/>
            </a:lvl3pPr>
            <a:lvl4pPr>
              <a:spcBef>
                <a:spcPts val="1950"/>
              </a:spcBef>
              <a:buBlip>
                <a:blip r:embed="rId2"/>
              </a:buBlip>
              <a:defRPr sz="2100"/>
            </a:lvl4pPr>
            <a:lvl5pPr>
              <a:spcBef>
                <a:spcPts val="1950"/>
              </a:spcBef>
              <a:buBlip>
                <a:blip r:embed="rId2"/>
              </a:buBlip>
              <a:defRPr sz="2100"/>
            </a:lvl5pPr>
          </a:lstStyle>
          <a:p>
            <a:r>
              <a:t>正文级别 1</a:t>
            </a:r>
          </a:p>
          <a:p>
            <a:pPr lvl="1"/>
            <a:r>
              <a:t>正文级别 2</a:t>
            </a:r>
          </a:p>
          <a:p>
            <a:pPr lvl="2"/>
            <a:r>
              <a:t>正文级别 3</a:t>
            </a:r>
          </a:p>
          <a:p>
            <a:pPr lvl="3"/>
            <a:r>
              <a:t>正文级别 4</a:t>
            </a:r>
          </a:p>
          <a:p>
            <a:pPr lvl="4"/>
            <a:r>
              <a:t>正文级别 5</a:t>
            </a:r>
          </a:p>
        </p:txBody>
      </p:sp>
      <p:sp>
        <p:nvSpPr>
          <p:cNvPr id="6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144961294"/>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正文级别 1…"/>
          <p:cNvSpPr txBox="1">
            <a:spLocks noGrp="1"/>
          </p:cNvSpPr>
          <p:nvPr>
            <p:ph type="body" idx="1" hasCustomPrompt="1"/>
          </p:nvPr>
        </p:nvSpPr>
        <p:spPr>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7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569168356"/>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图像"/>
          <p:cNvSpPr>
            <a:spLocks noGrp="1"/>
          </p:cNvSpPr>
          <p:nvPr>
            <p:ph type="pic" idx="21"/>
          </p:nvPr>
        </p:nvSpPr>
        <p:spPr>
          <a:xfrm>
            <a:off x="1092200" y="-498569"/>
            <a:ext cx="6324601" cy="7815677"/>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4" name="图像"/>
          <p:cNvSpPr>
            <a:spLocks noGrp="1"/>
          </p:cNvSpPr>
          <p:nvPr>
            <p:ph type="pic" sz="quarter" idx="22"/>
          </p:nvPr>
        </p:nvSpPr>
        <p:spPr>
          <a:xfrm>
            <a:off x="7893050" y="478587"/>
            <a:ext cx="3214688" cy="2142015"/>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5" name="图像"/>
          <p:cNvSpPr>
            <a:spLocks noGrp="1"/>
          </p:cNvSpPr>
          <p:nvPr>
            <p:ph type="pic" sz="quarter" idx="23"/>
          </p:nvPr>
        </p:nvSpPr>
        <p:spPr>
          <a:xfrm>
            <a:off x="7893050" y="2298700"/>
            <a:ext cx="3213100" cy="4819650"/>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5140158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苏子柔"/>
          <p:cNvSpPr txBox="1">
            <a:spLocks noGrp="1"/>
          </p:cNvSpPr>
          <p:nvPr>
            <p:ph type="body" sz="quarter" idx="21" hasCustomPrompt="1"/>
          </p:nvPr>
        </p:nvSpPr>
        <p:spPr>
          <a:xfrm>
            <a:off x="1193800" y="4476750"/>
            <a:ext cx="9810750" cy="394980"/>
          </a:xfrm>
          <a:prstGeom prst="rect">
            <a:avLst/>
          </a:prstGeom>
        </p:spPr>
        <p:txBody>
          <a:bodyPr anchor="t">
            <a:spAutoFit/>
          </a:bodyPr>
          <a:lstStyle>
            <a:lvl1pPr marL="0" indent="0" algn="ctr">
              <a:spcBef>
                <a:spcPts val="0"/>
              </a:spcBef>
              <a:buSzTx/>
              <a:buNone/>
              <a:defRPr sz="1900" i="1">
                <a:latin typeface="Hoefler Text"/>
                <a:ea typeface="Hoefler Text"/>
                <a:cs typeface="Hoefler Text"/>
                <a:sym typeface="Hoefler Text"/>
              </a:defRPr>
            </a:lvl1pPr>
          </a:lstStyle>
          <a:p>
            <a:r>
              <a:t>–苏子柔</a:t>
            </a:r>
          </a:p>
        </p:txBody>
      </p:sp>
      <p:sp>
        <p:nvSpPr>
          <p:cNvPr id="94" name="“在此键入引文。”"/>
          <p:cNvSpPr txBox="1">
            <a:spLocks noGrp="1"/>
          </p:cNvSpPr>
          <p:nvPr>
            <p:ph type="body" sz="quarter" idx="22" hasCustomPrompt="1"/>
          </p:nvPr>
        </p:nvSpPr>
        <p:spPr>
          <a:xfrm>
            <a:off x="1193800" y="2990850"/>
            <a:ext cx="9810750" cy="495301"/>
          </a:xfrm>
          <a:prstGeom prst="rect">
            <a:avLst/>
          </a:prstGeom>
        </p:spPr>
        <p:txBody>
          <a:bodyPr>
            <a:spAutoFit/>
          </a:bodyPr>
          <a:lstStyle>
            <a:lvl1pPr marL="0" indent="0" algn="ctr">
              <a:spcBef>
                <a:spcPts val="1700"/>
              </a:spcBef>
              <a:buSzTx/>
              <a:buNone/>
            </a:lvl1pPr>
          </a:lstStyle>
          <a:p>
            <a:r>
              <a:t>“在此键入引文。”</a:t>
            </a:r>
          </a:p>
        </p:txBody>
      </p:sp>
      <p:sp>
        <p:nvSpPr>
          <p:cNvPr id="9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111816067"/>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图像"/>
          <p:cNvSpPr>
            <a:spLocks noGrp="1"/>
          </p:cNvSpPr>
          <p:nvPr>
            <p:ph type="pic" idx="21"/>
          </p:nvPr>
        </p:nvSpPr>
        <p:spPr>
          <a:xfrm>
            <a:off x="0" y="-628650"/>
            <a:ext cx="12192000" cy="8115300"/>
          </a:xfrm>
          <a:prstGeom prst="rect">
            <a:avLst/>
          </a:prstGeom>
        </p:spPr>
        <p:txBody>
          <a:bodyPr lIns="91439" tIns="45719" rIns="91439" bIns="45719" anchor="t">
            <a:noAutofit/>
          </a:bodyPr>
          <a:lstStyle/>
          <a:p>
            <a:endParaRPr/>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96662327"/>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302932629"/>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标题与副标题">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标题文本"/>
          <p:cNvSpPr txBox="1">
            <a:spLocks noGrp="1"/>
          </p:cNvSpPr>
          <p:nvPr>
            <p:ph type="title" hasCustomPrompt="1"/>
          </p:nvPr>
        </p:nvSpPr>
        <p:spPr>
          <a:xfrm>
            <a:off x="736600" y="1060450"/>
            <a:ext cx="10718800" cy="2679700"/>
          </a:xfrm>
          <a:prstGeom prst="rect">
            <a:avLst/>
          </a:prstGeom>
        </p:spPr>
        <p:txBody>
          <a:bodyPr anchor="b"/>
          <a:lstStyle>
            <a:lvl1pPr>
              <a:defRPr>
                <a:solidFill>
                  <a:srgbClr val="276D6D"/>
                </a:solidFill>
              </a:defRPr>
            </a:lvl1pPr>
          </a:lstStyle>
          <a:p>
            <a:r>
              <a:t>标题文本</a:t>
            </a:r>
          </a:p>
        </p:txBody>
      </p:sp>
      <p:sp>
        <p:nvSpPr>
          <p:cNvPr id="12" name="正文级别 1…"/>
          <p:cNvSpPr txBox="1">
            <a:spLocks noGrp="1"/>
          </p:cNvSpPr>
          <p:nvPr>
            <p:ph type="body" sz="quarter" idx="1" hasCustomPrompt="1"/>
          </p:nvPr>
        </p:nvSpPr>
        <p:spPr>
          <a:xfrm>
            <a:off x="736600" y="3733800"/>
            <a:ext cx="10718800" cy="10160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3327584295"/>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照片 - 水平">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0" name="图像"/>
          <p:cNvSpPr>
            <a:spLocks noGrp="1"/>
          </p:cNvSpPr>
          <p:nvPr>
            <p:ph type="pic" idx="21"/>
          </p:nvPr>
        </p:nvSpPr>
        <p:spPr>
          <a:xfrm>
            <a:off x="1654991" y="16586"/>
            <a:ext cx="8873799" cy="5906622"/>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21" name="标题文本"/>
          <p:cNvSpPr txBox="1">
            <a:spLocks noGrp="1"/>
          </p:cNvSpPr>
          <p:nvPr>
            <p:ph type="title" hasCustomPrompt="1"/>
          </p:nvPr>
        </p:nvSpPr>
        <p:spPr>
          <a:xfrm>
            <a:off x="736600" y="5054600"/>
            <a:ext cx="10718800" cy="895350"/>
          </a:xfrm>
          <a:prstGeom prst="rect">
            <a:avLst/>
          </a:prstGeom>
        </p:spPr>
        <p:txBody>
          <a:bodyPr anchor="b"/>
          <a:lstStyle>
            <a:lvl1pPr>
              <a:defRPr>
                <a:solidFill>
                  <a:srgbClr val="276D6D"/>
                </a:solidFill>
              </a:defRPr>
            </a:lvl1pPr>
          </a:lstStyle>
          <a:p>
            <a:r>
              <a:t>标题文本</a:t>
            </a:r>
          </a:p>
        </p:txBody>
      </p:sp>
      <p:sp>
        <p:nvSpPr>
          <p:cNvPr id="22" name="正文级别 1…"/>
          <p:cNvSpPr txBox="1">
            <a:spLocks noGrp="1"/>
          </p:cNvSpPr>
          <p:nvPr>
            <p:ph type="body" sz="quarter" idx="1" hasCustomPrompt="1"/>
          </p:nvPr>
        </p:nvSpPr>
        <p:spPr>
          <a:xfrm>
            <a:off x="736600" y="5911850"/>
            <a:ext cx="10718800" cy="7239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23" name="幻灯片编号"/>
          <p:cNvSpPr txBox="1">
            <a:spLocks noGrp="1"/>
          </p:cNvSpPr>
          <p:nvPr>
            <p:ph type="sldNum" sz="quarter" idx="2"/>
          </p:nvPr>
        </p:nvSpPr>
        <p:spPr>
          <a:xfrm>
            <a:off x="5955554" y="6419850"/>
            <a:ext cx="286938" cy="333425"/>
          </a:xfrm>
          <a:prstGeom prst="rect">
            <a:avLst/>
          </a:prstGeom>
        </p:spPr>
        <p:txBody>
          <a:bodyPr anchor="t"/>
          <a:lstStyle>
            <a:lvl1pPr>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1889361167"/>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标题文本"/>
          <p:cNvSpPr txBox="1">
            <a:spLocks noGrp="1"/>
          </p:cNvSpPr>
          <p:nvPr>
            <p:ph type="title" hasCustomPrompt="1"/>
          </p:nvPr>
        </p:nvSpPr>
        <p:spPr>
          <a:xfrm>
            <a:off x="736600" y="2571750"/>
            <a:ext cx="10718800" cy="1714500"/>
          </a:xfrm>
          <a:prstGeom prst="rect">
            <a:avLst/>
          </a:prstGeom>
        </p:spPr>
        <p:txBody>
          <a:bodyPr/>
          <a:lstStyle/>
          <a:p>
            <a:r>
              <a:t>标题文本</a:t>
            </a:r>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551148312"/>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图像"/>
          <p:cNvSpPr>
            <a:spLocks noGrp="1"/>
          </p:cNvSpPr>
          <p:nvPr>
            <p:ph type="pic" sz="half" idx="21"/>
          </p:nvPr>
        </p:nvSpPr>
        <p:spPr>
          <a:xfrm>
            <a:off x="5996002" y="297782"/>
            <a:ext cx="5041901" cy="6230569"/>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39" name="标题文本"/>
          <p:cNvSpPr txBox="1">
            <a:spLocks noGrp="1"/>
          </p:cNvSpPr>
          <p:nvPr>
            <p:ph type="title" hasCustomPrompt="1"/>
          </p:nvPr>
        </p:nvSpPr>
        <p:spPr>
          <a:xfrm>
            <a:off x="736600" y="876300"/>
            <a:ext cx="4940300" cy="2438400"/>
          </a:xfrm>
          <a:prstGeom prst="rect">
            <a:avLst/>
          </a:prstGeom>
        </p:spPr>
        <p:txBody>
          <a:bodyPr anchor="b"/>
          <a:lstStyle/>
          <a:p>
            <a:r>
              <a:t>标题文本</a:t>
            </a:r>
          </a:p>
        </p:txBody>
      </p:sp>
      <p:sp>
        <p:nvSpPr>
          <p:cNvPr id="40" name="正文级别 1…"/>
          <p:cNvSpPr txBox="1">
            <a:spLocks noGrp="1"/>
          </p:cNvSpPr>
          <p:nvPr>
            <p:ph type="body" sz="quarter" idx="1" hasCustomPrompt="1"/>
          </p:nvPr>
        </p:nvSpPr>
        <p:spPr>
          <a:xfrm>
            <a:off x="736600" y="3429000"/>
            <a:ext cx="4940300" cy="25527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010211255"/>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标题文本"/>
          <p:cNvSpPr txBox="1">
            <a:spLocks noGrp="1"/>
          </p:cNvSpPr>
          <p:nvPr>
            <p:ph type="title" hasCustomPrompt="1"/>
          </p:nvPr>
        </p:nvSpPr>
        <p:spPr>
          <a:prstGeom prst="rect">
            <a:avLst/>
          </a:prstGeom>
        </p:spPr>
        <p:txBody>
          <a:bodyPr/>
          <a:lstStyle/>
          <a:p>
            <a:r>
              <a:t>标题文本</a:t>
            </a:r>
          </a:p>
        </p:txBody>
      </p:sp>
      <p:sp>
        <p:nvSpPr>
          <p:cNvPr id="4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77661934"/>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xfrm>
            <a:off x="736600" y="1949450"/>
            <a:ext cx="10718800" cy="401955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161266675"/>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图像"/>
          <p:cNvSpPr>
            <a:spLocks noGrp="1"/>
          </p:cNvSpPr>
          <p:nvPr>
            <p:ph type="pic" sz="half" idx="21"/>
          </p:nvPr>
        </p:nvSpPr>
        <p:spPr>
          <a:xfrm>
            <a:off x="6992132" y="1280054"/>
            <a:ext cx="3950416" cy="4881758"/>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66" name="标题文本"/>
          <p:cNvSpPr txBox="1">
            <a:spLocks noGrp="1"/>
          </p:cNvSpPr>
          <p:nvPr>
            <p:ph type="title" hasCustomPrompt="1"/>
          </p:nvPr>
        </p:nvSpPr>
        <p:spPr>
          <a:xfrm>
            <a:off x="736600" y="285750"/>
            <a:ext cx="10718800" cy="1498600"/>
          </a:xfrm>
          <a:prstGeom prst="rect">
            <a:avLst/>
          </a:prstGeom>
        </p:spPr>
        <p:txBody>
          <a:bodyPr/>
          <a:lstStyle/>
          <a:p>
            <a:r>
              <a:t>标题文本</a:t>
            </a:r>
          </a:p>
        </p:txBody>
      </p:sp>
      <p:sp>
        <p:nvSpPr>
          <p:cNvPr id="67" name="正文级别 1…"/>
          <p:cNvSpPr txBox="1">
            <a:spLocks noGrp="1"/>
          </p:cNvSpPr>
          <p:nvPr>
            <p:ph type="body" sz="half" idx="1" hasCustomPrompt="1"/>
          </p:nvPr>
        </p:nvSpPr>
        <p:spPr>
          <a:xfrm>
            <a:off x="736600" y="2000250"/>
            <a:ext cx="5130800" cy="4013200"/>
          </a:xfrm>
          <a:prstGeom prst="rect">
            <a:avLst/>
          </a:prstGeom>
        </p:spPr>
        <p:txBody>
          <a:bodyPr/>
          <a:lstStyle>
            <a:lvl1pPr>
              <a:spcBef>
                <a:spcPts val="1950"/>
              </a:spcBef>
              <a:buBlip>
                <a:blip r:embed="rId2"/>
              </a:buBlip>
              <a:defRPr sz="2100"/>
            </a:lvl1pPr>
            <a:lvl2pPr>
              <a:spcBef>
                <a:spcPts val="1950"/>
              </a:spcBef>
              <a:buBlip>
                <a:blip r:embed="rId2"/>
              </a:buBlip>
              <a:defRPr sz="2100"/>
            </a:lvl2pPr>
            <a:lvl3pPr>
              <a:spcBef>
                <a:spcPts val="1950"/>
              </a:spcBef>
              <a:buBlip>
                <a:blip r:embed="rId2"/>
              </a:buBlip>
              <a:defRPr sz="2100"/>
            </a:lvl3pPr>
            <a:lvl4pPr>
              <a:spcBef>
                <a:spcPts val="1950"/>
              </a:spcBef>
              <a:buBlip>
                <a:blip r:embed="rId2"/>
              </a:buBlip>
              <a:defRPr sz="2100"/>
            </a:lvl4pPr>
            <a:lvl5pPr>
              <a:spcBef>
                <a:spcPts val="1950"/>
              </a:spcBef>
              <a:buBlip>
                <a:blip r:embed="rId2"/>
              </a:buBlip>
              <a:defRPr sz="2100"/>
            </a:lvl5pPr>
          </a:lstStyle>
          <a:p>
            <a:r>
              <a:t>正文级别 1</a:t>
            </a:r>
          </a:p>
          <a:p>
            <a:pPr lvl="1"/>
            <a:r>
              <a:t>正文级别 2</a:t>
            </a:r>
          </a:p>
          <a:p>
            <a:pPr lvl="2"/>
            <a:r>
              <a:t>正文级别 3</a:t>
            </a:r>
          </a:p>
          <a:p>
            <a:pPr lvl="3"/>
            <a:r>
              <a:t>正文级别 4</a:t>
            </a:r>
          </a:p>
          <a:p>
            <a:pPr lvl="4"/>
            <a:r>
              <a:t>正文级别 5</a:t>
            </a:r>
          </a:p>
        </p:txBody>
      </p:sp>
      <p:sp>
        <p:nvSpPr>
          <p:cNvPr id="6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817514347"/>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正文级别 1…"/>
          <p:cNvSpPr txBox="1">
            <a:spLocks noGrp="1"/>
          </p:cNvSpPr>
          <p:nvPr>
            <p:ph type="body" idx="1" hasCustomPrompt="1"/>
          </p:nvPr>
        </p:nvSpPr>
        <p:spPr>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7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630374810"/>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图像"/>
          <p:cNvSpPr>
            <a:spLocks noGrp="1"/>
          </p:cNvSpPr>
          <p:nvPr>
            <p:ph type="pic" idx="21"/>
          </p:nvPr>
        </p:nvSpPr>
        <p:spPr>
          <a:xfrm>
            <a:off x="1092200" y="-498569"/>
            <a:ext cx="6324601" cy="7815677"/>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4" name="图像"/>
          <p:cNvSpPr>
            <a:spLocks noGrp="1"/>
          </p:cNvSpPr>
          <p:nvPr>
            <p:ph type="pic" sz="quarter" idx="22"/>
          </p:nvPr>
        </p:nvSpPr>
        <p:spPr>
          <a:xfrm>
            <a:off x="7893050" y="478587"/>
            <a:ext cx="3214688" cy="2142015"/>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5" name="图像"/>
          <p:cNvSpPr>
            <a:spLocks noGrp="1"/>
          </p:cNvSpPr>
          <p:nvPr>
            <p:ph type="pic" sz="quarter" idx="23"/>
          </p:nvPr>
        </p:nvSpPr>
        <p:spPr>
          <a:xfrm>
            <a:off x="7893050" y="2298700"/>
            <a:ext cx="3213100" cy="4819650"/>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430103487"/>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苏子柔"/>
          <p:cNvSpPr txBox="1">
            <a:spLocks noGrp="1"/>
          </p:cNvSpPr>
          <p:nvPr>
            <p:ph type="body" sz="quarter" idx="21" hasCustomPrompt="1"/>
          </p:nvPr>
        </p:nvSpPr>
        <p:spPr>
          <a:xfrm>
            <a:off x="1193800" y="4476750"/>
            <a:ext cx="9810750" cy="394980"/>
          </a:xfrm>
          <a:prstGeom prst="rect">
            <a:avLst/>
          </a:prstGeom>
        </p:spPr>
        <p:txBody>
          <a:bodyPr anchor="t">
            <a:spAutoFit/>
          </a:bodyPr>
          <a:lstStyle>
            <a:lvl1pPr marL="0" indent="0" algn="ctr">
              <a:spcBef>
                <a:spcPts val="0"/>
              </a:spcBef>
              <a:buSzTx/>
              <a:buNone/>
              <a:defRPr sz="1900" i="1">
                <a:latin typeface="Hoefler Text"/>
                <a:ea typeface="Hoefler Text"/>
                <a:cs typeface="Hoefler Text"/>
                <a:sym typeface="Hoefler Text"/>
              </a:defRPr>
            </a:lvl1pPr>
          </a:lstStyle>
          <a:p>
            <a:r>
              <a:t>–苏子柔</a:t>
            </a:r>
          </a:p>
        </p:txBody>
      </p:sp>
      <p:sp>
        <p:nvSpPr>
          <p:cNvPr id="94" name="“在此键入引文。”"/>
          <p:cNvSpPr txBox="1">
            <a:spLocks noGrp="1"/>
          </p:cNvSpPr>
          <p:nvPr>
            <p:ph type="body" sz="quarter" idx="22" hasCustomPrompt="1"/>
          </p:nvPr>
        </p:nvSpPr>
        <p:spPr>
          <a:xfrm>
            <a:off x="1193800" y="2990850"/>
            <a:ext cx="9810750" cy="495301"/>
          </a:xfrm>
          <a:prstGeom prst="rect">
            <a:avLst/>
          </a:prstGeom>
        </p:spPr>
        <p:txBody>
          <a:bodyPr>
            <a:spAutoFit/>
          </a:bodyPr>
          <a:lstStyle>
            <a:lvl1pPr marL="0" indent="0" algn="ctr">
              <a:spcBef>
                <a:spcPts val="1700"/>
              </a:spcBef>
              <a:buSzTx/>
              <a:buNone/>
            </a:lvl1pPr>
          </a:lstStyle>
          <a:p>
            <a:r>
              <a:t>“在此键入引文。”</a:t>
            </a:r>
          </a:p>
        </p:txBody>
      </p:sp>
      <p:sp>
        <p:nvSpPr>
          <p:cNvPr id="9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546101760"/>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图像"/>
          <p:cNvSpPr>
            <a:spLocks noGrp="1"/>
          </p:cNvSpPr>
          <p:nvPr>
            <p:ph type="pic" idx="21"/>
          </p:nvPr>
        </p:nvSpPr>
        <p:spPr>
          <a:xfrm>
            <a:off x="0" y="-628650"/>
            <a:ext cx="12192000" cy="8115300"/>
          </a:xfrm>
          <a:prstGeom prst="rect">
            <a:avLst/>
          </a:prstGeom>
        </p:spPr>
        <p:txBody>
          <a:bodyPr lIns="91439" tIns="45719" rIns="91439" bIns="45719" anchor="t">
            <a:noAutofit/>
          </a:bodyPr>
          <a:lstStyle/>
          <a:p>
            <a:endParaRPr/>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52390261"/>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53027370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标题与副标题">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标题文本"/>
          <p:cNvSpPr txBox="1">
            <a:spLocks noGrp="1"/>
          </p:cNvSpPr>
          <p:nvPr>
            <p:ph type="title" hasCustomPrompt="1"/>
          </p:nvPr>
        </p:nvSpPr>
        <p:spPr>
          <a:xfrm>
            <a:off x="736600" y="1060450"/>
            <a:ext cx="10718800" cy="2679700"/>
          </a:xfrm>
          <a:prstGeom prst="rect">
            <a:avLst/>
          </a:prstGeom>
        </p:spPr>
        <p:txBody>
          <a:bodyPr anchor="b"/>
          <a:lstStyle>
            <a:lvl1pPr>
              <a:defRPr>
                <a:solidFill>
                  <a:srgbClr val="276D6D"/>
                </a:solidFill>
              </a:defRPr>
            </a:lvl1pPr>
          </a:lstStyle>
          <a:p>
            <a:r>
              <a:t>标题文本</a:t>
            </a:r>
          </a:p>
        </p:txBody>
      </p:sp>
      <p:sp>
        <p:nvSpPr>
          <p:cNvPr id="12" name="正文级别 1…"/>
          <p:cNvSpPr txBox="1">
            <a:spLocks noGrp="1"/>
          </p:cNvSpPr>
          <p:nvPr>
            <p:ph type="body" sz="quarter" idx="1" hasCustomPrompt="1"/>
          </p:nvPr>
        </p:nvSpPr>
        <p:spPr>
          <a:xfrm>
            <a:off x="736600" y="3733800"/>
            <a:ext cx="10718800" cy="10160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349268630"/>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照片 - 水平">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0" name="图像"/>
          <p:cNvSpPr>
            <a:spLocks noGrp="1"/>
          </p:cNvSpPr>
          <p:nvPr>
            <p:ph type="pic" idx="21"/>
          </p:nvPr>
        </p:nvSpPr>
        <p:spPr>
          <a:xfrm>
            <a:off x="1654991" y="16586"/>
            <a:ext cx="8873799" cy="5906622"/>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21" name="标题文本"/>
          <p:cNvSpPr txBox="1">
            <a:spLocks noGrp="1"/>
          </p:cNvSpPr>
          <p:nvPr>
            <p:ph type="title" hasCustomPrompt="1"/>
          </p:nvPr>
        </p:nvSpPr>
        <p:spPr>
          <a:xfrm>
            <a:off x="736600" y="5054600"/>
            <a:ext cx="10718800" cy="895350"/>
          </a:xfrm>
          <a:prstGeom prst="rect">
            <a:avLst/>
          </a:prstGeom>
        </p:spPr>
        <p:txBody>
          <a:bodyPr anchor="b"/>
          <a:lstStyle>
            <a:lvl1pPr>
              <a:defRPr>
                <a:solidFill>
                  <a:srgbClr val="276D6D"/>
                </a:solidFill>
              </a:defRPr>
            </a:lvl1pPr>
          </a:lstStyle>
          <a:p>
            <a:r>
              <a:t>标题文本</a:t>
            </a:r>
          </a:p>
        </p:txBody>
      </p:sp>
      <p:sp>
        <p:nvSpPr>
          <p:cNvPr id="22" name="正文级别 1…"/>
          <p:cNvSpPr txBox="1">
            <a:spLocks noGrp="1"/>
          </p:cNvSpPr>
          <p:nvPr>
            <p:ph type="body" sz="quarter" idx="1" hasCustomPrompt="1"/>
          </p:nvPr>
        </p:nvSpPr>
        <p:spPr>
          <a:xfrm>
            <a:off x="736600" y="5911850"/>
            <a:ext cx="10718800" cy="7239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23" name="幻灯片编号"/>
          <p:cNvSpPr txBox="1">
            <a:spLocks noGrp="1"/>
          </p:cNvSpPr>
          <p:nvPr>
            <p:ph type="sldNum" sz="quarter" idx="2"/>
          </p:nvPr>
        </p:nvSpPr>
        <p:spPr>
          <a:xfrm>
            <a:off x="5955554" y="6419850"/>
            <a:ext cx="286938" cy="333425"/>
          </a:xfrm>
          <a:prstGeom prst="rect">
            <a:avLst/>
          </a:prstGeom>
        </p:spPr>
        <p:txBody>
          <a:bodyPr anchor="t"/>
          <a:lstStyle>
            <a:lvl1pPr>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2868159607"/>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标题文本"/>
          <p:cNvSpPr txBox="1">
            <a:spLocks noGrp="1"/>
          </p:cNvSpPr>
          <p:nvPr>
            <p:ph type="title" hasCustomPrompt="1"/>
          </p:nvPr>
        </p:nvSpPr>
        <p:spPr>
          <a:xfrm>
            <a:off x="736600" y="2571750"/>
            <a:ext cx="10718800" cy="1714500"/>
          </a:xfrm>
          <a:prstGeom prst="rect">
            <a:avLst/>
          </a:prstGeom>
        </p:spPr>
        <p:txBody>
          <a:bodyPr/>
          <a:lstStyle/>
          <a:p>
            <a:r>
              <a:t>标题文本</a:t>
            </a:r>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21903068"/>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图像"/>
          <p:cNvSpPr>
            <a:spLocks noGrp="1"/>
          </p:cNvSpPr>
          <p:nvPr>
            <p:ph type="pic" sz="half" idx="21"/>
          </p:nvPr>
        </p:nvSpPr>
        <p:spPr>
          <a:xfrm>
            <a:off x="5996002" y="297782"/>
            <a:ext cx="5041901" cy="6230569"/>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39" name="标题文本"/>
          <p:cNvSpPr txBox="1">
            <a:spLocks noGrp="1"/>
          </p:cNvSpPr>
          <p:nvPr>
            <p:ph type="title" hasCustomPrompt="1"/>
          </p:nvPr>
        </p:nvSpPr>
        <p:spPr>
          <a:xfrm>
            <a:off x="736600" y="876300"/>
            <a:ext cx="4940300" cy="2438400"/>
          </a:xfrm>
          <a:prstGeom prst="rect">
            <a:avLst/>
          </a:prstGeom>
        </p:spPr>
        <p:txBody>
          <a:bodyPr anchor="b"/>
          <a:lstStyle/>
          <a:p>
            <a:r>
              <a:t>标题文本</a:t>
            </a:r>
          </a:p>
        </p:txBody>
      </p:sp>
      <p:sp>
        <p:nvSpPr>
          <p:cNvPr id="40" name="正文级别 1…"/>
          <p:cNvSpPr txBox="1">
            <a:spLocks noGrp="1"/>
          </p:cNvSpPr>
          <p:nvPr>
            <p:ph type="body" sz="quarter" idx="1" hasCustomPrompt="1"/>
          </p:nvPr>
        </p:nvSpPr>
        <p:spPr>
          <a:xfrm>
            <a:off x="736600" y="3429000"/>
            <a:ext cx="4940300" cy="2552700"/>
          </a:xfrm>
          <a:prstGeom prst="rect">
            <a:avLst/>
          </a:prstGeom>
        </p:spPr>
        <p:txBody>
          <a:bodyPr anchor="t"/>
          <a:lstStyle>
            <a:lvl1pPr marL="0" indent="0" algn="ctr">
              <a:spcBef>
                <a:spcPts val="0"/>
              </a:spcBef>
              <a:buSzTx/>
              <a:buNone/>
              <a:defRPr sz="2800"/>
            </a:lvl1pPr>
            <a:lvl2pPr marL="0" indent="0" algn="ctr">
              <a:spcBef>
                <a:spcPts val="0"/>
              </a:spcBef>
              <a:buSzTx/>
              <a:buNone/>
              <a:defRPr sz="2800"/>
            </a:lvl2pPr>
            <a:lvl3pPr marL="0" indent="0" algn="ctr">
              <a:spcBef>
                <a:spcPts val="0"/>
              </a:spcBef>
              <a:buSzTx/>
              <a:buNone/>
              <a:defRPr sz="2800"/>
            </a:lvl3pPr>
            <a:lvl4pPr marL="0" indent="0" algn="ctr">
              <a:spcBef>
                <a:spcPts val="0"/>
              </a:spcBef>
              <a:buSzTx/>
              <a:buNone/>
              <a:defRPr sz="2800"/>
            </a:lvl4pPr>
            <a:lvl5pPr marL="0" indent="0" algn="ctr">
              <a:spcBef>
                <a:spcPts val="0"/>
              </a:spcBef>
              <a:buSzTx/>
              <a:buNone/>
              <a:defRPr sz="2800"/>
            </a:lvl5pPr>
          </a:lstStyle>
          <a:p>
            <a:r>
              <a:t>正文级别 1</a:t>
            </a:r>
          </a:p>
          <a:p>
            <a:pPr lvl="1"/>
            <a:r>
              <a:t>正文级别 2</a:t>
            </a:r>
          </a:p>
          <a:p>
            <a:pPr lvl="2"/>
            <a:r>
              <a:t>正文级别 3</a:t>
            </a:r>
          </a:p>
          <a:p>
            <a:pPr lvl="3"/>
            <a:r>
              <a:t>正文级别 4</a:t>
            </a:r>
          </a:p>
          <a:p>
            <a:pPr lvl="4"/>
            <a:r>
              <a:t>正文级别 5</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725471287"/>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标题文本"/>
          <p:cNvSpPr txBox="1">
            <a:spLocks noGrp="1"/>
          </p:cNvSpPr>
          <p:nvPr>
            <p:ph type="title" hasCustomPrompt="1"/>
          </p:nvPr>
        </p:nvSpPr>
        <p:spPr>
          <a:prstGeom prst="rect">
            <a:avLst/>
          </a:prstGeom>
        </p:spPr>
        <p:txBody>
          <a:bodyPr/>
          <a:lstStyle/>
          <a:p>
            <a:r>
              <a:t>标题文本</a:t>
            </a:r>
          </a:p>
        </p:txBody>
      </p:sp>
      <p:sp>
        <p:nvSpPr>
          <p:cNvPr id="4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006984094"/>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xfrm>
            <a:off x="736600" y="1949450"/>
            <a:ext cx="10718800" cy="401955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68957219"/>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图像"/>
          <p:cNvSpPr>
            <a:spLocks noGrp="1"/>
          </p:cNvSpPr>
          <p:nvPr>
            <p:ph type="pic" sz="half" idx="21"/>
          </p:nvPr>
        </p:nvSpPr>
        <p:spPr>
          <a:xfrm>
            <a:off x="6992132" y="1280054"/>
            <a:ext cx="3950416" cy="4881758"/>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66" name="标题文本"/>
          <p:cNvSpPr txBox="1">
            <a:spLocks noGrp="1"/>
          </p:cNvSpPr>
          <p:nvPr>
            <p:ph type="title" hasCustomPrompt="1"/>
          </p:nvPr>
        </p:nvSpPr>
        <p:spPr>
          <a:xfrm>
            <a:off x="736600" y="285750"/>
            <a:ext cx="10718800" cy="1498600"/>
          </a:xfrm>
          <a:prstGeom prst="rect">
            <a:avLst/>
          </a:prstGeom>
        </p:spPr>
        <p:txBody>
          <a:bodyPr/>
          <a:lstStyle/>
          <a:p>
            <a:r>
              <a:t>标题文本</a:t>
            </a:r>
          </a:p>
        </p:txBody>
      </p:sp>
      <p:sp>
        <p:nvSpPr>
          <p:cNvPr id="67" name="正文级别 1…"/>
          <p:cNvSpPr txBox="1">
            <a:spLocks noGrp="1"/>
          </p:cNvSpPr>
          <p:nvPr>
            <p:ph type="body" sz="half" idx="1" hasCustomPrompt="1"/>
          </p:nvPr>
        </p:nvSpPr>
        <p:spPr>
          <a:xfrm>
            <a:off x="736600" y="2000250"/>
            <a:ext cx="5130800" cy="4013200"/>
          </a:xfrm>
          <a:prstGeom prst="rect">
            <a:avLst/>
          </a:prstGeom>
        </p:spPr>
        <p:txBody>
          <a:bodyPr/>
          <a:lstStyle>
            <a:lvl1pPr>
              <a:spcBef>
                <a:spcPts val="1950"/>
              </a:spcBef>
              <a:buBlip>
                <a:blip r:embed="rId2"/>
              </a:buBlip>
              <a:defRPr sz="2100"/>
            </a:lvl1pPr>
            <a:lvl2pPr>
              <a:spcBef>
                <a:spcPts val="1950"/>
              </a:spcBef>
              <a:buBlip>
                <a:blip r:embed="rId2"/>
              </a:buBlip>
              <a:defRPr sz="2100"/>
            </a:lvl2pPr>
            <a:lvl3pPr>
              <a:spcBef>
                <a:spcPts val="1950"/>
              </a:spcBef>
              <a:buBlip>
                <a:blip r:embed="rId2"/>
              </a:buBlip>
              <a:defRPr sz="2100"/>
            </a:lvl3pPr>
            <a:lvl4pPr>
              <a:spcBef>
                <a:spcPts val="1950"/>
              </a:spcBef>
              <a:buBlip>
                <a:blip r:embed="rId2"/>
              </a:buBlip>
              <a:defRPr sz="2100"/>
            </a:lvl4pPr>
            <a:lvl5pPr>
              <a:spcBef>
                <a:spcPts val="1950"/>
              </a:spcBef>
              <a:buBlip>
                <a:blip r:embed="rId2"/>
              </a:buBlip>
              <a:defRPr sz="2100"/>
            </a:lvl5pPr>
          </a:lstStyle>
          <a:p>
            <a:r>
              <a:t>正文级别 1</a:t>
            </a:r>
          </a:p>
          <a:p>
            <a:pPr lvl="1"/>
            <a:r>
              <a:t>正文级别 2</a:t>
            </a:r>
          </a:p>
          <a:p>
            <a:pPr lvl="2"/>
            <a:r>
              <a:t>正文级别 3</a:t>
            </a:r>
          </a:p>
          <a:p>
            <a:pPr lvl="3"/>
            <a:r>
              <a:t>正文级别 4</a:t>
            </a:r>
          </a:p>
          <a:p>
            <a:pPr lvl="4"/>
            <a:r>
              <a:t>正文级别 5</a:t>
            </a:r>
          </a:p>
        </p:txBody>
      </p:sp>
      <p:sp>
        <p:nvSpPr>
          <p:cNvPr id="6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09156802"/>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正文级别 1…"/>
          <p:cNvSpPr txBox="1">
            <a:spLocks noGrp="1"/>
          </p:cNvSpPr>
          <p:nvPr>
            <p:ph type="body" idx="1" hasCustomPrompt="1"/>
          </p:nvPr>
        </p:nvSpPr>
        <p:spPr>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7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3266646"/>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图像"/>
          <p:cNvSpPr>
            <a:spLocks noGrp="1"/>
          </p:cNvSpPr>
          <p:nvPr>
            <p:ph type="pic" idx="21"/>
          </p:nvPr>
        </p:nvSpPr>
        <p:spPr>
          <a:xfrm>
            <a:off x="1092200" y="-498569"/>
            <a:ext cx="6324601" cy="7815677"/>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4" name="图像"/>
          <p:cNvSpPr>
            <a:spLocks noGrp="1"/>
          </p:cNvSpPr>
          <p:nvPr>
            <p:ph type="pic" sz="quarter" idx="22"/>
          </p:nvPr>
        </p:nvSpPr>
        <p:spPr>
          <a:xfrm>
            <a:off x="7893050" y="478587"/>
            <a:ext cx="3214688" cy="2142015"/>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5" name="图像"/>
          <p:cNvSpPr>
            <a:spLocks noGrp="1"/>
          </p:cNvSpPr>
          <p:nvPr>
            <p:ph type="pic" sz="quarter" idx="23"/>
          </p:nvPr>
        </p:nvSpPr>
        <p:spPr>
          <a:xfrm>
            <a:off x="7893050" y="2298700"/>
            <a:ext cx="3213100" cy="4819650"/>
          </a:xfrm>
          <a:prstGeom prst="rect">
            <a:avLst/>
          </a:prstGeom>
          <a:ln w="9525">
            <a:round/>
          </a:ln>
          <a:effectLst>
            <a:outerShdw blurRad="63500" dist="38100" dir="5400000" rotWithShape="0">
              <a:srgbClr val="000000">
                <a:alpha val="50000"/>
              </a:srgbClr>
            </a:outerShdw>
          </a:effectLst>
        </p:spPr>
        <p:txBody>
          <a:bodyPr lIns="91439" tIns="45719" rIns="91439" bIns="45719" anchor="t">
            <a:noAutofit/>
          </a:bodyPr>
          <a:lstStyle/>
          <a:p>
            <a:endParaRPr/>
          </a:p>
        </p:txBody>
      </p:sp>
      <p:sp>
        <p:nvSpPr>
          <p:cNvPr id="8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552576049"/>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苏子柔"/>
          <p:cNvSpPr txBox="1">
            <a:spLocks noGrp="1"/>
          </p:cNvSpPr>
          <p:nvPr>
            <p:ph type="body" sz="quarter" idx="21" hasCustomPrompt="1"/>
          </p:nvPr>
        </p:nvSpPr>
        <p:spPr>
          <a:xfrm>
            <a:off x="1193800" y="4476750"/>
            <a:ext cx="9810750" cy="394980"/>
          </a:xfrm>
          <a:prstGeom prst="rect">
            <a:avLst/>
          </a:prstGeom>
        </p:spPr>
        <p:txBody>
          <a:bodyPr anchor="t">
            <a:spAutoFit/>
          </a:bodyPr>
          <a:lstStyle>
            <a:lvl1pPr marL="0" indent="0" algn="ctr">
              <a:spcBef>
                <a:spcPts val="0"/>
              </a:spcBef>
              <a:buSzTx/>
              <a:buNone/>
              <a:defRPr sz="1900" i="1">
                <a:latin typeface="Hoefler Text"/>
                <a:ea typeface="Hoefler Text"/>
                <a:cs typeface="Hoefler Text"/>
                <a:sym typeface="Hoefler Text"/>
              </a:defRPr>
            </a:lvl1pPr>
          </a:lstStyle>
          <a:p>
            <a:r>
              <a:t>–苏子柔</a:t>
            </a:r>
          </a:p>
        </p:txBody>
      </p:sp>
      <p:sp>
        <p:nvSpPr>
          <p:cNvPr id="94" name="“在此键入引文。”"/>
          <p:cNvSpPr txBox="1">
            <a:spLocks noGrp="1"/>
          </p:cNvSpPr>
          <p:nvPr>
            <p:ph type="body" sz="quarter" idx="22" hasCustomPrompt="1"/>
          </p:nvPr>
        </p:nvSpPr>
        <p:spPr>
          <a:xfrm>
            <a:off x="1193800" y="2990850"/>
            <a:ext cx="9810750" cy="495301"/>
          </a:xfrm>
          <a:prstGeom prst="rect">
            <a:avLst/>
          </a:prstGeom>
        </p:spPr>
        <p:txBody>
          <a:bodyPr>
            <a:spAutoFit/>
          </a:bodyPr>
          <a:lstStyle>
            <a:lvl1pPr marL="0" indent="0" algn="ctr">
              <a:spcBef>
                <a:spcPts val="1700"/>
              </a:spcBef>
              <a:buSzTx/>
              <a:buNone/>
            </a:lvl1pPr>
          </a:lstStyle>
          <a:p>
            <a:r>
              <a:t>“在此键入引文。”</a:t>
            </a:r>
          </a:p>
        </p:txBody>
      </p:sp>
      <p:sp>
        <p:nvSpPr>
          <p:cNvPr id="9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634019096"/>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图像"/>
          <p:cNvSpPr>
            <a:spLocks noGrp="1"/>
          </p:cNvSpPr>
          <p:nvPr>
            <p:ph type="pic" idx="21"/>
          </p:nvPr>
        </p:nvSpPr>
        <p:spPr>
          <a:xfrm>
            <a:off x="0" y="-628650"/>
            <a:ext cx="12192000" cy="8115300"/>
          </a:xfrm>
          <a:prstGeom prst="rect">
            <a:avLst/>
          </a:prstGeom>
        </p:spPr>
        <p:txBody>
          <a:bodyPr lIns="91439" tIns="45719" rIns="91439" bIns="45719" anchor="t">
            <a:noAutofit/>
          </a:bodyPr>
          <a:lstStyle/>
          <a:p>
            <a:endParaRPr/>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592918503"/>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322167495"/>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1027">
            <a:extLst>
              <a:ext uri="{FF2B5EF4-FFF2-40B4-BE49-F238E27FC236}">
                <a16:creationId xmlns:a16="http://schemas.microsoft.com/office/drawing/2014/main" id="{18FB61D0-F369-F6D3-8088-B47551B3BB19}"/>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6B3E0D35-C583-1465-F203-C77790DB1781}"/>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F5164F9E-1E75-CBDC-E465-35BDE53CE36C}"/>
              </a:ext>
            </a:extLst>
          </p:cNvPr>
          <p:cNvSpPr>
            <a:spLocks noGrp="1"/>
          </p:cNvSpPr>
          <p:nvPr>
            <p:ph type="sldNum" sz="quarter" idx="12"/>
          </p:nvPr>
        </p:nvSpPr>
        <p:spPr>
          <a:ln/>
        </p:spPr>
        <p:txBody>
          <a:bodyPr/>
          <a:lstStyle>
            <a:lvl1pPr>
              <a:defRPr/>
            </a:lvl1pPr>
          </a:lstStyle>
          <a:p>
            <a:pPr>
              <a:defRPr/>
            </a:pPr>
            <a:fld id="{90A5FB2B-C19D-4559-B68F-F12FCF5B8D32}" type="slidenum">
              <a:rPr lang="zh-CN" altLang="zh-CN"/>
              <a:pPr>
                <a:defRPr/>
              </a:pPr>
              <a:t>‹#›</a:t>
            </a:fld>
            <a:endParaRPr lang="zh-CN" altLang="zh-CN"/>
          </a:p>
        </p:txBody>
      </p:sp>
    </p:spTree>
    <p:extLst>
      <p:ext uri="{BB962C8B-B14F-4D97-AF65-F5344CB8AC3E}">
        <p14:creationId xmlns:p14="http://schemas.microsoft.com/office/powerpoint/2010/main" val="10018580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8E68C726-DA60-4DAF-6196-F3CE9743AB13}"/>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FDA92243-3CC0-9123-0EBE-2FFE4918FDD4}"/>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CA6BE4FB-C537-9B5F-85A7-239787F7C20C}"/>
              </a:ext>
            </a:extLst>
          </p:cNvPr>
          <p:cNvSpPr>
            <a:spLocks noGrp="1"/>
          </p:cNvSpPr>
          <p:nvPr>
            <p:ph type="sldNum" sz="quarter" idx="12"/>
          </p:nvPr>
        </p:nvSpPr>
        <p:spPr>
          <a:ln/>
        </p:spPr>
        <p:txBody>
          <a:bodyPr/>
          <a:lstStyle>
            <a:lvl1pPr>
              <a:defRPr/>
            </a:lvl1pPr>
          </a:lstStyle>
          <a:p>
            <a:pPr>
              <a:defRPr/>
            </a:pPr>
            <a:fld id="{04DB5FF5-3548-42A0-BF7E-8226116CE11C}" type="slidenum">
              <a:rPr lang="zh-CN" altLang="zh-CN"/>
              <a:pPr>
                <a:defRPr/>
              </a:pPr>
              <a:t>‹#›</a:t>
            </a:fld>
            <a:endParaRPr lang="zh-CN" altLang="zh-CN"/>
          </a:p>
        </p:txBody>
      </p:sp>
    </p:spTree>
    <p:extLst>
      <p:ext uri="{BB962C8B-B14F-4D97-AF65-F5344CB8AC3E}">
        <p14:creationId xmlns:p14="http://schemas.microsoft.com/office/powerpoint/2010/main" val="13758984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1027">
            <a:extLst>
              <a:ext uri="{FF2B5EF4-FFF2-40B4-BE49-F238E27FC236}">
                <a16:creationId xmlns:a16="http://schemas.microsoft.com/office/drawing/2014/main" id="{8FCB261D-C78C-D9B4-05D1-1A549ABD7FEA}"/>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3827F664-A0E8-9D05-EEE5-811A6B033734}"/>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6FFE00FB-7295-2282-21C7-1695EABBB8D9}"/>
              </a:ext>
            </a:extLst>
          </p:cNvPr>
          <p:cNvSpPr>
            <a:spLocks noGrp="1"/>
          </p:cNvSpPr>
          <p:nvPr>
            <p:ph type="sldNum" sz="quarter" idx="12"/>
          </p:nvPr>
        </p:nvSpPr>
        <p:spPr>
          <a:ln/>
        </p:spPr>
        <p:txBody>
          <a:bodyPr/>
          <a:lstStyle>
            <a:lvl1pPr>
              <a:defRPr/>
            </a:lvl1pPr>
          </a:lstStyle>
          <a:p>
            <a:pPr>
              <a:defRPr/>
            </a:pPr>
            <a:fld id="{366A09DC-3AB8-48F4-8581-5B3CF4FF4ABD}" type="slidenum">
              <a:rPr lang="zh-CN" altLang="zh-CN"/>
              <a:pPr>
                <a:defRPr/>
              </a:pPr>
              <a:t>‹#›</a:t>
            </a:fld>
            <a:endParaRPr lang="zh-CN" altLang="zh-CN"/>
          </a:p>
        </p:txBody>
      </p:sp>
    </p:spTree>
    <p:extLst>
      <p:ext uri="{BB962C8B-B14F-4D97-AF65-F5344CB8AC3E}">
        <p14:creationId xmlns:p14="http://schemas.microsoft.com/office/powerpoint/2010/main" val="413791858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600201"/>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205728" y="1600201"/>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027">
            <a:extLst>
              <a:ext uri="{FF2B5EF4-FFF2-40B4-BE49-F238E27FC236}">
                <a16:creationId xmlns:a16="http://schemas.microsoft.com/office/drawing/2014/main" id="{559A7F6F-F878-DF3B-FD2B-77B0B56FD9EF}"/>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765335C7-04E9-6B38-1C84-2A4E79150185}"/>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22845D5B-E842-5826-BE95-0A333C90F49D}"/>
              </a:ext>
            </a:extLst>
          </p:cNvPr>
          <p:cNvSpPr>
            <a:spLocks noGrp="1"/>
          </p:cNvSpPr>
          <p:nvPr>
            <p:ph type="sldNum" sz="quarter" idx="12"/>
          </p:nvPr>
        </p:nvSpPr>
        <p:spPr>
          <a:ln/>
        </p:spPr>
        <p:txBody>
          <a:bodyPr/>
          <a:lstStyle>
            <a:lvl1pPr>
              <a:defRPr/>
            </a:lvl1pPr>
          </a:lstStyle>
          <a:p>
            <a:pPr>
              <a:defRPr/>
            </a:pPr>
            <a:fld id="{CBDCC6CD-A78F-40CC-8E44-440E952DD088}" type="slidenum">
              <a:rPr lang="zh-CN" altLang="zh-CN"/>
              <a:pPr>
                <a:defRPr/>
              </a:pPr>
              <a:t>‹#›</a:t>
            </a:fld>
            <a:endParaRPr lang="zh-CN" altLang="zh-CN"/>
          </a:p>
        </p:txBody>
      </p:sp>
    </p:spTree>
    <p:extLst>
      <p:ext uri="{BB962C8B-B14F-4D97-AF65-F5344CB8AC3E}">
        <p14:creationId xmlns:p14="http://schemas.microsoft.com/office/powerpoint/2010/main" val="42283988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1186775" y="1778438"/>
            <a:ext cx="4873575"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256939" y="1778438"/>
            <a:ext cx="4897576"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27">
            <a:extLst>
              <a:ext uri="{FF2B5EF4-FFF2-40B4-BE49-F238E27FC236}">
                <a16:creationId xmlns:a16="http://schemas.microsoft.com/office/drawing/2014/main" id="{139B9154-B5E3-6AD9-9C5B-539C1F9F42F5}"/>
              </a:ext>
            </a:extLst>
          </p:cNvPr>
          <p:cNvSpPr>
            <a:spLocks noGrp="1"/>
          </p:cNvSpPr>
          <p:nvPr>
            <p:ph type="dt" sz="half" idx="10"/>
          </p:nvPr>
        </p:nvSpPr>
        <p:spPr>
          <a:ln/>
        </p:spPr>
        <p:txBody>
          <a:bodyPr/>
          <a:lstStyle>
            <a:lvl1pPr>
              <a:defRPr/>
            </a:lvl1pPr>
          </a:lstStyle>
          <a:p>
            <a:pPr>
              <a:defRPr/>
            </a:pPr>
            <a:endParaRPr lang="zh-CN" altLang="zh-CN"/>
          </a:p>
        </p:txBody>
      </p:sp>
      <p:sp>
        <p:nvSpPr>
          <p:cNvPr id="8" name="页脚占位符 1028">
            <a:extLst>
              <a:ext uri="{FF2B5EF4-FFF2-40B4-BE49-F238E27FC236}">
                <a16:creationId xmlns:a16="http://schemas.microsoft.com/office/drawing/2014/main" id="{7C2717B9-30C7-29BF-BDDF-2AA2DBF1C3D4}"/>
              </a:ext>
            </a:extLst>
          </p:cNvPr>
          <p:cNvSpPr>
            <a:spLocks noGrp="1"/>
          </p:cNvSpPr>
          <p:nvPr>
            <p:ph type="ftr" sz="quarter" idx="11"/>
          </p:nvPr>
        </p:nvSpPr>
        <p:spPr>
          <a:ln/>
        </p:spPr>
        <p:txBody>
          <a:bodyPr/>
          <a:lstStyle>
            <a:lvl1pPr>
              <a:defRPr/>
            </a:lvl1pPr>
          </a:lstStyle>
          <a:p>
            <a:pPr>
              <a:defRPr/>
            </a:pPr>
            <a:endParaRPr lang="zh-CN" altLang="zh-CN"/>
          </a:p>
        </p:txBody>
      </p:sp>
      <p:sp>
        <p:nvSpPr>
          <p:cNvPr id="9" name="灯片编号占位符 1029">
            <a:extLst>
              <a:ext uri="{FF2B5EF4-FFF2-40B4-BE49-F238E27FC236}">
                <a16:creationId xmlns:a16="http://schemas.microsoft.com/office/drawing/2014/main" id="{536F5485-F991-D173-F564-E3D8D7E8CE19}"/>
              </a:ext>
            </a:extLst>
          </p:cNvPr>
          <p:cNvSpPr>
            <a:spLocks noGrp="1"/>
          </p:cNvSpPr>
          <p:nvPr>
            <p:ph type="sldNum" sz="quarter" idx="12"/>
          </p:nvPr>
        </p:nvSpPr>
        <p:spPr>
          <a:ln/>
        </p:spPr>
        <p:txBody>
          <a:bodyPr/>
          <a:lstStyle>
            <a:lvl1pPr>
              <a:defRPr/>
            </a:lvl1pPr>
          </a:lstStyle>
          <a:p>
            <a:pPr>
              <a:defRPr/>
            </a:pPr>
            <a:fld id="{963FB3E2-5F06-4806-811B-094877E04B2A}" type="slidenum">
              <a:rPr lang="zh-CN" altLang="zh-CN"/>
              <a:pPr>
                <a:defRPr/>
              </a:pPr>
              <a:t>‹#›</a:t>
            </a:fld>
            <a:endParaRPr lang="zh-CN" altLang="zh-CN"/>
          </a:p>
        </p:txBody>
      </p:sp>
    </p:spTree>
    <p:extLst>
      <p:ext uri="{BB962C8B-B14F-4D97-AF65-F5344CB8AC3E}">
        <p14:creationId xmlns:p14="http://schemas.microsoft.com/office/powerpoint/2010/main" val="287472215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1027">
            <a:extLst>
              <a:ext uri="{FF2B5EF4-FFF2-40B4-BE49-F238E27FC236}">
                <a16:creationId xmlns:a16="http://schemas.microsoft.com/office/drawing/2014/main" id="{492BC265-15FB-1170-3190-02968BE39F62}"/>
              </a:ext>
            </a:extLst>
          </p:cNvPr>
          <p:cNvSpPr>
            <a:spLocks noGrp="1"/>
          </p:cNvSpPr>
          <p:nvPr>
            <p:ph type="dt" sz="half" idx="10"/>
          </p:nvPr>
        </p:nvSpPr>
        <p:spPr>
          <a:ln/>
        </p:spPr>
        <p:txBody>
          <a:bodyPr/>
          <a:lstStyle>
            <a:lvl1pPr>
              <a:defRPr/>
            </a:lvl1pPr>
          </a:lstStyle>
          <a:p>
            <a:pPr>
              <a:defRPr/>
            </a:pPr>
            <a:endParaRPr lang="zh-CN" altLang="zh-CN"/>
          </a:p>
        </p:txBody>
      </p:sp>
      <p:sp>
        <p:nvSpPr>
          <p:cNvPr id="4" name="页脚占位符 1028">
            <a:extLst>
              <a:ext uri="{FF2B5EF4-FFF2-40B4-BE49-F238E27FC236}">
                <a16:creationId xmlns:a16="http://schemas.microsoft.com/office/drawing/2014/main" id="{6ADBDCF7-E8A1-EAFE-24A7-133999479D41}"/>
              </a:ext>
            </a:extLst>
          </p:cNvPr>
          <p:cNvSpPr>
            <a:spLocks noGrp="1"/>
          </p:cNvSpPr>
          <p:nvPr>
            <p:ph type="ftr" sz="quarter" idx="11"/>
          </p:nvPr>
        </p:nvSpPr>
        <p:spPr>
          <a:ln/>
        </p:spPr>
        <p:txBody>
          <a:bodyPr/>
          <a:lstStyle>
            <a:lvl1pPr>
              <a:defRPr/>
            </a:lvl1pPr>
          </a:lstStyle>
          <a:p>
            <a:pPr>
              <a:defRPr/>
            </a:pPr>
            <a:endParaRPr lang="zh-CN" altLang="zh-CN"/>
          </a:p>
        </p:txBody>
      </p:sp>
      <p:sp>
        <p:nvSpPr>
          <p:cNvPr id="5" name="灯片编号占位符 1029">
            <a:extLst>
              <a:ext uri="{FF2B5EF4-FFF2-40B4-BE49-F238E27FC236}">
                <a16:creationId xmlns:a16="http://schemas.microsoft.com/office/drawing/2014/main" id="{6E0A877E-6B5C-66EE-99E6-4FB5CD845847}"/>
              </a:ext>
            </a:extLst>
          </p:cNvPr>
          <p:cNvSpPr>
            <a:spLocks noGrp="1"/>
          </p:cNvSpPr>
          <p:nvPr>
            <p:ph type="sldNum" sz="quarter" idx="12"/>
          </p:nvPr>
        </p:nvSpPr>
        <p:spPr>
          <a:ln/>
        </p:spPr>
        <p:txBody>
          <a:bodyPr/>
          <a:lstStyle>
            <a:lvl1pPr>
              <a:defRPr/>
            </a:lvl1pPr>
          </a:lstStyle>
          <a:p>
            <a:pPr>
              <a:defRPr/>
            </a:pPr>
            <a:fld id="{00E87576-F366-4AAD-B8D6-3165311794B0}" type="slidenum">
              <a:rPr lang="zh-CN" altLang="zh-CN"/>
              <a:pPr>
                <a:defRPr/>
              </a:pPr>
              <a:t>‹#›</a:t>
            </a:fld>
            <a:endParaRPr lang="zh-CN" altLang="zh-CN"/>
          </a:p>
        </p:txBody>
      </p:sp>
    </p:spTree>
    <p:extLst>
      <p:ext uri="{BB962C8B-B14F-4D97-AF65-F5344CB8AC3E}">
        <p14:creationId xmlns:p14="http://schemas.microsoft.com/office/powerpoint/2010/main" val="42145451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a:extLst>
              <a:ext uri="{FF2B5EF4-FFF2-40B4-BE49-F238E27FC236}">
                <a16:creationId xmlns:a16="http://schemas.microsoft.com/office/drawing/2014/main" id="{179110CC-7993-6CCD-39BF-E4762560E041}"/>
              </a:ext>
            </a:extLst>
          </p:cNvPr>
          <p:cNvSpPr>
            <a:spLocks noGrp="1"/>
          </p:cNvSpPr>
          <p:nvPr>
            <p:ph type="dt" sz="half" idx="10"/>
          </p:nvPr>
        </p:nvSpPr>
        <p:spPr>
          <a:ln/>
        </p:spPr>
        <p:txBody>
          <a:bodyPr/>
          <a:lstStyle>
            <a:lvl1pPr>
              <a:defRPr/>
            </a:lvl1pPr>
          </a:lstStyle>
          <a:p>
            <a:pPr>
              <a:defRPr/>
            </a:pPr>
            <a:endParaRPr lang="zh-CN" altLang="zh-CN"/>
          </a:p>
        </p:txBody>
      </p:sp>
      <p:sp>
        <p:nvSpPr>
          <p:cNvPr id="3" name="页脚占位符 1028">
            <a:extLst>
              <a:ext uri="{FF2B5EF4-FFF2-40B4-BE49-F238E27FC236}">
                <a16:creationId xmlns:a16="http://schemas.microsoft.com/office/drawing/2014/main" id="{28F88415-381E-3BDC-49D0-A9CA6F8CA900}"/>
              </a:ext>
            </a:extLst>
          </p:cNvPr>
          <p:cNvSpPr>
            <a:spLocks noGrp="1"/>
          </p:cNvSpPr>
          <p:nvPr>
            <p:ph type="ftr" sz="quarter" idx="11"/>
          </p:nvPr>
        </p:nvSpPr>
        <p:spPr>
          <a:ln/>
        </p:spPr>
        <p:txBody>
          <a:bodyPr/>
          <a:lstStyle>
            <a:lvl1pPr>
              <a:defRPr/>
            </a:lvl1pPr>
          </a:lstStyle>
          <a:p>
            <a:pPr>
              <a:defRPr/>
            </a:pPr>
            <a:endParaRPr lang="zh-CN" altLang="zh-CN"/>
          </a:p>
        </p:txBody>
      </p:sp>
      <p:sp>
        <p:nvSpPr>
          <p:cNvPr id="4" name="灯片编号占位符 1029">
            <a:extLst>
              <a:ext uri="{FF2B5EF4-FFF2-40B4-BE49-F238E27FC236}">
                <a16:creationId xmlns:a16="http://schemas.microsoft.com/office/drawing/2014/main" id="{F2AA8C14-8A14-896A-68D7-4B79D6747A01}"/>
              </a:ext>
            </a:extLst>
          </p:cNvPr>
          <p:cNvSpPr>
            <a:spLocks noGrp="1"/>
          </p:cNvSpPr>
          <p:nvPr>
            <p:ph type="sldNum" sz="quarter" idx="12"/>
          </p:nvPr>
        </p:nvSpPr>
        <p:spPr>
          <a:ln/>
        </p:spPr>
        <p:txBody>
          <a:bodyPr/>
          <a:lstStyle>
            <a:lvl1pPr>
              <a:defRPr/>
            </a:lvl1pPr>
          </a:lstStyle>
          <a:p>
            <a:pPr>
              <a:defRPr/>
            </a:pPr>
            <a:fld id="{8821C88C-1B54-49AF-A2F3-98012D60551F}" type="slidenum">
              <a:rPr lang="zh-CN" altLang="zh-CN"/>
              <a:pPr>
                <a:defRPr/>
              </a:pPr>
              <a:t>‹#›</a:t>
            </a:fld>
            <a:endParaRPr lang="zh-CN" altLang="zh-CN"/>
          </a:p>
        </p:txBody>
      </p:sp>
    </p:spTree>
    <p:extLst>
      <p:ext uri="{BB962C8B-B14F-4D97-AF65-F5344CB8AC3E}">
        <p14:creationId xmlns:p14="http://schemas.microsoft.com/office/powerpoint/2010/main" val="13081664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0C9382C4-C590-9C19-D61B-9E961029052B}"/>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9CB6C495-D15F-5E6A-4410-B4BE23995B4F}"/>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A0962933-2B94-0E09-23B6-78830678E4E0}"/>
              </a:ext>
            </a:extLst>
          </p:cNvPr>
          <p:cNvSpPr>
            <a:spLocks noGrp="1"/>
          </p:cNvSpPr>
          <p:nvPr>
            <p:ph type="sldNum" sz="quarter" idx="12"/>
          </p:nvPr>
        </p:nvSpPr>
        <p:spPr>
          <a:ln/>
        </p:spPr>
        <p:txBody>
          <a:bodyPr/>
          <a:lstStyle>
            <a:lvl1pPr>
              <a:defRPr/>
            </a:lvl1pPr>
          </a:lstStyle>
          <a:p>
            <a:pPr>
              <a:defRPr/>
            </a:pPr>
            <a:fld id="{953E0626-6AC2-4DBE-92A7-945F56122D30}" type="slidenum">
              <a:rPr lang="zh-CN" altLang="zh-CN"/>
              <a:pPr>
                <a:defRPr/>
              </a:pPr>
              <a:t>‹#›</a:t>
            </a:fld>
            <a:endParaRPr lang="zh-CN" altLang="zh-CN"/>
          </a:p>
        </p:txBody>
      </p:sp>
    </p:spTree>
    <p:extLst>
      <p:ext uri="{BB962C8B-B14F-4D97-AF65-F5344CB8AC3E}">
        <p14:creationId xmlns:p14="http://schemas.microsoft.com/office/powerpoint/2010/main" val="358850656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14E82967-9FDF-3ABB-106D-BB9CEB4C187F}"/>
              </a:ext>
            </a:extLst>
          </p:cNvPr>
          <p:cNvSpPr>
            <a:spLocks noGrp="1"/>
          </p:cNvSpPr>
          <p:nvPr>
            <p:ph type="dt" sz="half" idx="10"/>
          </p:nvPr>
        </p:nvSpPr>
        <p:spPr>
          <a:ln/>
        </p:spPr>
        <p:txBody>
          <a:bodyPr/>
          <a:lstStyle>
            <a:lvl1pPr>
              <a:defRPr/>
            </a:lvl1pPr>
          </a:lstStyle>
          <a:p>
            <a:pPr>
              <a:defRPr/>
            </a:pPr>
            <a:endParaRPr lang="zh-CN" altLang="zh-CN"/>
          </a:p>
        </p:txBody>
      </p:sp>
      <p:sp>
        <p:nvSpPr>
          <p:cNvPr id="6" name="页脚占位符 1028">
            <a:extLst>
              <a:ext uri="{FF2B5EF4-FFF2-40B4-BE49-F238E27FC236}">
                <a16:creationId xmlns:a16="http://schemas.microsoft.com/office/drawing/2014/main" id="{BAD88FA8-1651-3380-F7D1-43FF2C3DB755}"/>
              </a:ext>
            </a:extLst>
          </p:cNvPr>
          <p:cNvSpPr>
            <a:spLocks noGrp="1"/>
          </p:cNvSpPr>
          <p:nvPr>
            <p:ph type="ftr" sz="quarter" idx="11"/>
          </p:nvPr>
        </p:nvSpPr>
        <p:spPr>
          <a:ln/>
        </p:spPr>
        <p:txBody>
          <a:bodyPr/>
          <a:lstStyle>
            <a:lvl1pPr>
              <a:defRPr/>
            </a:lvl1pPr>
          </a:lstStyle>
          <a:p>
            <a:pPr>
              <a:defRPr/>
            </a:pPr>
            <a:endParaRPr lang="zh-CN" altLang="zh-CN"/>
          </a:p>
        </p:txBody>
      </p:sp>
      <p:sp>
        <p:nvSpPr>
          <p:cNvPr id="7" name="灯片编号占位符 1029">
            <a:extLst>
              <a:ext uri="{FF2B5EF4-FFF2-40B4-BE49-F238E27FC236}">
                <a16:creationId xmlns:a16="http://schemas.microsoft.com/office/drawing/2014/main" id="{2BCE47E4-965E-5B80-E229-390710FA3CC9}"/>
              </a:ext>
            </a:extLst>
          </p:cNvPr>
          <p:cNvSpPr>
            <a:spLocks noGrp="1"/>
          </p:cNvSpPr>
          <p:nvPr>
            <p:ph type="sldNum" sz="quarter" idx="12"/>
          </p:nvPr>
        </p:nvSpPr>
        <p:spPr>
          <a:ln/>
        </p:spPr>
        <p:txBody>
          <a:bodyPr/>
          <a:lstStyle>
            <a:lvl1pPr>
              <a:defRPr/>
            </a:lvl1pPr>
          </a:lstStyle>
          <a:p>
            <a:pPr>
              <a:defRPr/>
            </a:pPr>
            <a:fld id="{08C3C366-6BBE-49E9-B8F7-7607F6D59741}" type="slidenum">
              <a:rPr lang="zh-CN" altLang="zh-CN"/>
              <a:pPr>
                <a:defRPr/>
              </a:pPr>
              <a:t>‹#›</a:t>
            </a:fld>
            <a:endParaRPr lang="zh-CN" altLang="zh-CN"/>
          </a:p>
        </p:txBody>
      </p:sp>
    </p:spTree>
    <p:extLst>
      <p:ext uri="{BB962C8B-B14F-4D97-AF65-F5344CB8AC3E}">
        <p14:creationId xmlns:p14="http://schemas.microsoft.com/office/powerpoint/2010/main" val="7324489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6AD380EF-1B95-CBBF-251E-91453556150B}"/>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F84CDBEE-759D-7D53-C764-C7573465BA27}"/>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6B18DB5F-17E9-4451-F987-F58C139EF871}"/>
              </a:ext>
            </a:extLst>
          </p:cNvPr>
          <p:cNvSpPr>
            <a:spLocks noGrp="1"/>
          </p:cNvSpPr>
          <p:nvPr>
            <p:ph type="sldNum" sz="quarter" idx="12"/>
          </p:nvPr>
        </p:nvSpPr>
        <p:spPr>
          <a:ln/>
        </p:spPr>
        <p:txBody>
          <a:bodyPr/>
          <a:lstStyle>
            <a:lvl1pPr>
              <a:defRPr/>
            </a:lvl1pPr>
          </a:lstStyle>
          <a:p>
            <a:pPr>
              <a:defRPr/>
            </a:pPr>
            <a:fld id="{B6304BB5-2583-47E3-A491-508804F0EEEC}" type="slidenum">
              <a:rPr lang="zh-CN" altLang="zh-CN"/>
              <a:pPr>
                <a:defRPr/>
              </a:pPr>
              <a:t>‹#›</a:t>
            </a:fld>
            <a:endParaRPr lang="zh-CN" altLang="zh-CN"/>
          </a:p>
        </p:txBody>
      </p:sp>
    </p:spTree>
    <p:extLst>
      <p:ext uri="{BB962C8B-B14F-4D97-AF65-F5344CB8AC3E}">
        <p14:creationId xmlns:p14="http://schemas.microsoft.com/office/powerpoint/2010/main" val="151976956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274639"/>
            <a:ext cx="8070573"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C7CC9F6A-D018-D681-0CC8-2B40D2FC6CF7}"/>
              </a:ext>
            </a:extLst>
          </p:cNvPr>
          <p:cNvSpPr>
            <a:spLocks noGrp="1"/>
          </p:cNvSpPr>
          <p:nvPr>
            <p:ph type="dt" sz="half" idx="10"/>
          </p:nvPr>
        </p:nvSpPr>
        <p:spPr>
          <a:ln/>
        </p:spPr>
        <p:txBody>
          <a:bodyPr/>
          <a:lstStyle>
            <a:lvl1pPr>
              <a:defRPr/>
            </a:lvl1pPr>
          </a:lstStyle>
          <a:p>
            <a:pPr>
              <a:defRPr/>
            </a:pPr>
            <a:endParaRPr lang="zh-CN" altLang="zh-CN"/>
          </a:p>
        </p:txBody>
      </p:sp>
      <p:sp>
        <p:nvSpPr>
          <p:cNvPr id="5" name="页脚占位符 1028">
            <a:extLst>
              <a:ext uri="{FF2B5EF4-FFF2-40B4-BE49-F238E27FC236}">
                <a16:creationId xmlns:a16="http://schemas.microsoft.com/office/drawing/2014/main" id="{1C4EB8EE-8DCA-92CE-C3EF-075C5C9C5156}"/>
              </a:ext>
            </a:extLst>
          </p:cNvPr>
          <p:cNvSpPr>
            <a:spLocks noGrp="1"/>
          </p:cNvSpPr>
          <p:nvPr>
            <p:ph type="ftr" sz="quarter" idx="11"/>
          </p:nvPr>
        </p:nvSpPr>
        <p:spPr>
          <a:ln/>
        </p:spPr>
        <p:txBody>
          <a:bodyPr/>
          <a:lstStyle>
            <a:lvl1pPr>
              <a:defRPr/>
            </a:lvl1pPr>
          </a:lstStyle>
          <a:p>
            <a:pPr>
              <a:defRPr/>
            </a:pPr>
            <a:endParaRPr lang="zh-CN" altLang="zh-CN"/>
          </a:p>
        </p:txBody>
      </p:sp>
      <p:sp>
        <p:nvSpPr>
          <p:cNvPr id="6" name="灯片编号占位符 1029">
            <a:extLst>
              <a:ext uri="{FF2B5EF4-FFF2-40B4-BE49-F238E27FC236}">
                <a16:creationId xmlns:a16="http://schemas.microsoft.com/office/drawing/2014/main" id="{2477A6CE-568B-A878-93CB-78DC7E64EA51}"/>
              </a:ext>
            </a:extLst>
          </p:cNvPr>
          <p:cNvSpPr>
            <a:spLocks noGrp="1"/>
          </p:cNvSpPr>
          <p:nvPr>
            <p:ph type="sldNum" sz="quarter" idx="12"/>
          </p:nvPr>
        </p:nvSpPr>
        <p:spPr>
          <a:ln/>
        </p:spPr>
        <p:txBody>
          <a:bodyPr/>
          <a:lstStyle>
            <a:lvl1pPr>
              <a:defRPr/>
            </a:lvl1pPr>
          </a:lstStyle>
          <a:p>
            <a:pPr>
              <a:defRPr/>
            </a:pPr>
            <a:fld id="{8915B2C7-6725-428E-BD80-C84D9DEAC5A7}" type="slidenum">
              <a:rPr lang="zh-CN" altLang="zh-CN"/>
              <a:pPr>
                <a:defRPr/>
              </a:pPr>
              <a:t>‹#›</a:t>
            </a:fld>
            <a:endParaRPr lang="zh-CN" altLang="zh-CN"/>
          </a:p>
        </p:txBody>
      </p:sp>
    </p:spTree>
    <p:extLst>
      <p:ext uri="{BB962C8B-B14F-4D97-AF65-F5344CB8AC3E}">
        <p14:creationId xmlns:p14="http://schemas.microsoft.com/office/powerpoint/2010/main" val="116566485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a:p>
        </p:txBody>
      </p:sp>
      <p:sp>
        <p:nvSpPr>
          <p:cNvPr id="3" name="Content Placeholder 2"/>
          <p:cNvSpPr>
            <a:spLocks noGrp="1"/>
          </p:cNvSpPr>
          <p:nvPr>
            <p:ph idx="1"/>
          </p:nvPr>
        </p:nvSpPr>
        <p:spPr/>
        <p:txBody>
          <a:bodyPr/>
          <a:lstStyle>
            <a:lvl5pPr>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dirty="0"/>
          </a:p>
        </p:txBody>
      </p:sp>
      <p:sp>
        <p:nvSpPr>
          <p:cNvPr id="4" name="Date Placeholder 3">
            <a:extLst>
              <a:ext uri="{FF2B5EF4-FFF2-40B4-BE49-F238E27FC236}">
                <a16:creationId xmlns:a16="http://schemas.microsoft.com/office/drawing/2014/main" id="{B85BA852-56C2-DDA6-F53C-F57BE112AF90}"/>
              </a:ext>
            </a:extLst>
          </p:cNvPr>
          <p:cNvSpPr>
            <a:spLocks noGrp="1"/>
          </p:cNvSpPr>
          <p:nvPr>
            <p:ph type="dt" sz="half" idx="10"/>
          </p:nvPr>
        </p:nvSpPr>
        <p:spPr/>
        <p:txBody>
          <a:bodyPr/>
          <a:lstStyle>
            <a:lvl1pPr>
              <a:defRPr/>
            </a:lvl1pPr>
          </a:lstStyle>
          <a:p>
            <a:pPr>
              <a:defRPr/>
            </a:pPr>
            <a:fld id="{6B1ADA00-D37C-41A5-98B0-FFAAF665D381}" type="datetimeFigureOut">
              <a:rPr lang="en-US"/>
              <a:pPr>
                <a:defRPr/>
              </a:pPr>
              <a:t>4/13/2023</a:t>
            </a:fld>
            <a:endParaRPr lang="en-US"/>
          </a:p>
        </p:txBody>
      </p:sp>
      <p:sp>
        <p:nvSpPr>
          <p:cNvPr id="5" name="Footer Placeholder 4">
            <a:extLst>
              <a:ext uri="{FF2B5EF4-FFF2-40B4-BE49-F238E27FC236}">
                <a16:creationId xmlns:a16="http://schemas.microsoft.com/office/drawing/2014/main" id="{7ED3E1F1-8918-02FA-11A8-2E1EBC7A997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893EE87-E87B-EF6F-0E84-F426A2D1A9CF}"/>
              </a:ext>
            </a:extLst>
          </p:cNvPr>
          <p:cNvSpPr>
            <a:spLocks noGrp="1"/>
          </p:cNvSpPr>
          <p:nvPr>
            <p:ph type="sldNum" sz="quarter" idx="12"/>
          </p:nvPr>
        </p:nvSpPr>
        <p:spPr/>
        <p:txBody>
          <a:bodyPr/>
          <a:lstStyle>
            <a:lvl1pPr>
              <a:defRPr/>
            </a:lvl1pPr>
          </a:lstStyle>
          <a:p>
            <a:pPr>
              <a:defRPr/>
            </a:pPr>
            <a:fld id="{1BB4CCB6-EDAB-437F-A182-8708C1FEE336}" type="slidenum">
              <a:rPr lang="en-US" altLang="zh-CN"/>
              <a:pPr>
                <a:defRPr/>
              </a:pPr>
              <a:t>‹#›</a:t>
            </a:fld>
            <a:endParaRPr lang="en-US" altLang="zh-CN"/>
          </a:p>
        </p:txBody>
      </p:sp>
    </p:spTree>
    <p:extLst>
      <p:ext uri="{BB962C8B-B14F-4D97-AF65-F5344CB8AC3E}">
        <p14:creationId xmlns:p14="http://schemas.microsoft.com/office/powerpoint/2010/main" val="3183700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7.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6.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image" Target="../media/image7.png"/><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6.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image" Target="../media/image7.png"/><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6.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 1025">
            <a:extLst>
              <a:ext uri="{FF2B5EF4-FFF2-40B4-BE49-F238E27FC236}">
                <a16:creationId xmlns:a16="http://schemas.microsoft.com/office/drawing/2014/main" id="{5BAB4B0D-57E7-F7D2-4077-58BE832B2B40}"/>
              </a:ext>
            </a:extLst>
          </p:cNvPr>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1026">
            <a:extLst>
              <a:ext uri="{FF2B5EF4-FFF2-40B4-BE49-F238E27FC236}">
                <a16:creationId xmlns:a16="http://schemas.microsoft.com/office/drawing/2014/main" id="{F649BC8D-CF53-5133-BF64-803FEED9F1E7}"/>
              </a:ext>
            </a:extLst>
          </p:cNvPr>
          <p:cNvSpPr>
            <a:spLocks noGrp="1" noChangeArrowheads="1"/>
          </p:cNvSpPr>
          <p:nvPr>
            <p:ph type="body" idx="4294967295"/>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a:extLst>
              <a:ext uri="{FF2B5EF4-FFF2-40B4-BE49-F238E27FC236}">
                <a16:creationId xmlns:a16="http://schemas.microsoft.com/office/drawing/2014/main" id="{A6F20FFB-7F31-B4F4-72D0-B9C6BB533552}"/>
              </a:ext>
            </a:extLst>
          </p:cNvPr>
          <p:cNvSpPr>
            <a:spLocks noGrp="1"/>
          </p:cNvSpPr>
          <p:nvPr>
            <p:ph type="dt" sz="half" idx="2"/>
          </p:nvPr>
        </p:nvSpPr>
        <p:spPr>
          <a:xfrm>
            <a:off x="609600" y="6245225"/>
            <a:ext cx="2844800" cy="476250"/>
          </a:xfrm>
          <a:prstGeom prst="rect">
            <a:avLst/>
          </a:prstGeom>
          <a:noFill/>
          <a:ln w="9525">
            <a:noFill/>
            <a:miter/>
          </a:ln>
        </p:spPr>
        <p:txBody>
          <a:bodyPr/>
          <a:lstStyle>
            <a:lvl1pPr eaLnBrk="0" hangingPunct="0">
              <a:buFont typeface="Arial" panose="020B0604020202020204" pitchFamily="34" charset="0"/>
              <a:buNone/>
              <a:defRPr sz="1400" noProof="1">
                <a:latin typeface="Arial" panose="020B0604020202020204" pitchFamily="34" charset="0"/>
              </a:defRPr>
            </a:lvl1pPr>
          </a:lstStyle>
          <a:p>
            <a:pPr>
              <a:defRPr/>
            </a:pPr>
            <a:endParaRPr lang="zh-CN" altLang="zh-CN"/>
          </a:p>
        </p:txBody>
      </p:sp>
      <p:sp>
        <p:nvSpPr>
          <p:cNvPr id="1029" name="页脚占位符 1028">
            <a:extLst>
              <a:ext uri="{FF2B5EF4-FFF2-40B4-BE49-F238E27FC236}">
                <a16:creationId xmlns:a16="http://schemas.microsoft.com/office/drawing/2014/main" id="{30B0DBB2-5A8F-2B06-C785-309AEDE3908D}"/>
              </a:ext>
            </a:extLst>
          </p:cNvPr>
          <p:cNvSpPr>
            <a:spLocks noGrp="1"/>
          </p:cNvSpPr>
          <p:nvPr>
            <p:ph type="ftr" sz="quarter" idx="3"/>
          </p:nvPr>
        </p:nvSpPr>
        <p:spPr>
          <a:xfrm>
            <a:off x="4165600" y="6245225"/>
            <a:ext cx="3860800" cy="476250"/>
          </a:xfrm>
          <a:prstGeom prst="rect">
            <a:avLst/>
          </a:prstGeom>
          <a:noFill/>
          <a:ln w="9525">
            <a:noFill/>
            <a:miter/>
          </a:ln>
        </p:spPr>
        <p:txBody>
          <a:bodyPr/>
          <a:lstStyle>
            <a:lvl1pPr algn="ctr" eaLnBrk="0" hangingPunct="0">
              <a:buFont typeface="Arial" panose="020B0604020202020204" pitchFamily="34" charset="0"/>
              <a:buNone/>
              <a:defRPr sz="1400" noProof="1">
                <a:latin typeface="Arial" panose="020B0604020202020204" pitchFamily="34" charset="0"/>
              </a:defRPr>
            </a:lvl1pPr>
          </a:lstStyle>
          <a:p>
            <a:pPr>
              <a:defRPr/>
            </a:pPr>
            <a:endParaRPr lang="zh-CN" altLang="zh-CN"/>
          </a:p>
        </p:txBody>
      </p:sp>
      <p:sp>
        <p:nvSpPr>
          <p:cNvPr id="1030" name="灯片编号占位符 1029">
            <a:extLst>
              <a:ext uri="{FF2B5EF4-FFF2-40B4-BE49-F238E27FC236}">
                <a16:creationId xmlns:a16="http://schemas.microsoft.com/office/drawing/2014/main" id="{A8BEBC36-B154-E12B-9A2F-7801A0B7ED3D}"/>
              </a:ext>
            </a:extLst>
          </p:cNvPr>
          <p:cNvSpPr>
            <a:spLocks noGrp="1"/>
          </p:cNvSpPr>
          <p:nvPr>
            <p:ph type="sldNum" sz="quarter" idx="4"/>
          </p:nvPr>
        </p:nvSpPr>
        <p:spPr>
          <a:xfrm>
            <a:off x="8737600" y="6245225"/>
            <a:ext cx="2844800" cy="476250"/>
          </a:xfrm>
          <a:prstGeom prst="rect">
            <a:avLst/>
          </a:prstGeom>
          <a:noFill/>
          <a:ln w="9525">
            <a:noFill/>
            <a:miter/>
          </a:ln>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31C3105B-D0C3-4DF0-8F5E-B8AEF0619A7E}" type="slidenum">
              <a:rPr lang="zh-CN" altLang="zh-CN"/>
              <a:pPr>
                <a:defRPr/>
              </a:pPr>
              <a:t>‹#›</a:t>
            </a:fld>
            <a:endParaRPr lang="zh-CN" altLang="zh-CN"/>
          </a:p>
        </p:txBody>
      </p:sp>
    </p:spTree>
    <p:extLst>
      <p:ext uri="{BB962C8B-B14F-4D97-AF65-F5344CB8AC3E}">
        <p14:creationId xmlns:p14="http://schemas.microsoft.com/office/powerpoint/2010/main" val="1256923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标题 1025">
            <a:extLst>
              <a:ext uri="{FF2B5EF4-FFF2-40B4-BE49-F238E27FC236}">
                <a16:creationId xmlns:a16="http://schemas.microsoft.com/office/drawing/2014/main" id="{4565B41C-84EF-0B43-25CD-B0BCEAF30D1A}"/>
              </a:ext>
            </a:extLst>
          </p:cNvPr>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1026">
            <a:extLst>
              <a:ext uri="{FF2B5EF4-FFF2-40B4-BE49-F238E27FC236}">
                <a16:creationId xmlns:a16="http://schemas.microsoft.com/office/drawing/2014/main" id="{C2BD4BF6-DD60-4556-A1AF-D794462DB8EF}"/>
              </a:ext>
            </a:extLst>
          </p:cNvPr>
          <p:cNvSpPr>
            <a:spLocks noGrp="1" noChangeArrowheads="1"/>
          </p:cNvSpPr>
          <p:nvPr>
            <p:ph type="body" idx="4294967295"/>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a:extLst>
              <a:ext uri="{FF2B5EF4-FFF2-40B4-BE49-F238E27FC236}">
                <a16:creationId xmlns:a16="http://schemas.microsoft.com/office/drawing/2014/main" id="{5AE70D71-DB18-66F7-B516-F182C43C5521}"/>
              </a:ext>
            </a:extLst>
          </p:cNvPr>
          <p:cNvSpPr>
            <a:spLocks noGrp="1"/>
          </p:cNvSpPr>
          <p:nvPr>
            <p:ph type="dt" sz="half" idx="2"/>
          </p:nvPr>
        </p:nvSpPr>
        <p:spPr>
          <a:xfrm>
            <a:off x="609600" y="6245225"/>
            <a:ext cx="2844800" cy="476250"/>
          </a:xfrm>
          <a:prstGeom prst="rect">
            <a:avLst/>
          </a:prstGeom>
          <a:noFill/>
          <a:ln w="9525">
            <a:noFill/>
            <a:miter/>
          </a:ln>
        </p:spPr>
        <p:txBody>
          <a:bodyPr/>
          <a:lstStyle>
            <a:lvl1pPr>
              <a:buFont typeface="Arial" pitchFamily="34" charset="0"/>
              <a:buNone/>
              <a:defRPr sz="1400" noProof="1">
                <a:latin typeface="Arial" pitchFamily="34" charset="0"/>
              </a:defRPr>
            </a:lvl1pPr>
          </a:lstStyle>
          <a:p>
            <a:pPr>
              <a:defRPr/>
            </a:pPr>
            <a:endParaRPr lang="zh-CN" altLang="zh-CN"/>
          </a:p>
        </p:txBody>
      </p:sp>
      <p:sp>
        <p:nvSpPr>
          <p:cNvPr id="1029" name="页脚占位符 1028">
            <a:extLst>
              <a:ext uri="{FF2B5EF4-FFF2-40B4-BE49-F238E27FC236}">
                <a16:creationId xmlns:a16="http://schemas.microsoft.com/office/drawing/2014/main" id="{EBFEECC3-4174-26A4-DBD9-F1D6CD70D0DE}"/>
              </a:ext>
            </a:extLst>
          </p:cNvPr>
          <p:cNvSpPr>
            <a:spLocks noGrp="1"/>
          </p:cNvSpPr>
          <p:nvPr>
            <p:ph type="ftr" sz="quarter" idx="3"/>
          </p:nvPr>
        </p:nvSpPr>
        <p:spPr>
          <a:xfrm>
            <a:off x="4165600" y="6245225"/>
            <a:ext cx="3860800" cy="476250"/>
          </a:xfrm>
          <a:prstGeom prst="rect">
            <a:avLst/>
          </a:prstGeom>
          <a:noFill/>
          <a:ln w="9525">
            <a:noFill/>
            <a:miter/>
          </a:ln>
        </p:spPr>
        <p:txBody>
          <a:bodyPr/>
          <a:lstStyle>
            <a:lvl1pPr algn="ctr">
              <a:buFont typeface="Arial" pitchFamily="34" charset="0"/>
              <a:buNone/>
              <a:defRPr sz="1400" noProof="1">
                <a:latin typeface="Arial" pitchFamily="34" charset="0"/>
              </a:defRPr>
            </a:lvl1pPr>
          </a:lstStyle>
          <a:p>
            <a:pPr>
              <a:defRPr/>
            </a:pPr>
            <a:endParaRPr lang="zh-CN" altLang="zh-CN"/>
          </a:p>
        </p:txBody>
      </p:sp>
      <p:sp>
        <p:nvSpPr>
          <p:cNvPr id="1030" name="灯片编号占位符 1029">
            <a:extLst>
              <a:ext uri="{FF2B5EF4-FFF2-40B4-BE49-F238E27FC236}">
                <a16:creationId xmlns:a16="http://schemas.microsoft.com/office/drawing/2014/main" id="{8CE7C4CE-170C-3F49-B060-52F34521640D}"/>
              </a:ext>
            </a:extLst>
          </p:cNvPr>
          <p:cNvSpPr>
            <a:spLocks noGrp="1"/>
          </p:cNvSpPr>
          <p:nvPr>
            <p:ph type="sldNum" sz="quarter" idx="4"/>
          </p:nvPr>
        </p:nvSpPr>
        <p:spPr>
          <a:xfrm>
            <a:off x="8737600" y="6245225"/>
            <a:ext cx="2844800" cy="476250"/>
          </a:xfrm>
          <a:prstGeom prst="rect">
            <a:avLst/>
          </a:prstGeom>
          <a:noFill/>
          <a:ln w="9525">
            <a:noFill/>
            <a:miter/>
          </a:ln>
        </p:spPr>
        <p:txBody>
          <a:bodyPr vert="horz" wrap="square" lIns="91440" tIns="45720" rIns="91440" bIns="45720" numCol="1" anchor="t" anchorCtr="0" compatLnSpc="1">
            <a:prstTxWarp prst="textNoShape">
              <a:avLst/>
            </a:prstTxWarp>
          </a:bodyPr>
          <a:lstStyle>
            <a:lvl1pPr algn="r">
              <a:defRPr sz="1400" smtClean="0"/>
            </a:lvl1pPr>
          </a:lstStyle>
          <a:p>
            <a:pPr>
              <a:defRPr/>
            </a:pPr>
            <a:fld id="{EB60A3E8-A448-4049-B8BB-09D20DF0A0A6}" type="slidenum">
              <a:rPr lang="zh-CN" altLang="zh-CN"/>
              <a:pPr>
                <a:defRPr/>
              </a:pPr>
              <a:t>‹#›</a:t>
            </a:fld>
            <a:endParaRPr lang="zh-CN" altLang="zh-CN"/>
          </a:p>
        </p:txBody>
      </p:sp>
    </p:spTree>
    <p:extLst>
      <p:ext uri="{BB962C8B-B14F-4D97-AF65-F5344CB8AC3E}">
        <p14:creationId xmlns:p14="http://schemas.microsoft.com/office/powerpoint/2010/main" val="22198089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Lst>
      </p:bldP>
    </p:bldLst>
  </p:timing>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8890413" y="4915144"/>
            <a:ext cx="3301588" cy="1942857"/>
          </a:xfrm>
          <a:prstGeom prst="rect">
            <a:avLst/>
          </a:prstGeom>
          <a:noFill/>
          <a:ln>
            <a:noFill/>
          </a:ln>
        </p:spPr>
      </p:pic>
      <p:sp>
        <p:nvSpPr>
          <p:cNvPr id="10" name="矩形 9"/>
          <p:cNvSpPr/>
          <p:nvPr/>
        </p:nvSpPr>
        <p:spPr>
          <a:xfrm>
            <a:off x="0" y="0"/>
            <a:ext cx="1219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sz="1800"/>
          </a:p>
        </p:txBody>
      </p:sp>
      <p:sp>
        <p:nvSpPr>
          <p:cNvPr id="11" name="矩形 10"/>
          <p:cNvSpPr/>
          <p:nvPr/>
        </p:nvSpPr>
        <p:spPr>
          <a:xfrm>
            <a:off x="0" y="40951"/>
            <a:ext cx="6096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sz="1800"/>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6"/>
            <a:ext cx="12192000" cy="437555"/>
          </a:xfrm>
          <a:prstGeom prst="rect">
            <a:avLst/>
          </a:prstGeom>
          <a:noFill/>
          <a:ln>
            <a:noFill/>
          </a:ln>
          <a:effectLst/>
        </p:spPr>
      </p:pic>
      <p:sp>
        <p:nvSpPr>
          <p:cNvPr id="2" name="标题占位符 1"/>
          <p:cNvSpPr>
            <a:spLocks noGrp="1"/>
          </p:cNvSpPr>
          <p:nvPr>
            <p:ph type="title"/>
          </p:nvPr>
        </p:nvSpPr>
        <p:spPr>
          <a:xfrm>
            <a:off x="609600" y="274638"/>
            <a:ext cx="109728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09600" y="1600201"/>
            <a:ext cx="10972800" cy="4525963"/>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609600" y="6356351"/>
            <a:ext cx="28448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7916F35-EB6E-4187-A0C0-48C4698F8122}" type="datetimeFigureOut">
              <a:rPr lang="zh-CN" altLang="en-US" smtClean="0"/>
              <a:pPr/>
              <a:t>2023/4/13</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CD5C9457-5890-4FC4-BACA-8A5565DB0705}" type="slidenum">
              <a:rPr lang="zh-CN" altLang="en-US" smtClean="0"/>
              <a:pPr/>
              <a:t>‹#›</a:t>
            </a:fld>
            <a:endParaRPr lang="zh-CN" altLang="en-US"/>
          </a:p>
        </p:txBody>
      </p:sp>
    </p:spTree>
    <p:extLst>
      <p:ext uri="{BB962C8B-B14F-4D97-AF65-F5344CB8AC3E}">
        <p14:creationId xmlns:p14="http://schemas.microsoft.com/office/powerpoint/2010/main" val="340759508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4"/>
          <a:srcRect/>
          <a:stretch>
            <a:fillRect/>
          </a:stretch>
        </a:blipFill>
        <a:effectLst/>
      </p:bgPr>
    </p:bg>
    <p:spTree>
      <p:nvGrpSpPr>
        <p:cNvPr id="1" name=""/>
        <p:cNvGrpSpPr/>
        <p:nvPr/>
      </p:nvGrpSpPr>
      <p:grpSpPr>
        <a:xfrm>
          <a:off x="0" y="0"/>
          <a:ext cx="0" cy="0"/>
          <a:chOff x="0" y="0"/>
          <a:chExt cx="0" cy="0"/>
        </a:xfrm>
      </p:grpSpPr>
      <p:sp>
        <p:nvSpPr>
          <p:cNvPr id="2" name="正文级别 1…"/>
          <p:cNvSpPr txBox="1">
            <a:spLocks noGrp="1"/>
          </p:cNvSpPr>
          <p:nvPr>
            <p:ph type="body" idx="1"/>
          </p:nvPr>
        </p:nvSpPr>
        <p:spPr>
          <a:xfrm>
            <a:off x="736600" y="882650"/>
            <a:ext cx="10718800" cy="5092700"/>
          </a:xfrm>
          <a:prstGeom prst="rect">
            <a:avLst/>
          </a:prstGeom>
          <a:ln w="12700">
            <a:miter lim="400000"/>
          </a:ln>
        </p:spPr>
        <p:txBody>
          <a:bodyPr lIns="50800" tIns="50800" rIns="50800" bIns="50800" anchor="ctr">
            <a:normAutofit/>
          </a:bodyPr>
          <a:lstStyle>
            <a:lvl1pPr>
              <a:buBlip>
                <a:blip r:embed="rId15"/>
              </a:buBlip>
            </a:lvl1pPr>
            <a:lvl2pPr>
              <a:buBlip>
                <a:blip r:embed="rId15"/>
              </a:buBlip>
            </a:lvl2pPr>
            <a:lvl3pPr>
              <a:buBlip>
                <a:blip r:embed="rId15"/>
              </a:buBlip>
            </a:lvl3pPr>
            <a:lvl4pPr>
              <a:buBlip>
                <a:blip r:embed="rId15"/>
              </a:buBlip>
            </a:lvl4pPr>
            <a:lvl5pPr>
              <a:buBlip>
                <a:blip r:embed="rId15"/>
              </a:buBlip>
            </a:lvl5pPr>
          </a:lstStyle>
          <a:p>
            <a:r>
              <a:t>正文级别 1</a:t>
            </a:r>
          </a:p>
          <a:p>
            <a:pPr lvl="1"/>
            <a:r>
              <a:t>正文级别 2</a:t>
            </a:r>
          </a:p>
          <a:p>
            <a:pPr lvl="2"/>
            <a:r>
              <a:t>正文级别 3</a:t>
            </a:r>
          </a:p>
          <a:p>
            <a:pPr lvl="3"/>
            <a:r>
              <a:t>正文级别 4</a:t>
            </a:r>
          </a:p>
          <a:p>
            <a:pPr lvl="4"/>
            <a:r>
              <a:t>正文级别 5</a:t>
            </a:r>
          </a:p>
        </p:txBody>
      </p:sp>
      <p:sp>
        <p:nvSpPr>
          <p:cNvPr id="3" name="标题文本"/>
          <p:cNvSpPr txBox="1">
            <a:spLocks noGrp="1"/>
          </p:cNvSpPr>
          <p:nvPr>
            <p:ph type="title"/>
          </p:nvPr>
        </p:nvSpPr>
        <p:spPr>
          <a:xfrm>
            <a:off x="736600" y="177800"/>
            <a:ext cx="10718800" cy="1714500"/>
          </a:xfrm>
          <a:prstGeom prst="rect">
            <a:avLst/>
          </a:prstGeom>
          <a:ln w="12700">
            <a:miter lim="400000"/>
          </a:ln>
        </p:spPr>
        <p:txBody>
          <a:bodyPr lIns="50800" tIns="50800" rIns="50800" bIns="50800" anchor="ctr">
            <a:normAutofit/>
          </a:bodyPr>
          <a:lstStyle/>
          <a:p>
            <a:r>
              <a:t>标题文本</a:t>
            </a:r>
          </a:p>
        </p:txBody>
      </p:sp>
      <p:sp>
        <p:nvSpPr>
          <p:cNvPr id="4" name="幻灯片编号"/>
          <p:cNvSpPr txBox="1">
            <a:spLocks noGrp="1"/>
          </p:cNvSpPr>
          <p:nvPr>
            <p:ph type="sldNum" sz="quarter" idx="2"/>
          </p:nvPr>
        </p:nvSpPr>
        <p:spPr>
          <a:xfrm>
            <a:off x="5955554" y="6405538"/>
            <a:ext cx="286938" cy="333425"/>
          </a:xfrm>
          <a:prstGeom prst="rect">
            <a:avLst/>
          </a:prstGeom>
          <a:ln w="12700">
            <a:miter lim="400000"/>
          </a:ln>
        </p:spPr>
        <p:txBody>
          <a:bodyPr wrap="none" lIns="50800" tIns="50800" rIns="50800" bIns="50800" anchor="ctr">
            <a:spAutoFit/>
          </a:bodyPr>
          <a:lstStyle>
            <a:lvl1pPr>
              <a:defRPr sz="1500"/>
            </a:lvl1pPr>
          </a:lstStyle>
          <a:p>
            <a:fld id="{86CB4B4D-7CA3-9044-876B-883B54F8677D}" type="slidenum">
              <a:rPr/>
              <a:t>‹#›</a:t>
            </a:fld>
            <a:endParaRPr/>
          </a:p>
        </p:txBody>
      </p:sp>
    </p:spTree>
    <p:extLst>
      <p:ext uri="{BB962C8B-B14F-4D97-AF65-F5344CB8AC3E}">
        <p14:creationId xmlns:p14="http://schemas.microsoft.com/office/powerpoint/2010/main" val="62951548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ransition spd="med"/>
  <p:txStyles>
    <p:titleStyle>
      <a:lvl1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1pPr>
      <a:lvl2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2pPr>
      <a:lvl3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3pPr>
      <a:lvl4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4pPr>
      <a:lvl5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5pPr>
      <a:lvl6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6pPr>
      <a:lvl7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7pPr>
      <a:lvl8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8pPr>
      <a:lvl9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9pPr>
    </p:titleStyle>
    <p:bodyStyle>
      <a:lvl1pPr marL="285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1pPr>
      <a:lvl2pPr marL="5715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2pPr>
      <a:lvl3pPr marL="8572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3pPr>
      <a:lvl4pPr marL="11430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4pPr>
      <a:lvl5pPr marL="1428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5pPr>
      <a:lvl6pPr marL="17145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6pPr>
      <a:lvl7pPr marL="20002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7pPr>
      <a:lvl8pPr marL="22860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8pPr>
      <a:lvl9pPr marL="2571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9pPr>
    </p:bodyStyle>
    <p:otherStyle>
      <a:lvl1pPr marL="0" marR="0" indent="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1pPr>
      <a:lvl2pPr marL="0" marR="0" indent="1143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2pPr>
      <a:lvl3pPr marL="0" marR="0" indent="2286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3pPr>
      <a:lvl4pPr marL="0" marR="0" indent="3429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4pPr>
      <a:lvl5pPr marL="0" marR="0" indent="4572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5pPr>
      <a:lvl6pPr marL="0" marR="0" indent="5715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6pPr>
      <a:lvl7pPr marL="0" marR="0" indent="6858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7pPr>
      <a:lvl8pPr marL="0" marR="0" indent="8001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8pPr>
      <a:lvl9pPr marL="0" marR="0" indent="9144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1">
          <a:blip r:embed="rId14"/>
          <a:srcRect/>
          <a:stretch>
            <a:fillRect/>
          </a:stretch>
        </a:blipFill>
        <a:effectLst/>
      </p:bgPr>
    </p:bg>
    <p:spTree>
      <p:nvGrpSpPr>
        <p:cNvPr id="1" name=""/>
        <p:cNvGrpSpPr/>
        <p:nvPr/>
      </p:nvGrpSpPr>
      <p:grpSpPr>
        <a:xfrm>
          <a:off x="0" y="0"/>
          <a:ext cx="0" cy="0"/>
          <a:chOff x="0" y="0"/>
          <a:chExt cx="0" cy="0"/>
        </a:xfrm>
      </p:grpSpPr>
      <p:sp>
        <p:nvSpPr>
          <p:cNvPr id="2" name="正文级别 1…"/>
          <p:cNvSpPr txBox="1">
            <a:spLocks noGrp="1"/>
          </p:cNvSpPr>
          <p:nvPr>
            <p:ph type="body" idx="1"/>
          </p:nvPr>
        </p:nvSpPr>
        <p:spPr>
          <a:xfrm>
            <a:off x="736600" y="882650"/>
            <a:ext cx="10718800" cy="5092700"/>
          </a:xfrm>
          <a:prstGeom prst="rect">
            <a:avLst/>
          </a:prstGeom>
          <a:ln w="12700">
            <a:miter lim="400000"/>
          </a:ln>
        </p:spPr>
        <p:txBody>
          <a:bodyPr lIns="50800" tIns="50800" rIns="50800" bIns="50800" anchor="ctr">
            <a:normAutofit/>
          </a:bodyPr>
          <a:lstStyle>
            <a:lvl1pPr>
              <a:buBlip>
                <a:blip r:embed="rId15"/>
              </a:buBlip>
            </a:lvl1pPr>
            <a:lvl2pPr>
              <a:buBlip>
                <a:blip r:embed="rId15"/>
              </a:buBlip>
            </a:lvl2pPr>
            <a:lvl3pPr>
              <a:buBlip>
                <a:blip r:embed="rId15"/>
              </a:buBlip>
            </a:lvl3pPr>
            <a:lvl4pPr>
              <a:buBlip>
                <a:blip r:embed="rId15"/>
              </a:buBlip>
            </a:lvl4pPr>
            <a:lvl5pPr>
              <a:buBlip>
                <a:blip r:embed="rId15"/>
              </a:buBlip>
            </a:lvl5pPr>
          </a:lstStyle>
          <a:p>
            <a:r>
              <a:t>正文级别 1</a:t>
            </a:r>
          </a:p>
          <a:p>
            <a:pPr lvl="1"/>
            <a:r>
              <a:t>正文级别 2</a:t>
            </a:r>
          </a:p>
          <a:p>
            <a:pPr lvl="2"/>
            <a:r>
              <a:t>正文级别 3</a:t>
            </a:r>
          </a:p>
          <a:p>
            <a:pPr lvl="3"/>
            <a:r>
              <a:t>正文级别 4</a:t>
            </a:r>
          </a:p>
          <a:p>
            <a:pPr lvl="4"/>
            <a:r>
              <a:t>正文级别 5</a:t>
            </a:r>
          </a:p>
        </p:txBody>
      </p:sp>
      <p:sp>
        <p:nvSpPr>
          <p:cNvPr id="3" name="标题文本"/>
          <p:cNvSpPr txBox="1">
            <a:spLocks noGrp="1"/>
          </p:cNvSpPr>
          <p:nvPr>
            <p:ph type="title"/>
          </p:nvPr>
        </p:nvSpPr>
        <p:spPr>
          <a:xfrm>
            <a:off x="736600" y="177800"/>
            <a:ext cx="10718800" cy="1714500"/>
          </a:xfrm>
          <a:prstGeom prst="rect">
            <a:avLst/>
          </a:prstGeom>
          <a:ln w="12700">
            <a:miter lim="400000"/>
          </a:ln>
        </p:spPr>
        <p:txBody>
          <a:bodyPr lIns="50800" tIns="50800" rIns="50800" bIns="50800" anchor="ctr">
            <a:normAutofit/>
          </a:bodyPr>
          <a:lstStyle/>
          <a:p>
            <a:r>
              <a:t>标题文本</a:t>
            </a:r>
          </a:p>
        </p:txBody>
      </p:sp>
      <p:sp>
        <p:nvSpPr>
          <p:cNvPr id="4" name="幻灯片编号"/>
          <p:cNvSpPr txBox="1">
            <a:spLocks noGrp="1"/>
          </p:cNvSpPr>
          <p:nvPr>
            <p:ph type="sldNum" sz="quarter" idx="2"/>
          </p:nvPr>
        </p:nvSpPr>
        <p:spPr>
          <a:xfrm>
            <a:off x="5955554" y="6405538"/>
            <a:ext cx="286938" cy="333425"/>
          </a:xfrm>
          <a:prstGeom prst="rect">
            <a:avLst/>
          </a:prstGeom>
          <a:ln w="12700">
            <a:miter lim="400000"/>
          </a:ln>
        </p:spPr>
        <p:txBody>
          <a:bodyPr wrap="none" lIns="50800" tIns="50800" rIns="50800" bIns="50800" anchor="ctr">
            <a:spAutoFit/>
          </a:bodyPr>
          <a:lstStyle>
            <a:lvl1pPr>
              <a:defRPr sz="1500"/>
            </a:lvl1pPr>
          </a:lstStyle>
          <a:p>
            <a:fld id="{86CB4B4D-7CA3-9044-876B-883B54F8677D}" type="slidenum">
              <a:rPr/>
              <a:t>‹#›</a:t>
            </a:fld>
            <a:endParaRPr/>
          </a:p>
        </p:txBody>
      </p:sp>
    </p:spTree>
    <p:extLst>
      <p:ext uri="{BB962C8B-B14F-4D97-AF65-F5344CB8AC3E}">
        <p14:creationId xmlns:p14="http://schemas.microsoft.com/office/powerpoint/2010/main" val="27514641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transition spd="med"/>
  <p:txStyles>
    <p:titleStyle>
      <a:lvl1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1pPr>
      <a:lvl2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2pPr>
      <a:lvl3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3pPr>
      <a:lvl4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4pPr>
      <a:lvl5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5pPr>
      <a:lvl6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6pPr>
      <a:lvl7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7pPr>
      <a:lvl8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8pPr>
      <a:lvl9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9pPr>
    </p:titleStyle>
    <p:bodyStyle>
      <a:lvl1pPr marL="285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1pPr>
      <a:lvl2pPr marL="5715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2pPr>
      <a:lvl3pPr marL="8572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3pPr>
      <a:lvl4pPr marL="11430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4pPr>
      <a:lvl5pPr marL="1428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5pPr>
      <a:lvl6pPr marL="17145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6pPr>
      <a:lvl7pPr marL="20002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7pPr>
      <a:lvl8pPr marL="22860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8pPr>
      <a:lvl9pPr marL="2571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9pPr>
    </p:bodyStyle>
    <p:otherStyle>
      <a:lvl1pPr marL="0" marR="0" indent="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1pPr>
      <a:lvl2pPr marL="0" marR="0" indent="1143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2pPr>
      <a:lvl3pPr marL="0" marR="0" indent="2286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3pPr>
      <a:lvl4pPr marL="0" marR="0" indent="3429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4pPr>
      <a:lvl5pPr marL="0" marR="0" indent="4572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5pPr>
      <a:lvl6pPr marL="0" marR="0" indent="5715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6pPr>
      <a:lvl7pPr marL="0" marR="0" indent="6858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7pPr>
      <a:lvl8pPr marL="0" marR="0" indent="8001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8pPr>
      <a:lvl9pPr marL="0" marR="0" indent="9144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1">
          <a:blip r:embed="rId14"/>
          <a:srcRect/>
          <a:stretch>
            <a:fillRect/>
          </a:stretch>
        </a:blipFill>
        <a:effectLst/>
      </p:bgPr>
    </p:bg>
    <p:spTree>
      <p:nvGrpSpPr>
        <p:cNvPr id="1" name=""/>
        <p:cNvGrpSpPr/>
        <p:nvPr/>
      </p:nvGrpSpPr>
      <p:grpSpPr>
        <a:xfrm>
          <a:off x="0" y="0"/>
          <a:ext cx="0" cy="0"/>
          <a:chOff x="0" y="0"/>
          <a:chExt cx="0" cy="0"/>
        </a:xfrm>
      </p:grpSpPr>
      <p:sp>
        <p:nvSpPr>
          <p:cNvPr id="2" name="正文级别 1…"/>
          <p:cNvSpPr txBox="1">
            <a:spLocks noGrp="1"/>
          </p:cNvSpPr>
          <p:nvPr>
            <p:ph type="body" idx="1"/>
          </p:nvPr>
        </p:nvSpPr>
        <p:spPr>
          <a:xfrm>
            <a:off x="736600" y="882650"/>
            <a:ext cx="10718800" cy="5092700"/>
          </a:xfrm>
          <a:prstGeom prst="rect">
            <a:avLst/>
          </a:prstGeom>
          <a:ln w="12700">
            <a:miter lim="400000"/>
          </a:ln>
        </p:spPr>
        <p:txBody>
          <a:bodyPr lIns="50800" tIns="50800" rIns="50800" bIns="50800" anchor="ctr">
            <a:normAutofit/>
          </a:bodyPr>
          <a:lstStyle>
            <a:lvl1pPr>
              <a:buBlip>
                <a:blip r:embed="rId15"/>
              </a:buBlip>
            </a:lvl1pPr>
            <a:lvl2pPr>
              <a:buBlip>
                <a:blip r:embed="rId15"/>
              </a:buBlip>
            </a:lvl2pPr>
            <a:lvl3pPr>
              <a:buBlip>
                <a:blip r:embed="rId15"/>
              </a:buBlip>
            </a:lvl3pPr>
            <a:lvl4pPr>
              <a:buBlip>
                <a:blip r:embed="rId15"/>
              </a:buBlip>
            </a:lvl4pPr>
            <a:lvl5pPr>
              <a:buBlip>
                <a:blip r:embed="rId15"/>
              </a:buBlip>
            </a:lvl5pPr>
          </a:lstStyle>
          <a:p>
            <a:r>
              <a:t>正文级别 1</a:t>
            </a:r>
          </a:p>
          <a:p>
            <a:pPr lvl="1"/>
            <a:r>
              <a:t>正文级别 2</a:t>
            </a:r>
          </a:p>
          <a:p>
            <a:pPr lvl="2"/>
            <a:r>
              <a:t>正文级别 3</a:t>
            </a:r>
          </a:p>
          <a:p>
            <a:pPr lvl="3"/>
            <a:r>
              <a:t>正文级别 4</a:t>
            </a:r>
          </a:p>
          <a:p>
            <a:pPr lvl="4"/>
            <a:r>
              <a:t>正文级别 5</a:t>
            </a:r>
          </a:p>
        </p:txBody>
      </p:sp>
      <p:sp>
        <p:nvSpPr>
          <p:cNvPr id="3" name="标题文本"/>
          <p:cNvSpPr txBox="1">
            <a:spLocks noGrp="1"/>
          </p:cNvSpPr>
          <p:nvPr>
            <p:ph type="title"/>
          </p:nvPr>
        </p:nvSpPr>
        <p:spPr>
          <a:xfrm>
            <a:off x="736600" y="177800"/>
            <a:ext cx="10718800" cy="1714500"/>
          </a:xfrm>
          <a:prstGeom prst="rect">
            <a:avLst/>
          </a:prstGeom>
          <a:ln w="12700">
            <a:miter lim="400000"/>
          </a:ln>
        </p:spPr>
        <p:txBody>
          <a:bodyPr lIns="50800" tIns="50800" rIns="50800" bIns="50800" anchor="ctr">
            <a:normAutofit/>
          </a:bodyPr>
          <a:lstStyle/>
          <a:p>
            <a:r>
              <a:t>标题文本</a:t>
            </a:r>
          </a:p>
        </p:txBody>
      </p:sp>
      <p:sp>
        <p:nvSpPr>
          <p:cNvPr id="4" name="幻灯片编号"/>
          <p:cNvSpPr txBox="1">
            <a:spLocks noGrp="1"/>
          </p:cNvSpPr>
          <p:nvPr>
            <p:ph type="sldNum" sz="quarter" idx="2"/>
          </p:nvPr>
        </p:nvSpPr>
        <p:spPr>
          <a:xfrm>
            <a:off x="5955554" y="6405538"/>
            <a:ext cx="286938" cy="333425"/>
          </a:xfrm>
          <a:prstGeom prst="rect">
            <a:avLst/>
          </a:prstGeom>
          <a:ln w="12700">
            <a:miter lim="400000"/>
          </a:ln>
        </p:spPr>
        <p:txBody>
          <a:bodyPr wrap="none" lIns="50800" tIns="50800" rIns="50800" bIns="50800" anchor="ctr">
            <a:spAutoFit/>
          </a:bodyPr>
          <a:lstStyle>
            <a:lvl1pPr>
              <a:defRPr sz="1500"/>
            </a:lvl1pPr>
          </a:lstStyle>
          <a:p>
            <a:fld id="{86CB4B4D-7CA3-9044-876B-883B54F8677D}" type="slidenum">
              <a:rPr/>
              <a:t>‹#›</a:t>
            </a:fld>
            <a:endParaRPr/>
          </a:p>
        </p:txBody>
      </p:sp>
    </p:spTree>
    <p:extLst>
      <p:ext uri="{BB962C8B-B14F-4D97-AF65-F5344CB8AC3E}">
        <p14:creationId xmlns:p14="http://schemas.microsoft.com/office/powerpoint/2010/main" val="334672324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transition spd="med"/>
  <p:txStyles>
    <p:titleStyle>
      <a:lvl1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1pPr>
      <a:lvl2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2pPr>
      <a:lvl3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3pPr>
      <a:lvl4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4pPr>
      <a:lvl5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5pPr>
      <a:lvl6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6pPr>
      <a:lvl7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7pPr>
      <a:lvl8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8pPr>
      <a:lvl9pPr marL="0" marR="0" indent="0" algn="ctr" defTabSz="412750" rtl="0" latinLnBrk="0">
        <a:lnSpc>
          <a:spcPct val="100000"/>
        </a:lnSpc>
        <a:spcBef>
          <a:spcPts val="0"/>
        </a:spcBef>
        <a:spcAft>
          <a:spcPts val="0"/>
        </a:spcAft>
        <a:buClrTx/>
        <a:buSzTx/>
        <a:buFontTx/>
        <a:buNone/>
        <a:defRPr sz="5400" b="0" i="0" u="none" strike="noStrike" cap="none" spc="0" baseline="0">
          <a:solidFill>
            <a:srgbClr val="767367"/>
          </a:solidFill>
          <a:effectLst>
            <a:outerShdw blurRad="63500" dist="12700" dir="5400000" rotWithShape="0">
              <a:srgbClr val="000000">
                <a:alpha val="30000"/>
              </a:srgbClr>
            </a:outerShdw>
          </a:effectLst>
          <a:uFillTx/>
          <a:latin typeface="+mn-lt"/>
          <a:ea typeface="+mn-ea"/>
          <a:cs typeface="+mn-cs"/>
          <a:sym typeface="Baskerville" panose="02020502070401020303"/>
        </a:defRPr>
      </a:lvl9pPr>
    </p:titleStyle>
    <p:bodyStyle>
      <a:lvl1pPr marL="285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1pPr>
      <a:lvl2pPr marL="5715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2pPr>
      <a:lvl3pPr marL="8572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3pPr>
      <a:lvl4pPr marL="11430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4pPr>
      <a:lvl5pPr marL="1428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5pPr>
      <a:lvl6pPr marL="17145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6pPr>
      <a:lvl7pPr marL="20002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7pPr>
      <a:lvl8pPr marL="228600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8pPr>
      <a:lvl9pPr marL="2571750" marR="0" indent="-285750" algn="l" defTabSz="412750" rtl="0" latinLnBrk="0">
        <a:lnSpc>
          <a:spcPct val="100000"/>
        </a:lnSpc>
        <a:spcBef>
          <a:spcPts val="2550"/>
        </a:spcBef>
        <a:spcAft>
          <a:spcPts val="0"/>
        </a:spcAft>
        <a:buClrTx/>
        <a:buSzPct val="50000"/>
        <a:buFontTx/>
        <a:buBlip>
          <a:blip r:embed="rId15"/>
        </a:buBlip>
        <a:defRPr sz="2500" b="0" i="0" u="none" strike="noStrike" cap="none" spc="0" baseline="0">
          <a:solidFill>
            <a:srgbClr val="5E5E5E"/>
          </a:solidFill>
          <a:uFillTx/>
          <a:latin typeface="Helvetica Neue" panose="02000503000000020004"/>
          <a:ea typeface="Helvetica Neue" panose="02000503000000020004"/>
          <a:cs typeface="Helvetica Neue" panose="02000503000000020004"/>
          <a:sym typeface="Helvetica Neue" panose="02000503000000020004"/>
        </a:defRPr>
      </a:lvl9pPr>
    </p:bodyStyle>
    <p:otherStyle>
      <a:lvl1pPr marL="0" marR="0" indent="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1pPr>
      <a:lvl2pPr marL="0" marR="0" indent="1143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2pPr>
      <a:lvl3pPr marL="0" marR="0" indent="2286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3pPr>
      <a:lvl4pPr marL="0" marR="0" indent="3429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4pPr>
      <a:lvl5pPr marL="0" marR="0" indent="4572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5pPr>
      <a:lvl6pPr marL="0" marR="0" indent="5715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6pPr>
      <a:lvl7pPr marL="0" marR="0" indent="6858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7pPr>
      <a:lvl8pPr marL="0" marR="0" indent="8001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8pPr>
      <a:lvl9pPr marL="0" marR="0" indent="914400" algn="ctr" defTabSz="412750" latinLnBrk="0">
        <a:lnSpc>
          <a:spcPct val="100000"/>
        </a:lnSpc>
        <a:spcBef>
          <a:spcPts val="0"/>
        </a:spcBef>
        <a:spcAft>
          <a:spcPts val="0"/>
        </a:spcAft>
        <a:buClrTx/>
        <a:buSzTx/>
        <a:buFontTx/>
        <a:buNone/>
        <a:defRPr sz="15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标题 1025">
            <a:extLst>
              <a:ext uri="{FF2B5EF4-FFF2-40B4-BE49-F238E27FC236}">
                <a16:creationId xmlns:a16="http://schemas.microsoft.com/office/drawing/2014/main" id="{316A82DD-263B-5772-F0C7-FD579B5AE58A}"/>
              </a:ext>
            </a:extLst>
          </p:cNvPr>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1026">
            <a:extLst>
              <a:ext uri="{FF2B5EF4-FFF2-40B4-BE49-F238E27FC236}">
                <a16:creationId xmlns:a16="http://schemas.microsoft.com/office/drawing/2014/main" id="{CC3997E9-20A8-20B2-73A0-E651D1DB7E68}"/>
              </a:ext>
            </a:extLst>
          </p:cNvPr>
          <p:cNvSpPr>
            <a:spLocks noGrp="1" noChangeArrowheads="1"/>
          </p:cNvSpPr>
          <p:nvPr>
            <p:ph type="body" idx="4294967295"/>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a:extLst>
              <a:ext uri="{FF2B5EF4-FFF2-40B4-BE49-F238E27FC236}">
                <a16:creationId xmlns:a16="http://schemas.microsoft.com/office/drawing/2014/main" id="{5CD5FAEA-F6AB-D40E-A43D-1F60D064B243}"/>
              </a:ext>
            </a:extLst>
          </p:cNvPr>
          <p:cNvSpPr>
            <a:spLocks noGrp="1"/>
          </p:cNvSpPr>
          <p:nvPr>
            <p:ph type="dt" sz="half" idx="2"/>
          </p:nvPr>
        </p:nvSpPr>
        <p:spPr>
          <a:xfrm>
            <a:off x="609600" y="6245225"/>
            <a:ext cx="2844800" cy="476250"/>
          </a:xfrm>
          <a:prstGeom prst="rect">
            <a:avLst/>
          </a:prstGeom>
          <a:noFill/>
          <a:ln w="9525">
            <a:noFill/>
            <a:miter/>
          </a:ln>
        </p:spPr>
        <p:txBody>
          <a:bodyPr/>
          <a:lstStyle>
            <a:lvl1pPr>
              <a:buFont typeface="Arial" pitchFamily="34" charset="0"/>
              <a:buNone/>
              <a:defRPr sz="1400" noProof="1">
                <a:latin typeface="Arial" pitchFamily="34" charset="0"/>
              </a:defRPr>
            </a:lvl1pPr>
          </a:lstStyle>
          <a:p>
            <a:pPr>
              <a:defRPr/>
            </a:pPr>
            <a:endParaRPr lang="zh-CN" altLang="zh-CN"/>
          </a:p>
        </p:txBody>
      </p:sp>
      <p:sp>
        <p:nvSpPr>
          <p:cNvPr id="1029" name="页脚占位符 1028">
            <a:extLst>
              <a:ext uri="{FF2B5EF4-FFF2-40B4-BE49-F238E27FC236}">
                <a16:creationId xmlns:a16="http://schemas.microsoft.com/office/drawing/2014/main" id="{801D412D-6367-B126-7091-EB7DC6942586}"/>
              </a:ext>
            </a:extLst>
          </p:cNvPr>
          <p:cNvSpPr>
            <a:spLocks noGrp="1"/>
          </p:cNvSpPr>
          <p:nvPr>
            <p:ph type="ftr" sz="quarter" idx="3"/>
          </p:nvPr>
        </p:nvSpPr>
        <p:spPr>
          <a:xfrm>
            <a:off x="4165600" y="6245225"/>
            <a:ext cx="3860800" cy="476250"/>
          </a:xfrm>
          <a:prstGeom prst="rect">
            <a:avLst/>
          </a:prstGeom>
          <a:noFill/>
          <a:ln w="9525">
            <a:noFill/>
            <a:miter/>
          </a:ln>
        </p:spPr>
        <p:txBody>
          <a:bodyPr/>
          <a:lstStyle>
            <a:lvl1pPr algn="ctr">
              <a:buFont typeface="Arial" pitchFamily="34" charset="0"/>
              <a:buNone/>
              <a:defRPr sz="1400" noProof="1">
                <a:latin typeface="Arial" pitchFamily="34" charset="0"/>
              </a:defRPr>
            </a:lvl1pPr>
          </a:lstStyle>
          <a:p>
            <a:pPr>
              <a:defRPr/>
            </a:pPr>
            <a:endParaRPr lang="zh-CN" altLang="zh-CN"/>
          </a:p>
        </p:txBody>
      </p:sp>
      <p:sp>
        <p:nvSpPr>
          <p:cNvPr id="1030" name="灯片编号占位符 1029">
            <a:extLst>
              <a:ext uri="{FF2B5EF4-FFF2-40B4-BE49-F238E27FC236}">
                <a16:creationId xmlns:a16="http://schemas.microsoft.com/office/drawing/2014/main" id="{16EC0034-2A85-6004-EEA6-DC83038A4510}"/>
              </a:ext>
            </a:extLst>
          </p:cNvPr>
          <p:cNvSpPr>
            <a:spLocks noGrp="1"/>
          </p:cNvSpPr>
          <p:nvPr>
            <p:ph type="sldNum" sz="quarter" idx="4"/>
          </p:nvPr>
        </p:nvSpPr>
        <p:spPr>
          <a:xfrm>
            <a:off x="8737600" y="6245225"/>
            <a:ext cx="2844800" cy="476250"/>
          </a:xfrm>
          <a:prstGeom prst="rect">
            <a:avLst/>
          </a:prstGeom>
          <a:noFill/>
          <a:ln w="9525">
            <a:noFill/>
            <a:miter/>
          </a:ln>
        </p:spPr>
        <p:txBody>
          <a:bodyPr vert="horz" wrap="square" lIns="91440" tIns="45720" rIns="91440" bIns="45720" numCol="1" anchor="t" anchorCtr="0" compatLnSpc="1">
            <a:prstTxWarp prst="textNoShape">
              <a:avLst/>
            </a:prstTxWarp>
          </a:bodyPr>
          <a:lstStyle>
            <a:lvl1pPr algn="r">
              <a:defRPr sz="1400"/>
            </a:lvl1pPr>
          </a:lstStyle>
          <a:p>
            <a:pPr>
              <a:defRPr/>
            </a:pPr>
            <a:fld id="{32E2FB7A-3582-401F-AB68-5779C8662740}" type="slidenum">
              <a:rPr lang="zh-CN" altLang="zh-CN"/>
              <a:pPr>
                <a:defRPr/>
              </a:pPr>
              <a:t>‹#›</a:t>
            </a:fld>
            <a:endParaRPr lang="zh-CN" altLang="zh-CN"/>
          </a:p>
        </p:txBody>
      </p:sp>
    </p:spTree>
    <p:extLst>
      <p:ext uri="{BB962C8B-B14F-4D97-AF65-F5344CB8AC3E}">
        <p14:creationId xmlns:p14="http://schemas.microsoft.com/office/powerpoint/2010/main" val="1819790537"/>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Lst>
      </p:bldP>
    </p:bldLst>
  </p:timing>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 Target="slide44.xml"/><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 Target="slide43.xml"/><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C33F737D-CF3F-F60E-9AE7-3572B1CDEE31}"/>
              </a:ext>
            </a:extLst>
          </p:cNvPr>
          <p:cNvSpPr>
            <a:spLocks noGrp="1" noChangeArrowheads="1"/>
          </p:cNvSpPr>
          <p:nvPr>
            <p:ph type="title"/>
          </p:nvPr>
        </p:nvSpPr>
        <p:spPr/>
        <p:txBody>
          <a:bodyPr/>
          <a:lstStyle/>
          <a:p>
            <a:pPr eaLnBrk="1" hangingPunct="1"/>
            <a:r>
              <a:rPr lang="en-US" altLang="zh-CN"/>
              <a:t>Language features of news (Grammar) </a:t>
            </a:r>
            <a:endParaRPr lang="zh-CN" altLang="en-US"/>
          </a:p>
        </p:txBody>
      </p:sp>
      <p:sp>
        <p:nvSpPr>
          <p:cNvPr id="20483" name="内容占位符 2">
            <a:extLst>
              <a:ext uri="{FF2B5EF4-FFF2-40B4-BE49-F238E27FC236}">
                <a16:creationId xmlns:a16="http://schemas.microsoft.com/office/drawing/2014/main" id="{9CDB59F9-FF1B-A526-B846-6D6CBF5FFAAA}"/>
              </a:ext>
            </a:extLst>
          </p:cNvPr>
          <p:cNvSpPr>
            <a:spLocks noGrp="1" noChangeArrowheads="1"/>
          </p:cNvSpPr>
          <p:nvPr>
            <p:ph idx="1"/>
          </p:nvPr>
        </p:nvSpPr>
        <p:spPr/>
        <p:txBody>
          <a:bodyPr/>
          <a:lstStyle/>
          <a:p>
            <a:pPr eaLnBrk="1" hangingPunct="1"/>
            <a:r>
              <a:rPr lang="en-US" altLang="zh-CN"/>
              <a:t>Tense and Voice</a:t>
            </a:r>
          </a:p>
          <a:p>
            <a:pPr eaLnBrk="1" hangingPunct="1"/>
            <a:r>
              <a:rPr lang="en-US" altLang="zh-CN"/>
              <a:t>Gunston Gets His Gong </a:t>
            </a:r>
          </a:p>
          <a:p>
            <a:pPr eaLnBrk="1" hangingPunct="1"/>
            <a:r>
              <a:rPr lang="en-US" altLang="zh-CN"/>
              <a:t>(=Gunston Got His Gong) Gunston</a:t>
            </a:r>
            <a:r>
              <a:rPr lang="zh-CN" altLang="zh-CN"/>
              <a:t>获得奖章</a:t>
            </a:r>
            <a:endParaRPr lang="en-US" altLang="zh-CN"/>
          </a:p>
          <a:p>
            <a:pPr eaLnBrk="1" hangingPunct="1"/>
            <a:r>
              <a:rPr lang="en-US" altLang="zh-CN"/>
              <a:t>Using present simple tense for things that happened in the past.</a:t>
            </a:r>
          </a:p>
          <a:p>
            <a:pPr eaLnBrk="1" hangingPunct="1"/>
            <a:r>
              <a:rPr lang="zh-CN" altLang="zh-CN"/>
              <a:t>英语新闻标题常用一般现在时，从形式上增强报道的新鲜感、现实感和直接感。</a:t>
            </a:r>
            <a:endParaRPr lang="en-US" altLang="zh-CN"/>
          </a:p>
          <a:p>
            <a:pPr eaLnBrk="1" hangingPunct="1"/>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9F2B1A2A-CC26-AAD0-8F06-FF53E95602D6}"/>
              </a:ext>
            </a:extLst>
          </p:cNvPr>
          <p:cNvSpPr>
            <a:spLocks noGrp="1" noChangeArrowheads="1"/>
          </p:cNvSpPr>
          <p:nvPr>
            <p:ph type="title"/>
          </p:nvPr>
        </p:nvSpPr>
        <p:spPr/>
        <p:txBody>
          <a:bodyPr/>
          <a:lstStyle/>
          <a:p>
            <a:pPr eaLnBrk="1" hangingPunct="1"/>
            <a:r>
              <a:rPr lang="en-US" altLang="zh-CN"/>
              <a:t>Tense</a:t>
            </a:r>
            <a:endParaRPr lang="zh-CN" altLang="en-US"/>
          </a:p>
        </p:txBody>
      </p:sp>
      <p:sp>
        <p:nvSpPr>
          <p:cNvPr id="22531" name="内容占位符 2">
            <a:extLst>
              <a:ext uri="{FF2B5EF4-FFF2-40B4-BE49-F238E27FC236}">
                <a16:creationId xmlns:a16="http://schemas.microsoft.com/office/drawing/2014/main" id="{878F08B9-BADE-0095-AE02-5FF244FBFF3B}"/>
              </a:ext>
            </a:extLst>
          </p:cNvPr>
          <p:cNvSpPr>
            <a:spLocks noGrp="1" noChangeArrowheads="1"/>
          </p:cNvSpPr>
          <p:nvPr>
            <p:ph idx="1"/>
          </p:nvPr>
        </p:nvSpPr>
        <p:spPr/>
        <p:txBody>
          <a:bodyPr/>
          <a:lstStyle/>
          <a:p>
            <a:pPr eaLnBrk="1" hangingPunct="1"/>
            <a:r>
              <a:rPr lang="en-US" altLang="zh-CN"/>
              <a:t>Prisoners To Go On Strike Tonight</a:t>
            </a:r>
          </a:p>
          <a:p>
            <a:pPr eaLnBrk="1" hangingPunct="1"/>
            <a:r>
              <a:rPr lang="en-US" altLang="zh-CN"/>
              <a:t> (=Prisoners Are To Go On Strike Tonight) </a:t>
            </a:r>
            <a:r>
              <a:rPr lang="zh-CN" altLang="zh-CN"/>
              <a:t>囚犯们今晚要罢工</a:t>
            </a:r>
            <a:endParaRPr lang="en-US" altLang="zh-CN"/>
          </a:p>
          <a:p>
            <a:pPr eaLnBrk="1" hangingPunct="1"/>
            <a:r>
              <a:rPr lang="en-US" altLang="zh-CN"/>
              <a:t>Linking verb+infinitive phrase</a:t>
            </a:r>
          </a:p>
          <a:p>
            <a:pPr eaLnBrk="1" hangingPunct="1"/>
            <a:r>
              <a:rPr lang="zh-CN" altLang="zh-CN"/>
              <a:t>“联系动词</a:t>
            </a:r>
            <a:r>
              <a:rPr lang="en-US" altLang="zh-CN"/>
              <a:t>+</a:t>
            </a:r>
            <a:r>
              <a:rPr lang="zh-CN" altLang="zh-CN"/>
              <a:t>动词不定式”结构，其中联系动词通常省略，以节省标题字数</a:t>
            </a:r>
          </a:p>
          <a:p>
            <a:pPr eaLnBrk="1" hangingPunct="1"/>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B7F30A5D-E630-DD35-3B57-40CE64078F15}"/>
              </a:ext>
            </a:extLst>
          </p:cNvPr>
          <p:cNvSpPr>
            <a:spLocks noGrp="1" noChangeArrowheads="1"/>
          </p:cNvSpPr>
          <p:nvPr>
            <p:ph type="title"/>
          </p:nvPr>
        </p:nvSpPr>
        <p:spPr/>
        <p:txBody>
          <a:bodyPr/>
          <a:lstStyle/>
          <a:p>
            <a:r>
              <a:rPr lang="en-US" altLang="zh-CN"/>
              <a:t>Tense</a:t>
            </a:r>
            <a:endParaRPr lang="zh-CN" altLang="en-US"/>
          </a:p>
        </p:txBody>
      </p:sp>
      <p:sp>
        <p:nvSpPr>
          <p:cNvPr id="23555" name="内容占位符 2">
            <a:extLst>
              <a:ext uri="{FF2B5EF4-FFF2-40B4-BE49-F238E27FC236}">
                <a16:creationId xmlns:a16="http://schemas.microsoft.com/office/drawing/2014/main" id="{557F21D6-CE2A-36A7-EE6C-600D4AD2522C}"/>
              </a:ext>
            </a:extLst>
          </p:cNvPr>
          <p:cNvSpPr>
            <a:spLocks noGrp="1" noChangeArrowheads="1"/>
          </p:cNvSpPr>
          <p:nvPr>
            <p:ph idx="1"/>
          </p:nvPr>
        </p:nvSpPr>
        <p:spPr/>
        <p:txBody>
          <a:bodyPr/>
          <a:lstStyle/>
          <a:p>
            <a:r>
              <a:rPr lang="en-US" altLang="zh-CN"/>
              <a:t>US Troops Conducting War Games In Mideast </a:t>
            </a:r>
          </a:p>
          <a:p>
            <a:r>
              <a:rPr lang="en-US" altLang="zh-CN"/>
              <a:t>(=US Troops Are Conducting War Games In Mideast) </a:t>
            </a:r>
            <a:r>
              <a:rPr lang="zh-CN" altLang="zh-CN"/>
              <a:t>美国军队在中东进行演习</a:t>
            </a:r>
            <a:endParaRPr lang="en-US" altLang="zh-CN"/>
          </a:p>
          <a:p>
            <a:r>
              <a:rPr lang="zh-CN" altLang="zh-CN"/>
              <a:t>现在分词直接表示正在进行的动作或事件</a:t>
            </a: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D76F4A84-17DC-7FB2-A677-BE425C6C7E20}"/>
              </a:ext>
            </a:extLst>
          </p:cNvPr>
          <p:cNvSpPr>
            <a:spLocks noGrp="1" noChangeArrowheads="1"/>
          </p:cNvSpPr>
          <p:nvPr>
            <p:ph type="title"/>
          </p:nvPr>
        </p:nvSpPr>
        <p:spPr/>
        <p:txBody>
          <a:bodyPr/>
          <a:lstStyle/>
          <a:p>
            <a:r>
              <a:rPr lang="en-US" altLang="zh-CN"/>
              <a:t>Voice</a:t>
            </a:r>
            <a:endParaRPr lang="zh-CN" altLang="en-US"/>
          </a:p>
        </p:txBody>
      </p:sp>
      <p:sp>
        <p:nvSpPr>
          <p:cNvPr id="24579" name="内容占位符 2">
            <a:extLst>
              <a:ext uri="{FF2B5EF4-FFF2-40B4-BE49-F238E27FC236}">
                <a16:creationId xmlns:a16="http://schemas.microsoft.com/office/drawing/2014/main" id="{DD34A173-E1B2-6441-9B22-B9A73338423A}"/>
              </a:ext>
            </a:extLst>
          </p:cNvPr>
          <p:cNvSpPr>
            <a:spLocks noGrp="1" noChangeArrowheads="1"/>
          </p:cNvSpPr>
          <p:nvPr>
            <p:ph idx="1"/>
          </p:nvPr>
        </p:nvSpPr>
        <p:spPr/>
        <p:txBody>
          <a:bodyPr/>
          <a:lstStyle/>
          <a:p>
            <a:r>
              <a:rPr lang="en-US" altLang="zh-CN"/>
              <a:t>Van Goghs Recovered After Theft </a:t>
            </a:r>
          </a:p>
          <a:p>
            <a:r>
              <a:rPr lang="en-US" altLang="zh-CN"/>
              <a:t>(=Van Goghs Are Recovered After Theft) </a:t>
            </a:r>
            <a:r>
              <a:rPr lang="zh-CN" altLang="zh-CN"/>
              <a:t>梵高的画失而复得</a:t>
            </a:r>
            <a:endParaRPr lang="en-US" altLang="zh-CN"/>
          </a:p>
          <a:p>
            <a:r>
              <a:rPr lang="en-US" altLang="zh-CN"/>
              <a:t>500 Reported Kill In S. Korean Building Collapse </a:t>
            </a:r>
            <a:r>
              <a:rPr lang="zh-CN" altLang="zh-CN"/>
              <a:t>（韩国建筑倒塌造成</a:t>
            </a:r>
            <a:r>
              <a:rPr lang="en-US" altLang="zh-CN"/>
              <a:t>500</a:t>
            </a:r>
            <a:r>
              <a:rPr lang="zh-CN" altLang="zh-CN"/>
              <a:t>人死亡）</a:t>
            </a:r>
            <a:endParaRPr lang="en-US" altLang="zh-CN"/>
          </a:p>
          <a:p>
            <a:r>
              <a:rPr lang="zh-CN" altLang="en-US"/>
              <a:t>使用被动语态时常省略</a:t>
            </a:r>
            <a:r>
              <a:rPr lang="en-US" altLang="zh-CN"/>
              <a:t>be, </a:t>
            </a:r>
            <a:r>
              <a:rPr lang="zh-CN" altLang="en-US"/>
              <a:t>更多使用主动语态</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3" name="内容占位符 2">
            <a:extLst>
              <a:ext uri="{FF2B5EF4-FFF2-40B4-BE49-F238E27FC236}">
                <a16:creationId xmlns:a16="http://schemas.microsoft.com/office/drawing/2014/main" id="{0FEF7904-E4EF-E279-F031-E985E7E144ED}"/>
              </a:ext>
            </a:extLst>
          </p:cNvPr>
          <p:cNvSpPr>
            <a:spLocks noGrp="1" noChangeArrowheads="1"/>
          </p:cNvSpPr>
          <p:nvPr>
            <p:ph idx="1"/>
          </p:nvPr>
        </p:nvSpPr>
        <p:spPr>
          <a:xfrm>
            <a:off x="2017714" y="1101725"/>
            <a:ext cx="8193087" cy="5024438"/>
          </a:xfrm>
        </p:spPr>
        <p:txBody>
          <a:bodyPr/>
          <a:lstStyle/>
          <a:p>
            <a:r>
              <a:rPr lang="en-US" altLang="zh-CN"/>
              <a:t>The group of five Senators, led by Frank Church, Democrat of Idaho, the committee chair-man, is on a six-day visit to China.</a:t>
            </a:r>
          </a:p>
          <a:p>
            <a:r>
              <a:rPr lang="en-US" altLang="zh-CN"/>
              <a:t>Using parenthesis(</a:t>
            </a:r>
            <a:r>
              <a:rPr lang="zh-CN" altLang="en-US"/>
              <a:t>插入语</a:t>
            </a:r>
            <a:r>
              <a:rPr lang="en-US" altLang="zh-CN"/>
              <a:t>)</a:t>
            </a: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AC50DA1-8D4A-52ED-2FD5-194B64BBF2C8}"/>
              </a:ext>
            </a:extLst>
          </p:cNvPr>
          <p:cNvSpPr>
            <a:spLocks noGrp="1" noChangeArrowheads="1"/>
          </p:cNvSpPr>
          <p:nvPr>
            <p:ph type="title"/>
          </p:nvPr>
        </p:nvSpPr>
        <p:spPr/>
        <p:txBody>
          <a:bodyPr/>
          <a:lstStyle/>
          <a:p>
            <a:r>
              <a:rPr lang="en-US" altLang="zh-CN"/>
              <a:t>premodifiers</a:t>
            </a:r>
            <a:endParaRPr lang="zh-CN" altLang="en-US"/>
          </a:p>
        </p:txBody>
      </p:sp>
      <p:sp>
        <p:nvSpPr>
          <p:cNvPr id="26627" name="内容占位符 2">
            <a:extLst>
              <a:ext uri="{FF2B5EF4-FFF2-40B4-BE49-F238E27FC236}">
                <a16:creationId xmlns:a16="http://schemas.microsoft.com/office/drawing/2014/main" id="{AFCFDF65-479D-071B-CFED-BC6EAC7E9F4B}"/>
              </a:ext>
            </a:extLst>
          </p:cNvPr>
          <p:cNvSpPr>
            <a:spLocks noGrp="1" noChangeArrowheads="1"/>
          </p:cNvSpPr>
          <p:nvPr>
            <p:ph idx="1"/>
          </p:nvPr>
        </p:nvSpPr>
        <p:spPr/>
        <p:txBody>
          <a:bodyPr/>
          <a:lstStyle/>
          <a:p>
            <a:r>
              <a:rPr lang="en-US" altLang="zh-CN"/>
              <a:t>Deeply-carpeted conference room, hard-won result, heavily-guarded government complex, highly-sophisticated technology, sparsely-populated area.</a:t>
            </a:r>
          </a:p>
          <a:p>
            <a:r>
              <a:rPr lang="en-US" altLang="zh-CN"/>
              <a:t>Adv + past participle</a:t>
            </a:r>
          </a:p>
          <a:p>
            <a:r>
              <a:rPr lang="en-US" altLang="zh-CN"/>
              <a:t>Disaster-hit area, web-enabled phone, state-owned enterprise</a:t>
            </a:r>
          </a:p>
          <a:p>
            <a:r>
              <a:rPr lang="en-US" altLang="zh-CN"/>
              <a:t>noun+ past participle</a:t>
            </a:r>
          </a:p>
          <a:p>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D6F71775-A5A6-35E3-50BF-5D8AB668EF7B}"/>
              </a:ext>
            </a:extLst>
          </p:cNvPr>
          <p:cNvSpPr>
            <a:spLocks noGrp="1" noChangeArrowheads="1"/>
          </p:cNvSpPr>
          <p:nvPr>
            <p:ph idx="1"/>
          </p:nvPr>
        </p:nvSpPr>
        <p:spPr/>
        <p:txBody>
          <a:bodyPr/>
          <a:lstStyle/>
          <a:p>
            <a:r>
              <a:rPr lang="en-US" altLang="zh-CN"/>
              <a:t>Arms-reduction talks, hunger-strike sitdown, supply-demand imbalance</a:t>
            </a:r>
          </a:p>
          <a:p>
            <a:r>
              <a:rPr lang="en-US" altLang="zh-CN"/>
              <a:t>Noun + noun</a:t>
            </a:r>
          </a:p>
          <a:p>
            <a:r>
              <a:rPr lang="en-US" altLang="zh-CN"/>
              <a:t>Cancer-causing drugs, energy-saving device, oil-producing country, policy-making body</a:t>
            </a:r>
          </a:p>
          <a:p>
            <a:r>
              <a:rPr lang="en-US" altLang="zh-CN"/>
              <a:t>Noun + present participle</a:t>
            </a: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23CEB910-E918-E8FB-60E7-A177D781B9D6}"/>
              </a:ext>
            </a:extLst>
          </p:cNvPr>
          <p:cNvSpPr>
            <a:spLocks noGrp="1" noChangeArrowheads="1"/>
          </p:cNvSpPr>
          <p:nvPr>
            <p:ph type="title"/>
          </p:nvPr>
        </p:nvSpPr>
        <p:spPr/>
        <p:txBody>
          <a:bodyPr/>
          <a:lstStyle/>
          <a:p>
            <a:endParaRPr lang="zh-CN" altLang="en-US"/>
          </a:p>
        </p:txBody>
      </p:sp>
      <p:sp>
        <p:nvSpPr>
          <p:cNvPr id="28675" name="内容占位符 2">
            <a:extLst>
              <a:ext uri="{FF2B5EF4-FFF2-40B4-BE49-F238E27FC236}">
                <a16:creationId xmlns:a16="http://schemas.microsoft.com/office/drawing/2014/main" id="{0610DA4E-24EE-6280-8B65-243EA855439A}"/>
              </a:ext>
            </a:extLst>
          </p:cNvPr>
          <p:cNvSpPr>
            <a:spLocks noGrp="1" noChangeArrowheads="1"/>
          </p:cNvSpPr>
          <p:nvPr>
            <p:ph idx="1"/>
          </p:nvPr>
        </p:nvSpPr>
        <p:spPr/>
        <p:txBody>
          <a:bodyPr/>
          <a:lstStyle/>
          <a:p>
            <a:r>
              <a:rPr lang="en-US" altLang="zh-CN"/>
              <a:t>Eathquake-prone area,  baby-friendly hospital, interest-free loan, </a:t>
            </a:r>
          </a:p>
          <a:p>
            <a:r>
              <a:rPr lang="en-US" altLang="zh-CN"/>
              <a:t>Noun + adj</a:t>
            </a:r>
          </a:p>
          <a:p>
            <a:r>
              <a:rPr lang="en-US" altLang="zh-CN"/>
              <a:t>Wait-and-see policy, touch-and-go tension, off-and-on war</a:t>
            </a:r>
          </a:p>
          <a:p>
            <a:r>
              <a:rPr lang="en-US" altLang="zh-CN"/>
              <a:t>Shorter-than-usual-time summit conference, the Be-kind-to-Animal campaign</a:t>
            </a: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47661068-8826-DDD3-BE49-DE9416CBDD9B}"/>
              </a:ext>
            </a:extLst>
          </p:cNvPr>
          <p:cNvSpPr>
            <a:spLocks noGrp="1" noChangeArrowheads="1"/>
          </p:cNvSpPr>
          <p:nvPr>
            <p:ph type="title"/>
          </p:nvPr>
        </p:nvSpPr>
        <p:spPr/>
        <p:txBody>
          <a:bodyPr/>
          <a:lstStyle/>
          <a:p>
            <a:r>
              <a:rPr lang="en-US" altLang="zh-CN"/>
              <a:t>Exercise</a:t>
            </a:r>
            <a:endParaRPr lang="zh-CN" altLang="en-US"/>
          </a:p>
        </p:txBody>
      </p:sp>
      <p:sp>
        <p:nvSpPr>
          <p:cNvPr id="29699" name="内容占位符 2">
            <a:extLst>
              <a:ext uri="{FF2B5EF4-FFF2-40B4-BE49-F238E27FC236}">
                <a16:creationId xmlns:a16="http://schemas.microsoft.com/office/drawing/2014/main" id="{7E5E942E-437C-D9DE-B77E-B456FA2DAA37}"/>
              </a:ext>
            </a:extLst>
          </p:cNvPr>
          <p:cNvSpPr>
            <a:spLocks noGrp="1" noChangeArrowheads="1"/>
          </p:cNvSpPr>
          <p:nvPr>
            <p:ph idx="1"/>
          </p:nvPr>
        </p:nvSpPr>
        <p:spPr/>
        <p:txBody>
          <a:bodyPr/>
          <a:lstStyle/>
          <a:p>
            <a:r>
              <a:rPr lang="en-US" altLang="zh-CN"/>
              <a:t>Most economists predict that the cap-and-trade program will go forward.</a:t>
            </a:r>
          </a:p>
          <a:p>
            <a:r>
              <a:rPr lang="zh-CN" altLang="en-US"/>
              <a:t>排放限制与额度交易计划</a:t>
            </a:r>
            <a:endParaRPr lang="en-US" altLang="zh-CN"/>
          </a:p>
          <a:p>
            <a:r>
              <a:rPr lang="en-US" altLang="zh-CN"/>
              <a:t>Unlike Europe, the emerging market countries are not speaking with a unified voice.</a:t>
            </a:r>
          </a:p>
          <a:p>
            <a:r>
              <a:rPr lang="zh-CN" altLang="en-US"/>
              <a:t>新兴市场国家</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BEB6103C-173D-6E4F-DF1A-CE1D54B428DF}"/>
              </a:ext>
            </a:extLst>
          </p:cNvPr>
          <p:cNvSpPr>
            <a:spLocks noGrp="1" noChangeArrowheads="1"/>
          </p:cNvSpPr>
          <p:nvPr>
            <p:ph type="title"/>
          </p:nvPr>
        </p:nvSpPr>
        <p:spPr/>
        <p:txBody>
          <a:bodyPr/>
          <a:lstStyle/>
          <a:p>
            <a:r>
              <a:rPr lang="en-US" altLang="zh-CN"/>
              <a:t>Source attribution(</a:t>
            </a:r>
            <a:r>
              <a:rPr lang="zh-CN" altLang="en-US"/>
              <a:t>出处</a:t>
            </a:r>
            <a:r>
              <a:rPr lang="en-US" altLang="zh-CN"/>
              <a:t>)</a:t>
            </a:r>
          </a:p>
        </p:txBody>
      </p:sp>
      <p:sp>
        <p:nvSpPr>
          <p:cNvPr id="30723" name="内容占位符 2">
            <a:extLst>
              <a:ext uri="{FF2B5EF4-FFF2-40B4-BE49-F238E27FC236}">
                <a16:creationId xmlns:a16="http://schemas.microsoft.com/office/drawing/2014/main" id="{4FAC9680-07EB-4AB7-4F75-C1D8D26C7F89}"/>
              </a:ext>
            </a:extLst>
          </p:cNvPr>
          <p:cNvSpPr>
            <a:spLocks noGrp="1" noChangeArrowheads="1"/>
          </p:cNvSpPr>
          <p:nvPr>
            <p:ph idx="1"/>
          </p:nvPr>
        </p:nvSpPr>
        <p:spPr>
          <a:xfrm>
            <a:off x="1981200" y="1600200"/>
            <a:ext cx="8229600" cy="4991100"/>
          </a:xfrm>
        </p:spPr>
        <p:txBody>
          <a:bodyPr/>
          <a:lstStyle/>
          <a:p>
            <a:r>
              <a:rPr lang="en-US" altLang="zh-CN"/>
              <a:t>Analysts, authoritative sources, authorities, circles (</a:t>
            </a:r>
            <a:r>
              <a:rPr lang="zh-CN" altLang="en-US"/>
              <a:t>方面</a:t>
            </a:r>
            <a:r>
              <a:rPr lang="en-US" altLang="zh-CN"/>
              <a:t>), industrial quarters (</a:t>
            </a:r>
            <a:r>
              <a:rPr lang="zh-CN" altLang="en-US"/>
              <a:t>产业界</a:t>
            </a:r>
            <a:r>
              <a:rPr lang="en-US" altLang="zh-CN"/>
              <a:t>), well-informed sources, observers, neutral sources (</a:t>
            </a:r>
            <a:r>
              <a:rPr lang="zh-CN" altLang="en-US"/>
              <a:t>中立人士</a:t>
            </a:r>
            <a:r>
              <a:rPr lang="en-US" altLang="zh-CN"/>
              <a:t>), in-circle sources, spokesman(woman),</a:t>
            </a:r>
            <a:r>
              <a:rPr lang="zh-CN" altLang="en-US"/>
              <a:t> </a:t>
            </a:r>
            <a:r>
              <a:rPr lang="en-US" altLang="zh-CN"/>
              <a:t>witnesses</a:t>
            </a:r>
          </a:p>
          <a:p>
            <a:r>
              <a:rPr lang="en-US" altLang="zh-CN"/>
              <a:t>According to an anonymous source, foreign radios announced…,</a:t>
            </a:r>
          </a:p>
          <a:p>
            <a:r>
              <a:rPr lang="en-US" altLang="zh-CN"/>
              <a:t>It is alleged that, it has been calculated that</a:t>
            </a:r>
          </a:p>
          <a:p>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8AC5071-230B-EE54-F9AB-5741FB968BBA}"/>
              </a:ext>
            </a:extLst>
          </p:cNvPr>
          <p:cNvSpPr>
            <a:spLocks noGrp="1" noChangeArrowheads="1"/>
          </p:cNvSpPr>
          <p:nvPr>
            <p:ph type="title"/>
          </p:nvPr>
        </p:nvSpPr>
        <p:spPr/>
        <p:txBody>
          <a:bodyPr/>
          <a:lstStyle/>
          <a:p>
            <a:pPr eaLnBrk="1" hangingPunct="1"/>
            <a:r>
              <a:rPr lang="en-US" altLang="zh-CN"/>
              <a:t>Language features of news</a:t>
            </a:r>
            <a:endParaRPr lang="en-US" altLang="zh-CN" b="1">
              <a:latin typeface="Verdana" panose="020B0604030504040204" pitchFamily="34" charset="0"/>
            </a:endParaRPr>
          </a:p>
        </p:txBody>
      </p:sp>
      <p:sp>
        <p:nvSpPr>
          <p:cNvPr id="18435" name="Rectangle 3">
            <a:extLst>
              <a:ext uri="{FF2B5EF4-FFF2-40B4-BE49-F238E27FC236}">
                <a16:creationId xmlns:a16="http://schemas.microsoft.com/office/drawing/2014/main" id="{0D911147-11B3-A1F8-CFA9-B8FE12A16E08}"/>
              </a:ext>
            </a:extLst>
          </p:cNvPr>
          <p:cNvSpPr>
            <a:spLocks noGrp="1" noChangeArrowheads="1"/>
          </p:cNvSpPr>
          <p:nvPr>
            <p:ph type="body" idx="1"/>
          </p:nvPr>
        </p:nvSpPr>
        <p:spPr>
          <a:xfrm>
            <a:off x="1882776" y="2636839"/>
            <a:ext cx="3421063" cy="4752975"/>
          </a:xfrm>
        </p:spPr>
        <p:txBody>
          <a:bodyPr/>
          <a:lstStyle/>
          <a:p>
            <a:pPr eaLnBrk="1" hangingPunct="1"/>
            <a:r>
              <a:rPr lang="en-US" altLang="zh-CN" sz="2400">
                <a:latin typeface="华文新魏" panose="02010800040101010101" pitchFamily="2" charset="-122"/>
                <a:ea typeface="华文新魏" panose="02010800040101010101" pitchFamily="2" charset="-122"/>
              </a:rPr>
              <a:t>express paper</a:t>
            </a:r>
          </a:p>
          <a:p>
            <a:pPr eaLnBrk="1" hangingPunct="1"/>
            <a:r>
              <a:rPr lang="en-US" altLang="zh-CN" sz="2400">
                <a:latin typeface="华文新魏" panose="02010800040101010101" pitchFamily="2" charset="-122"/>
                <a:ea typeface="华文新魏" panose="02010800040101010101" pitchFamily="2" charset="-122"/>
              </a:rPr>
              <a:t>bulletin</a:t>
            </a:r>
          </a:p>
          <a:p>
            <a:pPr eaLnBrk="1" hangingPunct="1"/>
            <a:r>
              <a:rPr lang="en-US" altLang="zh-CN" sz="2400">
                <a:latin typeface="华文新魏" panose="02010800040101010101" pitchFamily="2" charset="-122"/>
                <a:ea typeface="华文新魏" panose="02010800040101010101" pitchFamily="2" charset="-122"/>
              </a:rPr>
              <a:t>tabloid</a:t>
            </a:r>
          </a:p>
          <a:p>
            <a:pPr eaLnBrk="1" hangingPunct="1"/>
            <a:r>
              <a:rPr lang="en-US" altLang="zh-CN" sz="2400">
                <a:latin typeface="华文新魏" panose="02010800040101010101" pitchFamily="2" charset="-122"/>
                <a:ea typeface="华文新魏" panose="02010800040101010101" pitchFamily="2" charset="-122"/>
              </a:rPr>
              <a:t>review news</a:t>
            </a:r>
          </a:p>
          <a:p>
            <a:pPr eaLnBrk="1" hangingPunct="1"/>
            <a:r>
              <a:rPr lang="en-US" altLang="zh-CN" sz="2400">
                <a:latin typeface="华文新魏" panose="02010800040101010101" pitchFamily="2" charset="-122"/>
                <a:ea typeface="华文新魏" panose="02010800040101010101" pitchFamily="2" charset="-122"/>
              </a:rPr>
              <a:t>press office</a:t>
            </a:r>
          </a:p>
          <a:p>
            <a:pPr eaLnBrk="1" hangingPunct="1"/>
            <a:r>
              <a:rPr lang="en-US" altLang="zh-CN" sz="2400">
                <a:latin typeface="华文新魏" panose="02010800040101010101" pitchFamily="2" charset="-122"/>
                <a:ea typeface="华文新魏" panose="02010800040101010101" pitchFamily="2" charset="-122"/>
              </a:rPr>
              <a:t>publisher</a:t>
            </a:r>
          </a:p>
          <a:p>
            <a:pPr eaLnBrk="1" hangingPunct="1"/>
            <a:r>
              <a:rPr lang="en-US" altLang="zh-CN" sz="2400">
                <a:latin typeface="华文新魏" panose="02010800040101010101" pitchFamily="2" charset="-122"/>
                <a:ea typeface="华文新魏" panose="02010800040101010101" pitchFamily="2" charset="-122"/>
              </a:rPr>
              <a:t>chief editor</a:t>
            </a:r>
          </a:p>
          <a:p>
            <a:pPr eaLnBrk="1" hangingPunct="1"/>
            <a:r>
              <a:rPr lang="en-US" altLang="zh-CN" sz="2400">
                <a:latin typeface="华文新魏" panose="02010800040101010101" pitchFamily="2" charset="-122"/>
                <a:ea typeface="华文新魏" panose="02010800040101010101" pitchFamily="2" charset="-122"/>
              </a:rPr>
              <a:t>freelancer</a:t>
            </a:r>
          </a:p>
          <a:p>
            <a:pPr eaLnBrk="1" hangingPunct="1"/>
            <a:r>
              <a:rPr lang="en-US" altLang="zh-CN" sz="2400">
                <a:latin typeface="华文新魏" panose="02010800040101010101" pitchFamily="2" charset="-122"/>
                <a:ea typeface="华文新魏" panose="02010800040101010101" pitchFamily="2" charset="-122"/>
              </a:rPr>
              <a:t>correspondent</a:t>
            </a:r>
          </a:p>
        </p:txBody>
      </p:sp>
      <p:sp>
        <p:nvSpPr>
          <p:cNvPr id="18436" name="Text Box 4">
            <a:extLst>
              <a:ext uri="{FF2B5EF4-FFF2-40B4-BE49-F238E27FC236}">
                <a16:creationId xmlns:a16="http://schemas.microsoft.com/office/drawing/2014/main" id="{78EB23EF-DC3D-1CAE-5045-513F17FAAB9E}"/>
              </a:ext>
            </a:extLst>
          </p:cNvPr>
          <p:cNvSpPr txBox="1">
            <a:spLocks noChangeArrowheads="1"/>
          </p:cNvSpPr>
          <p:nvPr/>
        </p:nvSpPr>
        <p:spPr bwMode="auto">
          <a:xfrm>
            <a:off x="1847850" y="1916113"/>
            <a:ext cx="4895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None/>
            </a:pPr>
            <a:r>
              <a:rPr lang="en-US" altLang="zh-CN" sz="2800" b="1">
                <a:solidFill>
                  <a:srgbClr val="800000"/>
                </a:solidFill>
                <a:latin typeface="华文新魏" panose="02010800040101010101" pitchFamily="2" charset="-122"/>
                <a:ea typeface="华文新魏" panose="02010800040101010101" pitchFamily="2" charset="-122"/>
              </a:rPr>
              <a:t>Journalistic terms</a:t>
            </a:r>
          </a:p>
        </p:txBody>
      </p:sp>
      <p:sp>
        <p:nvSpPr>
          <p:cNvPr id="18437" name="Text Box 5">
            <a:extLst>
              <a:ext uri="{FF2B5EF4-FFF2-40B4-BE49-F238E27FC236}">
                <a16:creationId xmlns:a16="http://schemas.microsoft.com/office/drawing/2014/main" id="{C6150F56-0B2B-170B-2C01-DC1A3AAB1CAF}"/>
              </a:ext>
            </a:extLst>
          </p:cNvPr>
          <p:cNvSpPr txBox="1">
            <a:spLocks noChangeArrowheads="1"/>
          </p:cNvSpPr>
          <p:nvPr/>
        </p:nvSpPr>
        <p:spPr bwMode="auto">
          <a:xfrm>
            <a:off x="6024563" y="2349500"/>
            <a:ext cx="403225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lang="en-US" altLang="zh-CN" sz="1800">
                <a:solidFill>
                  <a:srgbClr val="000000"/>
                </a:solidFill>
                <a:latin typeface="Verdana" panose="020B0604030504040204" pitchFamily="34" charset="0"/>
              </a:rPr>
              <a:t> </a:t>
            </a:r>
            <a:r>
              <a:rPr lang="en-US" altLang="zh-CN" sz="2400">
                <a:solidFill>
                  <a:srgbClr val="000000"/>
                </a:solidFill>
                <a:latin typeface="华文新魏" panose="02010800040101010101" pitchFamily="2" charset="-122"/>
                <a:ea typeface="华文新魏" panose="02010800040101010101" pitchFamily="2" charset="-122"/>
              </a:rPr>
              <a:t>contributor</a:t>
            </a:r>
          </a:p>
          <a:p>
            <a:pPr fontAlgn="base">
              <a:spcBef>
                <a:spcPct val="50000"/>
              </a:spcBef>
              <a:spcAft>
                <a:spcPct val="0"/>
              </a:spcAft>
            </a:pPr>
            <a:r>
              <a:rPr lang="en-US" altLang="zh-CN" sz="2400">
                <a:solidFill>
                  <a:srgbClr val="000000"/>
                </a:solidFill>
                <a:latin typeface="华文新魏" panose="02010800040101010101" pitchFamily="2" charset="-122"/>
                <a:ea typeface="华文新魏" panose="02010800040101010101" pitchFamily="2" charset="-122"/>
              </a:rPr>
              <a:t> headline news</a:t>
            </a:r>
          </a:p>
          <a:p>
            <a:pPr fontAlgn="base">
              <a:spcBef>
                <a:spcPct val="50000"/>
              </a:spcBef>
              <a:spcAft>
                <a:spcPct val="0"/>
              </a:spcAft>
            </a:pPr>
            <a:r>
              <a:rPr lang="en-US" altLang="zh-CN" sz="2400">
                <a:solidFill>
                  <a:srgbClr val="000000"/>
                </a:solidFill>
                <a:latin typeface="华文新魏" panose="02010800040101010101" pitchFamily="2" charset="-122"/>
                <a:ea typeface="华文新魏" panose="02010800040101010101" pitchFamily="2" charset="-122"/>
              </a:rPr>
              <a:t> running stories</a:t>
            </a:r>
          </a:p>
          <a:p>
            <a:pPr fontAlgn="base">
              <a:spcBef>
                <a:spcPct val="50000"/>
              </a:spcBef>
              <a:spcAft>
                <a:spcPct val="0"/>
              </a:spcAft>
            </a:pPr>
            <a:r>
              <a:rPr lang="en-US" altLang="zh-CN" sz="2400">
                <a:solidFill>
                  <a:srgbClr val="000000"/>
                </a:solidFill>
                <a:latin typeface="华文新魏" panose="02010800040101010101" pitchFamily="2" charset="-122"/>
                <a:ea typeface="华文新魏" panose="02010800040101010101" pitchFamily="2" charset="-122"/>
              </a:rPr>
              <a:t> criticism</a:t>
            </a:r>
          </a:p>
          <a:p>
            <a:pPr fontAlgn="base">
              <a:spcBef>
                <a:spcPct val="50000"/>
              </a:spcBef>
              <a:spcAft>
                <a:spcPct val="0"/>
              </a:spcAft>
            </a:pPr>
            <a:r>
              <a:rPr lang="en-US" altLang="zh-CN" sz="2400">
                <a:solidFill>
                  <a:srgbClr val="000000"/>
                </a:solidFill>
                <a:latin typeface="华文新魏" panose="02010800040101010101" pitchFamily="2" charset="-122"/>
                <a:ea typeface="华文新魏" panose="02010800040101010101" pitchFamily="2" charset="-122"/>
              </a:rPr>
              <a:t> profile</a:t>
            </a:r>
          </a:p>
          <a:p>
            <a:pPr fontAlgn="base">
              <a:spcBef>
                <a:spcPct val="50000"/>
              </a:spcBef>
              <a:spcAft>
                <a:spcPct val="0"/>
              </a:spcAft>
            </a:pPr>
            <a:r>
              <a:rPr lang="en-US" altLang="zh-CN" sz="2400">
                <a:solidFill>
                  <a:srgbClr val="000000"/>
                </a:solidFill>
                <a:latin typeface="华文新魏" panose="02010800040101010101" pitchFamily="2" charset="-122"/>
                <a:ea typeface="华文新魏" panose="02010800040101010101" pitchFamily="2" charset="-122"/>
              </a:rPr>
              <a:t> comic strip</a:t>
            </a:r>
          </a:p>
          <a:p>
            <a:pPr fontAlgn="base">
              <a:spcBef>
                <a:spcPct val="50000"/>
              </a:spcBef>
              <a:spcAft>
                <a:spcPct val="0"/>
              </a:spcAft>
            </a:pPr>
            <a:r>
              <a:rPr lang="en-US" altLang="zh-CN" sz="2400">
                <a:solidFill>
                  <a:srgbClr val="000000"/>
                </a:solidFill>
                <a:latin typeface="华文新魏" panose="02010800040101010101" pitchFamily="2" charset="-122"/>
                <a:ea typeface="华文新魏" panose="02010800040101010101" pitchFamily="2" charset="-122"/>
              </a:rPr>
              <a:t> supplement</a:t>
            </a:r>
          </a:p>
          <a:p>
            <a:pPr fontAlgn="base">
              <a:spcBef>
                <a:spcPct val="50000"/>
              </a:spcBef>
              <a:spcAft>
                <a:spcPct val="0"/>
              </a:spcAft>
            </a:pPr>
            <a:r>
              <a:rPr lang="en-US" altLang="zh-CN" sz="2400">
                <a:solidFill>
                  <a:srgbClr val="000000"/>
                </a:solidFill>
                <a:latin typeface="华文新魏" panose="02010800040101010101" pitchFamily="2" charset="-122"/>
                <a:ea typeface="华文新魏" panose="02010800040101010101" pitchFamily="2" charset="-122"/>
              </a:rPr>
              <a:t> wanted column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65DC325-9224-F51D-FBC9-F43EA4D1EA0B}"/>
              </a:ext>
            </a:extLst>
          </p:cNvPr>
          <p:cNvSpPr>
            <a:spLocks noGrp="1" noChangeArrowheads="1"/>
          </p:cNvSpPr>
          <p:nvPr>
            <p:ph type="title"/>
          </p:nvPr>
        </p:nvSpPr>
        <p:spPr/>
        <p:txBody>
          <a:bodyPr/>
          <a:lstStyle/>
          <a:p>
            <a:r>
              <a:rPr lang="en-US" altLang="zh-CN" sz="3600"/>
              <a:t>Language of news: compound word</a:t>
            </a:r>
            <a:endParaRPr lang="zh-CN" altLang="zh-CN" sz="3600"/>
          </a:p>
        </p:txBody>
      </p:sp>
      <p:sp>
        <p:nvSpPr>
          <p:cNvPr id="12291" name="Rectangle 3">
            <a:extLst>
              <a:ext uri="{FF2B5EF4-FFF2-40B4-BE49-F238E27FC236}">
                <a16:creationId xmlns:a16="http://schemas.microsoft.com/office/drawing/2014/main" id="{E90408BB-BEB7-6343-D9F3-3F4EFB5B1E6B}"/>
              </a:ext>
            </a:extLst>
          </p:cNvPr>
          <p:cNvSpPr>
            <a:spLocks noGrp="1" noChangeArrowheads="1"/>
          </p:cNvSpPr>
          <p:nvPr>
            <p:ph type="body" idx="1"/>
          </p:nvPr>
        </p:nvSpPr>
        <p:spPr>
          <a:xfrm>
            <a:off x="1919289" y="1125539"/>
            <a:ext cx="8353425" cy="5183187"/>
          </a:xfrm>
        </p:spPr>
        <p:txBody>
          <a:bodyPr/>
          <a:lstStyle/>
          <a:p>
            <a:pPr marL="0" indent="0">
              <a:lnSpc>
                <a:spcPct val="80000"/>
              </a:lnSpc>
              <a:buNone/>
              <a:defRPr/>
            </a:pPr>
            <a:r>
              <a:rPr lang="en-US" altLang="zh-CN" sz="2400" dirty="0"/>
              <a:t>·</a:t>
            </a:r>
          </a:p>
          <a:p>
            <a:pPr>
              <a:lnSpc>
                <a:spcPct val="80000"/>
              </a:lnSpc>
              <a:defRPr/>
            </a:pPr>
            <a:r>
              <a:rPr lang="en-US" altLang="zh-CN" sz="2800" dirty="0"/>
              <a:t>Compound words are made up of two (or more) separate words. You can combine nouns (a </a:t>
            </a:r>
            <a:r>
              <a:rPr lang="en-US" altLang="zh-CN" sz="2800" dirty="0" err="1"/>
              <a:t>flatmate</a:t>
            </a:r>
            <a:r>
              <a:rPr lang="en-US" altLang="zh-CN" sz="2800" dirty="0"/>
              <a:t>), adjectives (lovesick) or verbs (jump-start) to make compound words. </a:t>
            </a:r>
          </a:p>
          <a:p>
            <a:pPr>
              <a:lnSpc>
                <a:spcPct val="80000"/>
              </a:lnSpc>
              <a:defRPr/>
            </a:pPr>
            <a:endParaRPr lang="en-US" altLang="zh-CN" sz="2400" dirty="0"/>
          </a:p>
          <a:p>
            <a:pPr marL="0" indent="0">
              <a:lnSpc>
                <a:spcPct val="80000"/>
              </a:lnSpc>
              <a:buNone/>
              <a:defRPr/>
            </a:pPr>
            <a:endParaRPr lang="en-US" altLang="zh-CN"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FA6470C0-3B1C-B5A8-32EC-830C8975D184}"/>
              </a:ext>
            </a:extLst>
          </p:cNvPr>
          <p:cNvSpPr>
            <a:spLocks noGrp="1" noChangeArrowheads="1"/>
          </p:cNvSpPr>
          <p:nvPr>
            <p:ph type="title"/>
          </p:nvPr>
        </p:nvSpPr>
        <p:spPr/>
        <p:txBody>
          <a:bodyPr/>
          <a:lstStyle/>
          <a:p>
            <a:r>
              <a:rPr lang="en-US" altLang="zh-CN" sz="4000"/>
              <a:t>Three forms of compound words</a:t>
            </a:r>
            <a:endParaRPr lang="zh-CN" altLang="en-US" sz="4000"/>
          </a:p>
        </p:txBody>
      </p:sp>
      <p:sp>
        <p:nvSpPr>
          <p:cNvPr id="22531" name="内容占位符 2">
            <a:extLst>
              <a:ext uri="{FF2B5EF4-FFF2-40B4-BE49-F238E27FC236}">
                <a16:creationId xmlns:a16="http://schemas.microsoft.com/office/drawing/2014/main" id="{383AAAC7-713F-1DBD-64D9-01371BD59E3A}"/>
              </a:ext>
            </a:extLst>
          </p:cNvPr>
          <p:cNvSpPr>
            <a:spLocks noGrp="1" noChangeArrowheads="1"/>
          </p:cNvSpPr>
          <p:nvPr>
            <p:ph idx="1"/>
          </p:nvPr>
        </p:nvSpPr>
        <p:spPr/>
        <p:txBody>
          <a:bodyPr/>
          <a:lstStyle/>
          <a:p>
            <a:pPr>
              <a:lnSpc>
                <a:spcPct val="80000"/>
              </a:lnSpc>
            </a:pPr>
            <a:r>
              <a:rPr lang="en-US" altLang="zh-CN"/>
              <a:t>one word: flatmate , lovesick </a:t>
            </a:r>
          </a:p>
          <a:p>
            <a:pPr>
              <a:lnSpc>
                <a:spcPct val="80000"/>
              </a:lnSpc>
            </a:pPr>
            <a:r>
              <a:rPr lang="en-US" altLang="zh-CN"/>
              <a:t>two words: tourist guide ,travel agent </a:t>
            </a:r>
          </a:p>
          <a:p>
            <a:pPr>
              <a:lnSpc>
                <a:spcPct val="80000"/>
              </a:lnSpc>
            </a:pPr>
            <a:r>
              <a:rPr lang="en-US" altLang="zh-CN"/>
              <a:t>hyphenated: low-paid (adj.), film-goer (noun)</a:t>
            </a:r>
          </a:p>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F5341C3-6A31-8E87-0239-BAFEC5E7D059}"/>
              </a:ext>
            </a:extLst>
          </p:cNvPr>
          <p:cNvSpPr>
            <a:spLocks noGrp="1" noChangeArrowheads="1"/>
          </p:cNvSpPr>
          <p:nvPr>
            <p:ph type="title"/>
          </p:nvPr>
        </p:nvSpPr>
        <p:spPr/>
        <p:txBody>
          <a:bodyPr/>
          <a:lstStyle/>
          <a:p>
            <a:r>
              <a:rPr lang="en-US" altLang="zh-CN"/>
              <a:t>Noun compounds</a:t>
            </a:r>
            <a:endParaRPr lang="zh-CN" altLang="en-US"/>
          </a:p>
        </p:txBody>
      </p:sp>
      <p:sp>
        <p:nvSpPr>
          <p:cNvPr id="23555" name="内容占位符 2">
            <a:extLst>
              <a:ext uri="{FF2B5EF4-FFF2-40B4-BE49-F238E27FC236}">
                <a16:creationId xmlns:a16="http://schemas.microsoft.com/office/drawing/2014/main" id="{7F1B0D74-20FC-D3A3-1C0A-5521781DD35C}"/>
              </a:ext>
            </a:extLst>
          </p:cNvPr>
          <p:cNvSpPr>
            <a:spLocks noGrp="1" noChangeArrowheads="1"/>
          </p:cNvSpPr>
          <p:nvPr>
            <p:ph idx="1"/>
          </p:nvPr>
        </p:nvSpPr>
        <p:spPr/>
        <p:txBody>
          <a:bodyPr/>
          <a:lstStyle/>
          <a:p>
            <a:pPr>
              <a:lnSpc>
                <a:spcPct val="80000"/>
              </a:lnSpc>
            </a:pPr>
            <a:r>
              <a:rPr lang="en-US" altLang="zh-CN"/>
              <a:t>(n.+v.)sunrise, earthquake, daybreak, birth-control, haircut, dress-design</a:t>
            </a:r>
          </a:p>
          <a:p>
            <a:pPr>
              <a:lnSpc>
                <a:spcPct val="80000"/>
              </a:lnSpc>
            </a:pPr>
            <a:r>
              <a:rPr lang="en-US" altLang="zh-CN"/>
              <a:t>(v+n) playboy, watchdog, flashlight, typewriter</a:t>
            </a:r>
          </a:p>
          <a:p>
            <a:pPr>
              <a:lnSpc>
                <a:spcPct val="80000"/>
              </a:lnSpc>
            </a:pPr>
            <a:r>
              <a:rPr lang="en-US" altLang="zh-CN"/>
              <a:t>(v+prep)drawback, handout, ringback, breakup</a:t>
            </a:r>
          </a:p>
          <a:p>
            <a:pPr>
              <a:lnSpc>
                <a:spcPct val="80000"/>
              </a:lnSpc>
            </a:pPr>
            <a:r>
              <a:rPr lang="en-US" altLang="zh-CN"/>
              <a:t>swimming pool, waiting room, walking stick</a:t>
            </a:r>
          </a:p>
          <a:p>
            <a:pPr>
              <a:lnSpc>
                <a:spcPct val="80000"/>
              </a:lnSpc>
            </a:pPr>
            <a:r>
              <a:rPr lang="en-US" altLang="zh-CN"/>
              <a:t>safety belt, chairman, motorcycle </a:t>
            </a:r>
          </a:p>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EF68AC6-CF69-74BA-1B1D-7EC49EB4412F}"/>
              </a:ext>
            </a:extLst>
          </p:cNvPr>
          <p:cNvSpPr>
            <a:spLocks noGrp="1" noChangeArrowheads="1"/>
          </p:cNvSpPr>
          <p:nvPr>
            <p:ph type="title"/>
          </p:nvPr>
        </p:nvSpPr>
        <p:spPr/>
        <p:txBody>
          <a:bodyPr/>
          <a:lstStyle/>
          <a:p>
            <a:r>
              <a:rPr lang="en-US" altLang="zh-CN"/>
              <a:t>Adjective compounds </a:t>
            </a:r>
            <a:br>
              <a:rPr lang="en-US" altLang="zh-CN"/>
            </a:br>
            <a:endParaRPr lang="zh-CN" altLang="zh-CN"/>
          </a:p>
        </p:txBody>
      </p:sp>
      <p:sp>
        <p:nvSpPr>
          <p:cNvPr id="24579" name="Rectangle 3">
            <a:extLst>
              <a:ext uri="{FF2B5EF4-FFF2-40B4-BE49-F238E27FC236}">
                <a16:creationId xmlns:a16="http://schemas.microsoft.com/office/drawing/2014/main" id="{9205A9E1-F07F-B057-8724-CC0049FE3C43}"/>
              </a:ext>
            </a:extLst>
          </p:cNvPr>
          <p:cNvSpPr>
            <a:spLocks noGrp="1" noChangeArrowheads="1"/>
          </p:cNvSpPr>
          <p:nvPr>
            <p:ph type="body" idx="1"/>
          </p:nvPr>
        </p:nvSpPr>
        <p:spPr>
          <a:xfrm>
            <a:off x="2063750" y="1125538"/>
            <a:ext cx="8229600" cy="4525962"/>
          </a:xfrm>
        </p:spPr>
        <p:txBody>
          <a:bodyPr/>
          <a:lstStyle/>
          <a:p>
            <a:pPr>
              <a:lnSpc>
                <a:spcPct val="80000"/>
              </a:lnSpc>
            </a:pPr>
            <a:r>
              <a:rPr lang="en-US" altLang="zh-CN" sz="2800"/>
              <a:t>heart-breaking, self-defeating</a:t>
            </a:r>
          </a:p>
          <a:p>
            <a:pPr>
              <a:lnSpc>
                <a:spcPct val="80000"/>
              </a:lnSpc>
            </a:pPr>
            <a:r>
              <a:rPr lang="en-US" altLang="zh-CN" sz="2800"/>
              <a:t>homemade, handmade, handwritten,</a:t>
            </a:r>
          </a:p>
          <a:p>
            <a:pPr>
              <a:lnSpc>
                <a:spcPct val="80000"/>
              </a:lnSpc>
            </a:pPr>
            <a:r>
              <a:rPr lang="en-US" altLang="zh-CN" sz="2800"/>
              <a:t>hardworking, good-looking, easy-going, well-wishing</a:t>
            </a:r>
          </a:p>
          <a:p>
            <a:pPr>
              <a:lnSpc>
                <a:spcPct val="80000"/>
              </a:lnSpc>
            </a:pPr>
            <a:r>
              <a:rPr lang="en-US" altLang="zh-CN" sz="2800"/>
              <a:t>widespread, well-meant, </a:t>
            </a:r>
          </a:p>
          <a:p>
            <a:pPr>
              <a:lnSpc>
                <a:spcPct val="80000"/>
              </a:lnSpc>
            </a:pPr>
            <a:r>
              <a:rPr lang="en-US" altLang="zh-CN" sz="2800"/>
              <a:t>well-timed, upbeat</a:t>
            </a:r>
          </a:p>
          <a:p>
            <a:pPr>
              <a:lnSpc>
                <a:spcPct val="80000"/>
              </a:lnSpc>
            </a:pPr>
            <a:r>
              <a:rPr lang="en-US" altLang="zh-CN" sz="2800"/>
              <a:t>tax free, self-conscious, grass green ,</a:t>
            </a:r>
          </a:p>
          <a:p>
            <a:pPr>
              <a:lnSpc>
                <a:spcPct val="80000"/>
              </a:lnSpc>
            </a:pPr>
            <a:r>
              <a:rPr lang="en-US" altLang="zh-CN" sz="2800"/>
              <a:t>smoke-free</a:t>
            </a:r>
          </a:p>
          <a:p>
            <a:pPr>
              <a:lnSpc>
                <a:spcPct val="80000"/>
              </a:lnSpc>
            </a:pPr>
            <a:r>
              <a:rPr lang="en-US" altLang="zh-CN" sz="2800"/>
              <a:t>·</a:t>
            </a:r>
          </a:p>
          <a:p>
            <a:pPr>
              <a:lnSpc>
                <a:spcPct val="80000"/>
              </a:lnSpc>
            </a:pPr>
            <a:endParaRPr lang="en-US" altLang="zh-CN"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2A0EA9DF-3C6C-92BF-95E2-14DDEE15A6F4}"/>
              </a:ext>
            </a:extLst>
          </p:cNvPr>
          <p:cNvSpPr>
            <a:spLocks noGrp="1" noChangeArrowheads="1"/>
          </p:cNvSpPr>
          <p:nvPr>
            <p:ph type="title"/>
          </p:nvPr>
        </p:nvSpPr>
        <p:spPr/>
        <p:txBody>
          <a:bodyPr/>
          <a:lstStyle/>
          <a:p>
            <a:r>
              <a:rPr lang="en-US" altLang="zh-CN"/>
              <a:t>Verb compounds</a:t>
            </a:r>
            <a:br>
              <a:rPr lang="en-US" altLang="zh-CN"/>
            </a:br>
            <a:endParaRPr lang="zh-CN" altLang="en-US"/>
          </a:p>
        </p:txBody>
      </p:sp>
      <p:sp>
        <p:nvSpPr>
          <p:cNvPr id="25603" name="内容占位符 2">
            <a:extLst>
              <a:ext uri="{FF2B5EF4-FFF2-40B4-BE49-F238E27FC236}">
                <a16:creationId xmlns:a16="http://schemas.microsoft.com/office/drawing/2014/main" id="{5D8465DA-9BF2-4505-0F90-588B9D5C50A7}"/>
              </a:ext>
            </a:extLst>
          </p:cNvPr>
          <p:cNvSpPr>
            <a:spLocks noGrp="1" noChangeArrowheads="1"/>
          </p:cNvSpPr>
          <p:nvPr>
            <p:ph idx="1"/>
          </p:nvPr>
        </p:nvSpPr>
        <p:spPr/>
        <p:txBody>
          <a:bodyPr/>
          <a:lstStyle/>
          <a:p>
            <a:pPr>
              <a:lnSpc>
                <a:spcPct val="80000"/>
              </a:lnSpc>
            </a:pPr>
            <a:r>
              <a:rPr lang="en-US" altLang="zh-CN"/>
              <a:t>housekeep, lip-read</a:t>
            </a:r>
          </a:p>
          <a:p>
            <a:pPr>
              <a:lnSpc>
                <a:spcPct val="80000"/>
              </a:lnSpc>
            </a:pPr>
            <a:r>
              <a:rPr lang="en-US" altLang="zh-CN"/>
              <a:t>day-dream, window-shop, uplift</a:t>
            </a:r>
          </a:p>
          <a:p>
            <a:pPr>
              <a:lnSpc>
                <a:spcPct val="80000"/>
              </a:lnSpc>
            </a:pPr>
            <a:r>
              <a:rPr lang="en-US" altLang="zh-CN"/>
              <a:t>Spoon-feed</a:t>
            </a:r>
          </a:p>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5BBEADCB-0B22-3909-91BF-CF949745B716}"/>
              </a:ext>
            </a:extLst>
          </p:cNvPr>
          <p:cNvSpPr>
            <a:spLocks noGrp="1" noChangeArrowheads="1"/>
          </p:cNvSpPr>
          <p:nvPr>
            <p:ph type="title"/>
          </p:nvPr>
        </p:nvSpPr>
        <p:spPr/>
        <p:txBody>
          <a:bodyPr/>
          <a:lstStyle/>
          <a:p>
            <a:pPr>
              <a:lnSpc>
                <a:spcPct val="80000"/>
              </a:lnSpc>
            </a:pPr>
            <a:r>
              <a:rPr lang="en-US" altLang="zh-CN"/>
              <a:t>Compounds with hyphens</a:t>
            </a:r>
          </a:p>
        </p:txBody>
      </p:sp>
      <p:sp>
        <p:nvSpPr>
          <p:cNvPr id="26627" name="内容占位符 2">
            <a:extLst>
              <a:ext uri="{FF2B5EF4-FFF2-40B4-BE49-F238E27FC236}">
                <a16:creationId xmlns:a16="http://schemas.microsoft.com/office/drawing/2014/main" id="{C3721C78-82A8-8E54-CC15-E6CD281E9331}"/>
              </a:ext>
            </a:extLst>
          </p:cNvPr>
          <p:cNvSpPr>
            <a:spLocks noGrp="1" noChangeArrowheads="1"/>
          </p:cNvSpPr>
          <p:nvPr>
            <p:ph idx="1"/>
          </p:nvPr>
        </p:nvSpPr>
        <p:spPr/>
        <p:txBody>
          <a:bodyPr/>
          <a:lstStyle/>
          <a:p>
            <a:pPr>
              <a:lnSpc>
                <a:spcPct val="80000"/>
              </a:lnSpc>
            </a:pPr>
            <a:r>
              <a:rPr lang="en-US" altLang="zh-CN" sz="2800"/>
              <a:t>The wait-and-see attitude, the life-and-death issue, the hit-and-run accident, the deficit-ridden state-owned enterprise, ready-to-eat food, after-sales service, a hide-and-seek game, a round-the-clock service, a by-no-means negligible role, a difficult-to-operate machine, a never-to-be-forgotten film, a corruption-free country, a terror-stricken country, a heart-in-the-mouth situation, an all-talk-no-action craven, a search-and-rescue mission, a win-win policy, take a “can-do” attitude</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A494090B-08E8-28A0-9777-B7556731F47E}"/>
              </a:ext>
            </a:extLst>
          </p:cNvPr>
          <p:cNvSpPr>
            <a:spLocks noGrp="1" noChangeArrowheads="1"/>
          </p:cNvSpPr>
          <p:nvPr>
            <p:ph type="title"/>
          </p:nvPr>
        </p:nvSpPr>
        <p:spPr/>
        <p:txBody>
          <a:bodyPr/>
          <a:lstStyle/>
          <a:p>
            <a:pPr eaLnBrk="1" hangingPunct="1"/>
            <a:r>
              <a:rPr lang="en-US" altLang="zh-CN"/>
              <a:t>Features of News Headlines </a:t>
            </a:r>
            <a:endParaRPr lang="zh-CN" altLang="en-US"/>
          </a:p>
        </p:txBody>
      </p:sp>
      <p:sp>
        <p:nvSpPr>
          <p:cNvPr id="17411" name="内容占位符 2">
            <a:extLst>
              <a:ext uri="{FF2B5EF4-FFF2-40B4-BE49-F238E27FC236}">
                <a16:creationId xmlns:a16="http://schemas.microsoft.com/office/drawing/2014/main" id="{F821ACBD-D4B8-F1D7-0663-2174A81BDA2C}"/>
              </a:ext>
            </a:extLst>
          </p:cNvPr>
          <p:cNvSpPr>
            <a:spLocks noGrp="1" noChangeArrowheads="1"/>
          </p:cNvSpPr>
          <p:nvPr>
            <p:ph idx="1"/>
          </p:nvPr>
        </p:nvSpPr>
        <p:spPr>
          <a:xfrm>
            <a:off x="2166938" y="2500313"/>
            <a:ext cx="7829550" cy="1543050"/>
          </a:xfrm>
        </p:spPr>
        <p:txBody>
          <a:bodyPr/>
          <a:lstStyle/>
          <a:p>
            <a:pPr eaLnBrk="1" hangingPunct="1"/>
            <a:r>
              <a:rPr lang="en-US" altLang="zh-CN"/>
              <a:t>Grammatical features</a:t>
            </a:r>
          </a:p>
          <a:p>
            <a:pPr eaLnBrk="1" hangingPunct="1"/>
            <a:r>
              <a:rPr lang="en-US" altLang="zh-CN"/>
              <a:t>Lexical features</a:t>
            </a:r>
          </a:p>
          <a:p>
            <a:pPr eaLnBrk="1" hangingPunct="1">
              <a:buFontTx/>
              <a:buNone/>
            </a:pP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AF0A0B23-9621-B73A-2E34-206B6ED567A2}"/>
              </a:ext>
            </a:extLst>
          </p:cNvPr>
          <p:cNvSpPr>
            <a:spLocks noGrp="1" noChangeArrowheads="1"/>
          </p:cNvSpPr>
          <p:nvPr>
            <p:ph type="title"/>
          </p:nvPr>
        </p:nvSpPr>
        <p:spPr>
          <a:xfrm>
            <a:off x="2024063" y="0"/>
            <a:ext cx="8229600" cy="1143000"/>
          </a:xfrm>
        </p:spPr>
        <p:txBody>
          <a:bodyPr/>
          <a:lstStyle/>
          <a:p>
            <a:pPr eaLnBrk="1" hangingPunct="1"/>
            <a:r>
              <a:rPr lang="en-US" altLang="zh-CN" sz="3200"/>
              <a:t>Grammatical Features</a:t>
            </a:r>
          </a:p>
        </p:txBody>
      </p:sp>
      <p:sp>
        <p:nvSpPr>
          <p:cNvPr id="19459" name="内容占位符 2">
            <a:extLst>
              <a:ext uri="{FF2B5EF4-FFF2-40B4-BE49-F238E27FC236}">
                <a16:creationId xmlns:a16="http://schemas.microsoft.com/office/drawing/2014/main" id="{6E22DCDB-43F9-6463-32DD-A1ACED13D479}"/>
              </a:ext>
            </a:extLst>
          </p:cNvPr>
          <p:cNvSpPr>
            <a:spLocks noGrp="1" noChangeArrowheads="1"/>
          </p:cNvSpPr>
          <p:nvPr>
            <p:ph idx="1"/>
          </p:nvPr>
        </p:nvSpPr>
        <p:spPr>
          <a:xfrm>
            <a:off x="2095500" y="1143001"/>
            <a:ext cx="8072438" cy="5000625"/>
          </a:xfrm>
        </p:spPr>
        <p:txBody>
          <a:bodyPr/>
          <a:lstStyle/>
          <a:p>
            <a:pPr eaLnBrk="1" hangingPunct="1">
              <a:buFontTx/>
              <a:buNone/>
            </a:pPr>
            <a:r>
              <a:rPr lang="en-US" altLang="zh-CN"/>
              <a:t>1.Omission</a:t>
            </a:r>
          </a:p>
          <a:p>
            <a:pPr eaLnBrk="1" hangingPunct="1">
              <a:buFontTx/>
              <a:buNone/>
            </a:pPr>
            <a:r>
              <a:rPr lang="en-US" altLang="zh-CN"/>
              <a:t>1) Omission of  indefinite articles</a:t>
            </a:r>
          </a:p>
          <a:p>
            <a:pPr eaLnBrk="1" hangingPunct="1">
              <a:buFontTx/>
              <a:buNone/>
            </a:pPr>
            <a:r>
              <a:rPr lang="en-US" altLang="zh-CN"/>
              <a:t>   Firm Provides Clinical Training for Rural</a:t>
            </a:r>
            <a:br>
              <a:rPr lang="en-US" altLang="zh-CN"/>
            </a:br>
            <a:r>
              <a:rPr lang="en-US" altLang="zh-CN"/>
              <a:t>Areas</a:t>
            </a:r>
          </a:p>
          <a:p>
            <a:pPr eaLnBrk="1" hangingPunct="1">
              <a:buFontTx/>
              <a:buNone/>
            </a:pPr>
            <a:r>
              <a:rPr lang="en-US" altLang="zh-CN"/>
              <a:t>(= A firm Provides Clinical Training for Rural</a:t>
            </a:r>
            <a:br>
              <a:rPr lang="en-US" altLang="zh-CN"/>
            </a:br>
            <a:r>
              <a:rPr lang="en-US" altLang="zh-CN"/>
              <a:t>Areas </a:t>
            </a:r>
          </a:p>
          <a:p>
            <a:pPr eaLnBrk="1" hangingPunct="1">
              <a:buFontTx/>
              <a:buNone/>
            </a:pPr>
            <a:br>
              <a:rPr lang="en-US" altLang="zh-CN"/>
            </a:br>
            <a:r>
              <a:rPr lang="en-US" altLang="zh-CN"/>
              <a:t>37 Killed in Italian Plane Crash </a:t>
            </a:r>
          </a:p>
          <a:p>
            <a:pPr eaLnBrk="1" hangingPunct="1">
              <a:buFontTx/>
              <a:buNone/>
            </a:pPr>
            <a:r>
              <a:rPr lang="en-US" altLang="zh-CN"/>
              <a:t> (= 37 Killed in an Italian Plane Crash)</a:t>
            </a:r>
            <a:br>
              <a:rPr lang="en-US" altLang="zh-CN"/>
            </a:br>
            <a:r>
              <a:rPr lang="en-US" altLang="zh-CN"/>
              <a:t> </a:t>
            </a:r>
            <a:br>
              <a:rPr lang="en-US" altLang="zh-CN"/>
            </a:b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3531AE7F-7A7E-5B9F-590A-A0EB1AE0D35A}"/>
              </a:ext>
            </a:extLst>
          </p:cNvPr>
          <p:cNvSpPr>
            <a:spLocks noGrp="1" noChangeArrowheads="1"/>
          </p:cNvSpPr>
          <p:nvPr>
            <p:ph type="title"/>
          </p:nvPr>
        </p:nvSpPr>
        <p:spPr>
          <a:xfrm>
            <a:off x="2024063" y="0"/>
            <a:ext cx="8229600" cy="1143000"/>
          </a:xfrm>
        </p:spPr>
        <p:txBody>
          <a:bodyPr/>
          <a:lstStyle/>
          <a:p>
            <a:pPr eaLnBrk="1" hangingPunct="1"/>
            <a:r>
              <a:rPr lang="en-US" altLang="zh-CN" sz="3200"/>
              <a:t>Grammatical Features</a:t>
            </a:r>
          </a:p>
        </p:txBody>
      </p:sp>
      <p:sp>
        <p:nvSpPr>
          <p:cNvPr id="21507" name="内容占位符 2">
            <a:extLst>
              <a:ext uri="{FF2B5EF4-FFF2-40B4-BE49-F238E27FC236}">
                <a16:creationId xmlns:a16="http://schemas.microsoft.com/office/drawing/2014/main" id="{2CB32A52-BC99-BF3E-743B-1C522E505961}"/>
              </a:ext>
            </a:extLst>
          </p:cNvPr>
          <p:cNvSpPr>
            <a:spLocks noGrp="1" noChangeArrowheads="1"/>
          </p:cNvSpPr>
          <p:nvPr>
            <p:ph idx="1"/>
          </p:nvPr>
        </p:nvSpPr>
        <p:spPr>
          <a:xfrm>
            <a:off x="2095500" y="1143001"/>
            <a:ext cx="8358188" cy="5357813"/>
          </a:xfrm>
        </p:spPr>
        <p:txBody>
          <a:bodyPr/>
          <a:lstStyle/>
          <a:p>
            <a:pPr eaLnBrk="1" hangingPunct="1">
              <a:buFontTx/>
              <a:buNone/>
            </a:pPr>
            <a:r>
              <a:rPr lang="en-US" altLang="zh-CN"/>
              <a:t>2) Omission of conjunctions and pronouns</a:t>
            </a:r>
            <a:br>
              <a:rPr lang="en-US" altLang="zh-CN"/>
            </a:br>
            <a:r>
              <a:rPr lang="en-US" altLang="zh-CN"/>
              <a:t> </a:t>
            </a:r>
          </a:p>
          <a:p>
            <a:pPr eaLnBrk="1" hangingPunct="1">
              <a:buFontTx/>
              <a:buNone/>
            </a:pPr>
            <a:r>
              <a:rPr lang="en-US" altLang="zh-CN"/>
              <a:t>   Laurel, Aquino Cut Ties</a:t>
            </a:r>
          </a:p>
          <a:p>
            <a:pPr eaLnBrk="1" hangingPunct="1">
              <a:buFontTx/>
              <a:buNone/>
            </a:pPr>
            <a:r>
              <a:rPr lang="en-US" altLang="zh-CN"/>
              <a:t> (=Laurel and Aquino Cut Ties)</a:t>
            </a:r>
          </a:p>
          <a:p>
            <a:pPr eaLnBrk="1" hangingPunct="1">
              <a:buFontTx/>
              <a:buNone/>
            </a:pPr>
            <a:endParaRPr lang="en-US" altLang="zh-CN"/>
          </a:p>
          <a:p>
            <a:pPr eaLnBrk="1" hangingPunct="1">
              <a:buFontTx/>
              <a:buNone/>
            </a:pPr>
            <a:r>
              <a:rPr lang="en-US" altLang="zh-CN"/>
              <a:t>  Mother, Daughter Share Fulbright Year</a:t>
            </a:r>
          </a:p>
          <a:p>
            <a:pPr eaLnBrk="1" hangingPunct="1">
              <a:buFontTx/>
              <a:buNone/>
            </a:pPr>
            <a:r>
              <a:rPr lang="en-US" altLang="zh-CN"/>
              <a:t> (=A Mother and Her Daughter Share a Fulbright Year)</a:t>
            </a:r>
          </a:p>
          <a:p>
            <a:pPr eaLnBrk="1" hangingPunct="1">
              <a:buFontTx/>
              <a:buNone/>
            </a:pPr>
            <a:br>
              <a:rPr lang="en-US" altLang="zh-CN"/>
            </a:br>
            <a:endParaRPr lang="en-US" altLang="zh-CN"/>
          </a:p>
          <a:p>
            <a:pPr eaLnBrk="1" hangingPunct="1">
              <a:buFontTx/>
              <a:buNone/>
            </a:pPr>
            <a:endParaRPr lang="zh-CN" altLang="en-US"/>
          </a:p>
          <a:p>
            <a:pPr eaLnBrk="1" hangingPunct="1">
              <a:buFontTx/>
              <a:buNone/>
            </a:pPr>
            <a:br>
              <a:rPr lang="en-US" altLang="zh-CN"/>
            </a:b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04730CF3-DA7C-31A1-83CD-107F90B587D5}"/>
              </a:ext>
            </a:extLst>
          </p:cNvPr>
          <p:cNvSpPr>
            <a:spLocks noGrp="1" noChangeArrowheads="1"/>
          </p:cNvSpPr>
          <p:nvPr>
            <p:ph type="title"/>
          </p:nvPr>
        </p:nvSpPr>
        <p:spPr>
          <a:xfrm>
            <a:off x="2024063" y="0"/>
            <a:ext cx="8229600" cy="1143000"/>
          </a:xfrm>
        </p:spPr>
        <p:txBody>
          <a:bodyPr/>
          <a:lstStyle/>
          <a:p>
            <a:pPr eaLnBrk="1" hangingPunct="1"/>
            <a:r>
              <a:rPr lang="en-US" altLang="zh-CN" sz="3200"/>
              <a:t>Grammatical Features</a:t>
            </a:r>
          </a:p>
        </p:txBody>
      </p:sp>
      <p:sp>
        <p:nvSpPr>
          <p:cNvPr id="11267" name="内容占位符 2">
            <a:extLst>
              <a:ext uri="{FF2B5EF4-FFF2-40B4-BE49-F238E27FC236}">
                <a16:creationId xmlns:a16="http://schemas.microsoft.com/office/drawing/2014/main" id="{8D9E7390-07B7-315B-072B-2F13D0005111}"/>
              </a:ext>
            </a:extLst>
          </p:cNvPr>
          <p:cNvSpPr>
            <a:spLocks noGrp="1" noChangeArrowheads="1"/>
          </p:cNvSpPr>
          <p:nvPr>
            <p:ph idx="1"/>
          </p:nvPr>
        </p:nvSpPr>
        <p:spPr>
          <a:xfrm>
            <a:off x="2095501" y="1143000"/>
            <a:ext cx="8215313" cy="2357438"/>
          </a:xfrm>
        </p:spPr>
        <p:txBody>
          <a:bodyPr/>
          <a:lstStyle/>
          <a:p>
            <a:pPr eaLnBrk="1" hangingPunct="1">
              <a:buFontTx/>
              <a:buNone/>
            </a:pPr>
            <a:r>
              <a:rPr lang="en-US" altLang="zh-CN"/>
              <a:t>3) Omission of “be”,  no matter what forms it acts as.</a:t>
            </a:r>
          </a:p>
          <a:p>
            <a:pPr eaLnBrk="1" hangingPunct="1">
              <a:buFontTx/>
              <a:buNone/>
            </a:pPr>
            <a:r>
              <a:rPr lang="en-US" altLang="zh-CN"/>
              <a:t>  Pope to visit Japan in February</a:t>
            </a:r>
          </a:p>
          <a:p>
            <a:pPr eaLnBrk="1" hangingPunct="1">
              <a:buFontTx/>
              <a:buNone/>
            </a:pPr>
            <a:r>
              <a:rPr lang="en-US" altLang="zh-CN"/>
              <a:t> (=Pope is to visit Japan in February</a:t>
            </a:r>
            <a:endParaRPr lang="zh-CN" altLang="en-US"/>
          </a:p>
        </p:txBody>
      </p:sp>
      <p:sp>
        <p:nvSpPr>
          <p:cNvPr id="4" name="矩形 3">
            <a:extLst>
              <a:ext uri="{FF2B5EF4-FFF2-40B4-BE49-F238E27FC236}">
                <a16:creationId xmlns:a16="http://schemas.microsoft.com/office/drawing/2014/main" id="{051D75CB-221D-0FD2-D19E-258D04E25972}"/>
              </a:ext>
            </a:extLst>
          </p:cNvPr>
          <p:cNvSpPr/>
          <p:nvPr/>
        </p:nvSpPr>
        <p:spPr>
          <a:xfrm>
            <a:off x="2452688" y="3571876"/>
            <a:ext cx="8215312" cy="3046413"/>
          </a:xfrm>
          <a:prstGeom prst="rect">
            <a:avLst/>
          </a:prstGeom>
        </p:spPr>
        <p:txBody>
          <a:bodyPr>
            <a:spAutoFit/>
          </a:bodyPr>
          <a:lstStyle/>
          <a:p>
            <a:pPr eaLnBrk="0" fontAlgn="base" hangingPunct="0">
              <a:spcBef>
                <a:spcPct val="0"/>
              </a:spcBef>
              <a:spcAft>
                <a:spcPct val="0"/>
              </a:spcAft>
              <a:defRPr/>
            </a:pPr>
            <a:r>
              <a:rPr lang="en-US" sz="3200" dirty="0">
                <a:solidFill>
                  <a:srgbClr val="000000"/>
                </a:solidFill>
                <a:latin typeface="Arial"/>
                <a:ea typeface="宋体"/>
              </a:rPr>
              <a:t>Three Dead After Inhaling Oven Gas</a:t>
            </a:r>
            <a:endParaRPr lang="zh-CN" altLang="en-US" sz="3200" dirty="0">
              <a:solidFill>
                <a:srgbClr val="000000"/>
              </a:solidFill>
              <a:latin typeface="Arial"/>
              <a:ea typeface="宋体"/>
            </a:endParaRPr>
          </a:p>
          <a:p>
            <a:pPr eaLnBrk="0" fontAlgn="base" hangingPunct="0">
              <a:spcBef>
                <a:spcPct val="0"/>
              </a:spcBef>
              <a:spcAft>
                <a:spcPct val="0"/>
              </a:spcAft>
              <a:defRPr/>
            </a:pPr>
            <a:r>
              <a:rPr lang="en-US" sz="3200" dirty="0">
                <a:solidFill>
                  <a:srgbClr val="000000"/>
                </a:solidFill>
                <a:latin typeface="Arial"/>
                <a:ea typeface="宋体"/>
              </a:rPr>
              <a:t>(=Three Are Dead After Inhaling Oven Gas)</a:t>
            </a:r>
          </a:p>
          <a:p>
            <a:pPr eaLnBrk="0" fontAlgn="base" hangingPunct="0">
              <a:spcBef>
                <a:spcPct val="0"/>
              </a:spcBef>
              <a:spcAft>
                <a:spcPct val="0"/>
              </a:spcAft>
              <a:defRPr/>
            </a:pPr>
            <a:endParaRPr lang="en-US" sz="3200" dirty="0">
              <a:solidFill>
                <a:srgbClr val="000000"/>
              </a:solidFill>
              <a:latin typeface="Arial"/>
              <a:ea typeface="宋体"/>
            </a:endParaRPr>
          </a:p>
          <a:p>
            <a:pPr eaLnBrk="0" fontAlgn="base" hangingPunct="0">
              <a:spcBef>
                <a:spcPct val="0"/>
              </a:spcBef>
              <a:spcAft>
                <a:spcPct val="0"/>
              </a:spcAft>
              <a:defRPr/>
            </a:pPr>
            <a:r>
              <a:rPr lang="en-US" sz="3200" dirty="0">
                <a:solidFill>
                  <a:srgbClr val="000000"/>
                </a:solidFill>
                <a:latin typeface="Arial" charset="0"/>
                <a:ea typeface="宋体" panose="02010600030101010101" pitchFamily="2" charset="-122"/>
              </a:rPr>
              <a:t>Food Prices Soaring</a:t>
            </a:r>
          </a:p>
          <a:p>
            <a:pPr eaLnBrk="0" fontAlgn="base" hangingPunct="0">
              <a:spcBef>
                <a:spcPct val="0"/>
              </a:spcBef>
              <a:spcAft>
                <a:spcPct val="0"/>
              </a:spcAft>
              <a:defRPr/>
            </a:pPr>
            <a:r>
              <a:rPr lang="en-US" sz="3200" dirty="0">
                <a:solidFill>
                  <a:srgbClr val="000000"/>
                </a:solidFill>
                <a:latin typeface="Arial" charset="0"/>
                <a:ea typeface="宋体" panose="02010600030101010101" pitchFamily="2" charset="-122"/>
              </a:rPr>
              <a:t>(=Food Prices Are Soaring)</a:t>
            </a:r>
            <a:br>
              <a:rPr lang="en-US" sz="3200" dirty="0">
                <a:solidFill>
                  <a:srgbClr val="000000"/>
                </a:solidFill>
                <a:latin typeface="Arial" charset="0"/>
                <a:ea typeface="宋体" panose="02010600030101010101" pitchFamily="2" charset="-122"/>
              </a:rPr>
            </a:br>
            <a:endParaRPr lang="zh-CN" altLang="en-US" sz="3200" dirty="0">
              <a:solidFill>
                <a:srgbClr val="000000"/>
              </a:solidFill>
              <a:latin typeface="Arial"/>
              <a:ea typeface="宋体"/>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7" dur="500"/>
                                        <p:tgtEl>
                                          <p:spTgt spid="112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1D3A6798-438D-F79D-8799-06AC9A011CEB}"/>
              </a:ext>
            </a:extLst>
          </p:cNvPr>
          <p:cNvSpPr>
            <a:spLocks noGrp="1" noChangeArrowheads="1"/>
          </p:cNvSpPr>
          <p:nvPr>
            <p:ph type="title"/>
          </p:nvPr>
        </p:nvSpPr>
        <p:spPr>
          <a:xfrm>
            <a:off x="2024063" y="0"/>
            <a:ext cx="8229600" cy="1143000"/>
          </a:xfrm>
        </p:spPr>
        <p:txBody>
          <a:bodyPr/>
          <a:lstStyle/>
          <a:p>
            <a:pPr eaLnBrk="1" hangingPunct="1"/>
            <a:r>
              <a:rPr lang="en-US" altLang="zh-CN" sz="3200"/>
              <a:t>Grammatical Features</a:t>
            </a:r>
          </a:p>
        </p:txBody>
      </p:sp>
      <p:sp>
        <p:nvSpPr>
          <p:cNvPr id="25603" name="内容占位符 2">
            <a:extLst>
              <a:ext uri="{FF2B5EF4-FFF2-40B4-BE49-F238E27FC236}">
                <a16:creationId xmlns:a16="http://schemas.microsoft.com/office/drawing/2014/main" id="{8B2C1C66-E9BB-623D-77C4-09BC6E80BFA0}"/>
              </a:ext>
            </a:extLst>
          </p:cNvPr>
          <p:cNvSpPr>
            <a:spLocks noGrp="1" noChangeArrowheads="1"/>
          </p:cNvSpPr>
          <p:nvPr>
            <p:ph idx="1"/>
          </p:nvPr>
        </p:nvSpPr>
        <p:spPr>
          <a:xfrm>
            <a:off x="2166939" y="1000125"/>
            <a:ext cx="8143875" cy="5500688"/>
          </a:xfrm>
        </p:spPr>
        <p:txBody>
          <a:bodyPr/>
          <a:lstStyle/>
          <a:p>
            <a:pPr eaLnBrk="1" hangingPunct="1">
              <a:buFontTx/>
              <a:buNone/>
            </a:pPr>
            <a:r>
              <a:rPr lang="en-US" altLang="zh-CN"/>
              <a:t>2. Tenses</a:t>
            </a:r>
          </a:p>
          <a:p>
            <a:pPr eaLnBrk="1" hangingPunct="1">
              <a:buFontTx/>
              <a:buNone/>
            </a:pPr>
            <a:r>
              <a:rPr lang="en-US" altLang="zh-CN"/>
              <a:t>1)  wide use of present tenses to describe something happening in the past as well as in the present  </a:t>
            </a:r>
            <a:br>
              <a:rPr lang="en-US" altLang="zh-CN"/>
            </a:br>
            <a:endParaRPr lang="en-US" altLang="zh-CN"/>
          </a:p>
          <a:p>
            <a:pPr eaLnBrk="1" hangingPunct="1">
              <a:buFontTx/>
              <a:buNone/>
            </a:pPr>
            <a:r>
              <a:rPr lang="en-US" altLang="zh-CN"/>
              <a:t>   Earthquake Rocks Turkey</a:t>
            </a:r>
          </a:p>
          <a:p>
            <a:pPr eaLnBrk="1" hangingPunct="1">
              <a:buFontTx/>
              <a:buNone/>
            </a:pPr>
            <a:r>
              <a:rPr lang="en-US" altLang="zh-CN" i="1"/>
              <a:t>  Nightclub fire kills 233 in Brazil </a:t>
            </a:r>
            <a:endParaRPr lang="en-US" altLang="zh-CN"/>
          </a:p>
          <a:p>
            <a:pPr eaLnBrk="1" hangingPunct="1">
              <a:buFontTx/>
              <a:buNone/>
            </a:pPr>
            <a:r>
              <a:rPr lang="en-US" altLang="zh-CN" i="1"/>
              <a:t>  Obama says struggling over whether to intervene in Syria  </a:t>
            </a:r>
            <a:br>
              <a:rPr lang="en-US" altLang="zh-CN"/>
            </a:br>
            <a:r>
              <a:rPr lang="en-US" altLang="zh-CN"/>
              <a:t>Living Costs Going up</a:t>
            </a:r>
            <a:br>
              <a:rPr lang="en-US" altLang="zh-CN"/>
            </a:br>
            <a:br>
              <a:rPr lang="en-US" altLang="zh-CN"/>
            </a:b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5064276C-2877-671F-DB5C-EAA77655B71F}"/>
              </a:ext>
            </a:extLst>
          </p:cNvPr>
          <p:cNvSpPr>
            <a:spLocks noGrp="1" noChangeArrowheads="1"/>
          </p:cNvSpPr>
          <p:nvPr>
            <p:ph type="title"/>
          </p:nvPr>
        </p:nvSpPr>
        <p:spPr>
          <a:xfrm>
            <a:off x="2024063" y="0"/>
            <a:ext cx="8229600" cy="1143000"/>
          </a:xfrm>
        </p:spPr>
        <p:txBody>
          <a:bodyPr/>
          <a:lstStyle/>
          <a:p>
            <a:pPr eaLnBrk="1" hangingPunct="1"/>
            <a:r>
              <a:rPr lang="en-US" altLang="zh-CN" sz="3200"/>
              <a:t>Grammatical Features</a:t>
            </a:r>
          </a:p>
        </p:txBody>
      </p:sp>
      <p:sp>
        <p:nvSpPr>
          <p:cNvPr id="27651" name="内容占位符 2">
            <a:extLst>
              <a:ext uri="{FF2B5EF4-FFF2-40B4-BE49-F238E27FC236}">
                <a16:creationId xmlns:a16="http://schemas.microsoft.com/office/drawing/2014/main" id="{8B4E6E2A-09C7-EED3-0054-5B6320C3BEF9}"/>
              </a:ext>
            </a:extLst>
          </p:cNvPr>
          <p:cNvSpPr>
            <a:spLocks noGrp="1" noChangeArrowheads="1"/>
          </p:cNvSpPr>
          <p:nvPr>
            <p:ph idx="1"/>
          </p:nvPr>
        </p:nvSpPr>
        <p:spPr>
          <a:xfrm>
            <a:off x="2166938" y="1500189"/>
            <a:ext cx="8501062" cy="5000625"/>
          </a:xfrm>
        </p:spPr>
        <p:txBody>
          <a:bodyPr/>
          <a:lstStyle/>
          <a:p>
            <a:pPr eaLnBrk="1" hangingPunct="1">
              <a:buFontTx/>
              <a:buNone/>
            </a:pPr>
            <a:r>
              <a:rPr lang="en-US" altLang="zh-CN"/>
              <a:t>2) Future tense</a:t>
            </a:r>
          </a:p>
          <a:p>
            <a:pPr eaLnBrk="1" hangingPunct="1">
              <a:buFontTx/>
              <a:buNone/>
            </a:pPr>
            <a:r>
              <a:rPr lang="en-US" altLang="zh-CN"/>
              <a:t>   Linking verb + infinitive phrase</a:t>
            </a:r>
          </a:p>
          <a:p>
            <a:pPr eaLnBrk="1" hangingPunct="1">
              <a:buFontTx/>
              <a:buNone/>
            </a:pPr>
            <a:endParaRPr lang="en-US" altLang="zh-CN"/>
          </a:p>
          <a:p>
            <a:pPr eaLnBrk="1" hangingPunct="1">
              <a:buFontTx/>
              <a:buNone/>
            </a:pPr>
            <a:r>
              <a:rPr lang="en-US" altLang="zh-CN"/>
              <a:t>  Largest Chinese Trade Delegation to Visit US in Nov.</a:t>
            </a:r>
            <a:endParaRPr lang="zh-CN" altLang="en-US"/>
          </a:p>
          <a:p>
            <a:pPr>
              <a:buFontTx/>
              <a:buNone/>
            </a:pPr>
            <a:r>
              <a:rPr lang="en-US" altLang="zh-CN"/>
              <a:t> (=The Largest Chinese Trade Delegation Is to Visit US in Nov.)</a:t>
            </a:r>
            <a:endParaRPr lang="zh-CN" altLang="en-US"/>
          </a:p>
          <a:p>
            <a:pPr eaLnBrk="1" hangingPunct="1">
              <a:buFontTx/>
              <a:buNone/>
            </a:pPr>
            <a:br>
              <a:rPr lang="en-US" altLang="zh-CN"/>
            </a:br>
            <a:r>
              <a:rPr lang="en-US" altLang="zh-CN"/>
              <a:t> </a:t>
            </a:r>
            <a:br>
              <a:rPr lang="en-US" altLang="zh-CN"/>
            </a:b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7E8AE641-4AAE-9FE9-9C1D-9E18FE2C75F3}"/>
              </a:ext>
            </a:extLst>
          </p:cNvPr>
          <p:cNvSpPr>
            <a:spLocks noGrp="1" noChangeArrowheads="1"/>
          </p:cNvSpPr>
          <p:nvPr>
            <p:ph type="title"/>
          </p:nvPr>
        </p:nvSpPr>
        <p:spPr>
          <a:xfrm>
            <a:off x="2024063" y="0"/>
            <a:ext cx="8229600" cy="1143000"/>
          </a:xfrm>
        </p:spPr>
        <p:txBody>
          <a:bodyPr/>
          <a:lstStyle/>
          <a:p>
            <a:pPr eaLnBrk="1" hangingPunct="1"/>
            <a:r>
              <a:rPr lang="en-US" altLang="zh-CN" sz="3200"/>
              <a:t>Grammatical Features</a:t>
            </a:r>
          </a:p>
        </p:txBody>
      </p:sp>
      <p:sp>
        <p:nvSpPr>
          <p:cNvPr id="29699" name="内容占位符 2">
            <a:extLst>
              <a:ext uri="{FF2B5EF4-FFF2-40B4-BE49-F238E27FC236}">
                <a16:creationId xmlns:a16="http://schemas.microsoft.com/office/drawing/2014/main" id="{CFD04C44-8FD5-F2C1-F121-3F455A745118}"/>
              </a:ext>
            </a:extLst>
          </p:cNvPr>
          <p:cNvSpPr>
            <a:spLocks noGrp="1" noChangeArrowheads="1"/>
          </p:cNvSpPr>
          <p:nvPr>
            <p:ph idx="1"/>
          </p:nvPr>
        </p:nvSpPr>
        <p:spPr>
          <a:xfrm>
            <a:off x="2166938" y="857250"/>
            <a:ext cx="8501062" cy="5786438"/>
          </a:xfrm>
        </p:spPr>
        <p:txBody>
          <a:bodyPr/>
          <a:lstStyle/>
          <a:p>
            <a:pPr eaLnBrk="1" hangingPunct="1">
              <a:buFontTx/>
              <a:buNone/>
            </a:pPr>
            <a:r>
              <a:rPr lang="en-US" altLang="zh-CN"/>
              <a:t> 3. Voice</a:t>
            </a:r>
          </a:p>
          <a:p>
            <a:pPr eaLnBrk="1" hangingPunct="1">
              <a:buFontTx/>
              <a:buNone/>
            </a:pPr>
            <a:endParaRPr lang="en-US" altLang="zh-CN"/>
          </a:p>
          <a:p>
            <a:pPr eaLnBrk="1" hangingPunct="1">
              <a:buFontTx/>
              <a:buNone/>
            </a:pPr>
            <a:r>
              <a:rPr lang="en-US" altLang="zh-CN"/>
              <a:t> 1)  Passive voice used when the receiver of the event or action is more important than the executor</a:t>
            </a:r>
            <a:endParaRPr lang="zh-CN" altLang="en-US"/>
          </a:p>
          <a:p>
            <a:pPr eaLnBrk="1" hangingPunct="1">
              <a:buFontTx/>
              <a:buNone/>
            </a:pPr>
            <a:endParaRPr lang="en-US" altLang="zh-CN"/>
          </a:p>
          <a:p>
            <a:pPr eaLnBrk="1" hangingPunct="1">
              <a:buFontTx/>
              <a:buNone/>
            </a:pPr>
            <a:r>
              <a:rPr lang="en-US" altLang="zh-CN"/>
              <a:t>  Journalist Fired in Spy Debate </a:t>
            </a:r>
          </a:p>
          <a:p>
            <a:pPr eaLnBrk="1" hangingPunct="1">
              <a:buFontTx/>
              <a:buNone/>
            </a:pPr>
            <a:r>
              <a:rPr lang="en-US" altLang="zh-CN"/>
              <a:t>  (=A Journalist Is Fired in a Spy Debate)</a:t>
            </a:r>
          </a:p>
          <a:p>
            <a:pPr eaLnBrk="1" hangingPunct="1">
              <a:buFontTx/>
              <a:buNone/>
            </a:pPr>
            <a:endParaRPr lang="en-US" altLang="zh-CN"/>
          </a:p>
          <a:p>
            <a:pPr eaLnBrk="1" hangingPunct="1">
              <a:buFontTx/>
              <a:buNone/>
            </a:pPr>
            <a:r>
              <a:rPr lang="en-US" altLang="zh-CN" i="1"/>
              <a:t> Manipulation found in Singapore’s FX market</a:t>
            </a:r>
            <a:endParaRPr lang="zh-CN" altLang="en-US"/>
          </a:p>
          <a:p>
            <a:pPr eaLnBrk="1" hangingPunct="1">
              <a:buFontTx/>
              <a:buNone/>
            </a:pPr>
            <a:br>
              <a:rPr lang="en-US" altLang="zh-CN"/>
            </a:br>
            <a:br>
              <a:rPr lang="en-US" altLang="zh-CN"/>
            </a:br>
            <a:r>
              <a:rPr lang="en-US" altLang="zh-CN"/>
              <a:t> </a:t>
            </a:r>
            <a:br>
              <a:rPr lang="en-US" altLang="zh-CN"/>
            </a:b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A1E78FEB-F384-1790-D63F-65844A0BDC67}"/>
              </a:ext>
            </a:extLst>
          </p:cNvPr>
          <p:cNvSpPr>
            <a:spLocks noGrp="1" noChangeArrowheads="1"/>
          </p:cNvSpPr>
          <p:nvPr>
            <p:ph type="title"/>
          </p:nvPr>
        </p:nvSpPr>
        <p:spPr>
          <a:xfrm>
            <a:off x="2024063" y="0"/>
            <a:ext cx="8229600" cy="1143000"/>
          </a:xfrm>
        </p:spPr>
        <p:txBody>
          <a:bodyPr/>
          <a:lstStyle/>
          <a:p>
            <a:pPr eaLnBrk="1" hangingPunct="1"/>
            <a:r>
              <a:rPr lang="en-US" altLang="zh-CN" sz="3200"/>
              <a:t>Grammatical Features</a:t>
            </a:r>
          </a:p>
        </p:txBody>
      </p:sp>
      <p:sp>
        <p:nvSpPr>
          <p:cNvPr id="31747" name="内容占位符 2">
            <a:extLst>
              <a:ext uri="{FF2B5EF4-FFF2-40B4-BE49-F238E27FC236}">
                <a16:creationId xmlns:a16="http://schemas.microsoft.com/office/drawing/2014/main" id="{4EFBE4F8-83BE-99E7-752D-B0A04BD31019}"/>
              </a:ext>
            </a:extLst>
          </p:cNvPr>
          <p:cNvSpPr>
            <a:spLocks noGrp="1" noChangeArrowheads="1"/>
          </p:cNvSpPr>
          <p:nvPr>
            <p:ph idx="1"/>
          </p:nvPr>
        </p:nvSpPr>
        <p:spPr>
          <a:xfrm>
            <a:off x="1881188" y="1214439"/>
            <a:ext cx="8786812" cy="4071937"/>
          </a:xfrm>
        </p:spPr>
        <p:txBody>
          <a:bodyPr/>
          <a:lstStyle/>
          <a:p>
            <a:pPr eaLnBrk="1" hangingPunct="1">
              <a:buFontTx/>
              <a:buNone/>
            </a:pPr>
            <a:r>
              <a:rPr lang="en-US" altLang="zh-CN"/>
              <a:t>2) Active voice more widely used to make headlines  more colorful and appealing.</a:t>
            </a:r>
          </a:p>
          <a:p>
            <a:pPr eaLnBrk="1" hangingPunct="1">
              <a:buFontTx/>
              <a:buNone/>
            </a:pPr>
            <a:endParaRPr lang="en-US" altLang="zh-CN"/>
          </a:p>
          <a:p>
            <a:pPr eaLnBrk="1" hangingPunct="1">
              <a:buFontTx/>
              <a:buNone/>
            </a:pPr>
            <a:r>
              <a:rPr lang="en-US" altLang="zh-CN" i="1"/>
              <a:t>  Fed waits for job market to perk up </a:t>
            </a:r>
          </a:p>
          <a:p>
            <a:pPr eaLnBrk="1" hangingPunct="1">
              <a:buFontTx/>
              <a:buNone/>
            </a:pPr>
            <a:endParaRPr lang="en-US" altLang="zh-CN" i="1"/>
          </a:p>
          <a:p>
            <a:pPr eaLnBrk="1" hangingPunct="1">
              <a:buFontTx/>
              <a:buNone/>
            </a:pPr>
            <a:r>
              <a:rPr lang="en-US" altLang="zh-CN" i="1"/>
              <a:t> Sanofi expects FDA decision on Lemtrada in H2 2013</a:t>
            </a:r>
            <a:r>
              <a:rPr lang="en-US" altLang="zh-CN"/>
              <a:t>  </a:t>
            </a:r>
            <a:br>
              <a:rPr lang="en-US" altLang="zh-CN"/>
            </a:br>
            <a:r>
              <a:rPr lang="en-US" altLang="zh-CN"/>
              <a:t> </a:t>
            </a:r>
            <a:br>
              <a:rPr lang="en-US" altLang="zh-CN"/>
            </a:b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5549F94C-74A2-F724-D463-9A58B9350819}"/>
              </a:ext>
            </a:extLst>
          </p:cNvPr>
          <p:cNvSpPr>
            <a:spLocks noGrp="1" noChangeArrowheads="1"/>
          </p:cNvSpPr>
          <p:nvPr>
            <p:ph type="title"/>
          </p:nvPr>
        </p:nvSpPr>
        <p:spPr>
          <a:xfrm>
            <a:off x="2024063" y="0"/>
            <a:ext cx="8229600" cy="1143000"/>
          </a:xfrm>
        </p:spPr>
        <p:txBody>
          <a:bodyPr/>
          <a:lstStyle/>
          <a:p>
            <a:pPr eaLnBrk="1" hangingPunct="1"/>
            <a:r>
              <a:rPr lang="en-US" altLang="zh-CN" sz="3200"/>
              <a:t>Lexical Features</a:t>
            </a:r>
          </a:p>
        </p:txBody>
      </p:sp>
      <p:sp>
        <p:nvSpPr>
          <p:cNvPr id="33795" name="内容占位符 2">
            <a:extLst>
              <a:ext uri="{FF2B5EF4-FFF2-40B4-BE49-F238E27FC236}">
                <a16:creationId xmlns:a16="http://schemas.microsoft.com/office/drawing/2014/main" id="{229F5EDE-0201-0C4D-6D81-3C7E49CC0A59}"/>
              </a:ext>
            </a:extLst>
          </p:cNvPr>
          <p:cNvSpPr>
            <a:spLocks noGrp="1" noChangeArrowheads="1"/>
          </p:cNvSpPr>
          <p:nvPr>
            <p:ph idx="1"/>
          </p:nvPr>
        </p:nvSpPr>
        <p:spPr>
          <a:xfrm>
            <a:off x="2095500" y="1214439"/>
            <a:ext cx="8358188" cy="5000625"/>
          </a:xfrm>
        </p:spPr>
        <p:txBody>
          <a:bodyPr/>
          <a:lstStyle/>
          <a:p>
            <a:pPr eaLnBrk="1" hangingPunct="1">
              <a:buFontTx/>
              <a:buNone/>
            </a:pPr>
            <a:r>
              <a:rPr lang="en-US" altLang="zh-CN"/>
              <a:t>1.Preference for short words to save space and avoid being wordy</a:t>
            </a:r>
          </a:p>
          <a:p>
            <a:pPr eaLnBrk="1" hangingPunct="1">
              <a:buFontTx/>
              <a:buNone/>
            </a:pPr>
            <a:endParaRPr lang="en-US" altLang="zh-CN"/>
          </a:p>
          <a:p>
            <a:pPr eaLnBrk="1" hangingPunct="1">
              <a:buFontTx/>
              <a:buNone/>
            </a:pPr>
            <a:r>
              <a:rPr lang="en-US" altLang="zh-CN"/>
              <a:t>  Allowance to Be </a:t>
            </a:r>
            <a:r>
              <a:rPr lang="en-US" altLang="zh-CN" b="1"/>
              <a:t>Cut</a:t>
            </a:r>
            <a:r>
              <a:rPr lang="en-US" altLang="zh-CN"/>
              <a:t> in 200,000 Families</a:t>
            </a:r>
          </a:p>
          <a:p>
            <a:pPr eaLnBrk="1" hangingPunct="1">
              <a:buFontTx/>
              <a:buNone/>
            </a:pPr>
            <a:endParaRPr lang="en-US" altLang="zh-CN"/>
          </a:p>
          <a:p>
            <a:pPr eaLnBrk="1" hangingPunct="1">
              <a:buFontTx/>
              <a:buNone/>
            </a:pPr>
            <a:r>
              <a:rPr lang="en-US" altLang="zh-CN"/>
              <a:t>  Reshuffle </a:t>
            </a:r>
            <a:r>
              <a:rPr lang="en-US" altLang="zh-CN" b="1"/>
              <a:t>Axe</a:t>
            </a:r>
            <a:r>
              <a:rPr lang="en-US" altLang="zh-CN"/>
              <a:t>s France‘s’ Cabinet</a:t>
            </a:r>
          </a:p>
          <a:p>
            <a:pPr eaLnBrk="1" hangingPunct="1">
              <a:buFontTx/>
              <a:buNone/>
            </a:pPr>
            <a:endParaRPr lang="en-US" altLang="zh-CN"/>
          </a:p>
          <a:p>
            <a:pPr eaLnBrk="1" hangingPunct="1">
              <a:buFontTx/>
              <a:buNone/>
            </a:pPr>
            <a:r>
              <a:rPr lang="en-US" altLang="zh-CN"/>
              <a:t>  Ethiopia </a:t>
            </a:r>
            <a:r>
              <a:rPr lang="en-US" altLang="zh-CN" b="1"/>
              <a:t>Jail</a:t>
            </a:r>
            <a:r>
              <a:rPr lang="en-US" altLang="zh-CN"/>
              <a:t>s Jews Escaping to Israel</a:t>
            </a:r>
            <a:br>
              <a:rPr lang="en-US" altLang="zh-CN"/>
            </a:br>
            <a:br>
              <a:rPr lang="en-US" altLang="zh-CN"/>
            </a:br>
            <a:endParaRPr lang="en-US" altLang="zh-CN"/>
          </a:p>
          <a:p>
            <a:pPr eaLnBrk="1" hangingPunct="1">
              <a:buFontTx/>
              <a:buNone/>
            </a:pPr>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72B6713F-44EC-50D7-EA8F-B207574035DD}"/>
              </a:ext>
            </a:extLst>
          </p:cNvPr>
          <p:cNvSpPr>
            <a:spLocks noGrp="1" noChangeArrowheads="1"/>
          </p:cNvSpPr>
          <p:nvPr>
            <p:ph type="title"/>
          </p:nvPr>
        </p:nvSpPr>
        <p:spPr>
          <a:xfrm>
            <a:off x="2024063" y="0"/>
            <a:ext cx="8229600" cy="1143000"/>
          </a:xfrm>
        </p:spPr>
        <p:txBody>
          <a:bodyPr/>
          <a:lstStyle/>
          <a:p>
            <a:pPr eaLnBrk="1" hangingPunct="1"/>
            <a:r>
              <a:rPr lang="en-US" altLang="zh-CN" sz="3200"/>
              <a:t>Lexical Features</a:t>
            </a:r>
          </a:p>
        </p:txBody>
      </p:sp>
      <p:sp>
        <p:nvSpPr>
          <p:cNvPr id="35843" name="内容占位符 2">
            <a:extLst>
              <a:ext uri="{FF2B5EF4-FFF2-40B4-BE49-F238E27FC236}">
                <a16:creationId xmlns:a16="http://schemas.microsoft.com/office/drawing/2014/main" id="{41602F4B-2D9A-2481-CCC1-1F84A42AB12A}"/>
              </a:ext>
            </a:extLst>
          </p:cNvPr>
          <p:cNvSpPr>
            <a:spLocks noGrp="1" noChangeArrowheads="1"/>
          </p:cNvSpPr>
          <p:nvPr>
            <p:ph idx="1"/>
          </p:nvPr>
        </p:nvSpPr>
        <p:spPr>
          <a:xfrm>
            <a:off x="2166938" y="1071564"/>
            <a:ext cx="8501062" cy="5286375"/>
          </a:xfrm>
        </p:spPr>
        <p:txBody>
          <a:bodyPr/>
          <a:lstStyle/>
          <a:p>
            <a:pPr eaLnBrk="1" hangingPunct="1">
              <a:buFontTx/>
              <a:buNone/>
            </a:pPr>
            <a:r>
              <a:rPr lang="en-US" altLang="zh-CN"/>
              <a:t>2.Wide use of shortenings </a:t>
            </a:r>
          </a:p>
          <a:p>
            <a:pPr eaLnBrk="1" hangingPunct="1">
              <a:buFontTx/>
              <a:buNone/>
            </a:pPr>
            <a:r>
              <a:rPr lang="en-US" altLang="zh-CN"/>
              <a:t>   (acronyms, abbreviations, clippings)</a:t>
            </a:r>
          </a:p>
          <a:p>
            <a:pPr eaLnBrk="1" hangingPunct="1">
              <a:buFontTx/>
              <a:buNone/>
            </a:pPr>
            <a:r>
              <a:rPr lang="en-US" altLang="zh-CN" i="1"/>
              <a:t>   Americans cash in on £3bn City office deal   </a:t>
            </a:r>
            <a:r>
              <a:rPr lang="en-US" altLang="zh-CN"/>
              <a:t>               </a:t>
            </a:r>
          </a:p>
          <a:p>
            <a:pPr eaLnBrk="1" hangingPunct="1">
              <a:buFontTx/>
              <a:buNone/>
            </a:pPr>
            <a:r>
              <a:rPr lang="en-US" altLang="zh-CN"/>
              <a:t>      (bn refers to billion) </a:t>
            </a:r>
          </a:p>
          <a:p>
            <a:pPr eaLnBrk="1" hangingPunct="1">
              <a:buFontTx/>
              <a:buNone/>
            </a:pPr>
            <a:r>
              <a:rPr lang="en-US" altLang="zh-CN" i="1"/>
              <a:t>  Fed waits for job market to perk up</a:t>
            </a:r>
          </a:p>
          <a:p>
            <a:pPr eaLnBrk="1" hangingPunct="1">
              <a:buFontTx/>
              <a:buNone/>
            </a:pPr>
            <a:r>
              <a:rPr lang="en-US" altLang="zh-CN"/>
              <a:t>     (Fed = Federal Reserve)</a:t>
            </a:r>
          </a:p>
          <a:p>
            <a:pPr eaLnBrk="1" hangingPunct="1">
              <a:buFontTx/>
              <a:buNone/>
            </a:pPr>
            <a:r>
              <a:rPr lang="en-US" altLang="zh-CN"/>
              <a:t>  </a:t>
            </a:r>
            <a:r>
              <a:rPr lang="en-US" altLang="zh-CN" i="1"/>
              <a:t>The slanting of a tech hero  </a:t>
            </a:r>
          </a:p>
          <a:p>
            <a:pPr eaLnBrk="1" hangingPunct="1">
              <a:buFontTx/>
              <a:buNone/>
            </a:pPr>
            <a:r>
              <a:rPr lang="en-US" altLang="zh-CN"/>
              <a:t>     (tech = technology)</a:t>
            </a:r>
          </a:p>
          <a:p>
            <a:pPr eaLnBrk="1" hangingPunct="1">
              <a:buFontTx/>
              <a:buNone/>
            </a:pPr>
            <a:br>
              <a:rPr lang="en-US" altLang="zh-CN"/>
            </a:b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9D8BACD7-A2B9-C8C4-3F29-A61FD0AE536B}"/>
              </a:ext>
            </a:extLst>
          </p:cNvPr>
          <p:cNvSpPr>
            <a:spLocks noGrp="1" noChangeArrowheads="1"/>
          </p:cNvSpPr>
          <p:nvPr>
            <p:ph type="title"/>
          </p:nvPr>
        </p:nvSpPr>
        <p:spPr>
          <a:xfrm>
            <a:off x="1952625" y="0"/>
            <a:ext cx="8229600" cy="1143000"/>
          </a:xfrm>
        </p:spPr>
        <p:txBody>
          <a:bodyPr/>
          <a:lstStyle/>
          <a:p>
            <a:r>
              <a:rPr lang="en-US" altLang="zh-CN"/>
              <a:t>Exercise</a:t>
            </a:r>
            <a:endParaRPr lang="zh-CN" altLang="en-US"/>
          </a:p>
        </p:txBody>
      </p:sp>
      <p:sp>
        <p:nvSpPr>
          <p:cNvPr id="37891" name="内容占位符 2">
            <a:extLst>
              <a:ext uri="{FF2B5EF4-FFF2-40B4-BE49-F238E27FC236}">
                <a16:creationId xmlns:a16="http://schemas.microsoft.com/office/drawing/2014/main" id="{A9317DB7-BE7B-F5AD-2E90-D426534B7477}"/>
              </a:ext>
            </a:extLst>
          </p:cNvPr>
          <p:cNvSpPr>
            <a:spLocks noGrp="1" noChangeArrowheads="1"/>
          </p:cNvSpPr>
          <p:nvPr>
            <p:ph idx="1"/>
          </p:nvPr>
        </p:nvSpPr>
        <p:spPr>
          <a:xfrm>
            <a:off x="1881188" y="500063"/>
            <a:ext cx="8501062" cy="5929312"/>
          </a:xfrm>
        </p:spPr>
        <p:txBody>
          <a:bodyPr/>
          <a:lstStyle/>
          <a:p>
            <a:pPr>
              <a:buFontTx/>
              <a:buNone/>
            </a:pPr>
            <a:r>
              <a:rPr lang="en-US" altLang="zh-CN"/>
              <a:t> Give a shorter word with similar meaning of the underlined words in the headlines.</a:t>
            </a:r>
          </a:p>
          <a:p>
            <a:pPr>
              <a:buFontTx/>
              <a:buNone/>
            </a:pPr>
            <a:br>
              <a:rPr lang="en-US" altLang="zh-CN"/>
            </a:br>
            <a:r>
              <a:rPr lang="en-US" altLang="zh-CN"/>
              <a:t>1 Fannie,Freddie Narrow Losses but Seek      More </a:t>
            </a:r>
            <a:r>
              <a:rPr lang="en-US" altLang="zh-CN" u="sng"/>
              <a:t>Assistance</a:t>
            </a:r>
          </a:p>
          <a:p>
            <a:pPr>
              <a:buFontTx/>
              <a:buNone/>
            </a:pPr>
            <a:r>
              <a:rPr lang="en-US" altLang="zh-CN"/>
              <a:t>   2 Conservatives </a:t>
            </a:r>
            <a:r>
              <a:rPr lang="en-US" altLang="zh-CN" u="sng"/>
              <a:t>Threaten </a:t>
            </a:r>
            <a:r>
              <a:rPr lang="en-US" altLang="zh-CN"/>
              <a:t>to Make Gay</a:t>
            </a:r>
          </a:p>
          <a:p>
            <a:pPr>
              <a:buFontTx/>
              <a:buNone/>
            </a:pPr>
            <a:r>
              <a:rPr lang="en-US" altLang="zh-CN"/>
              <a:t>     Marriage 2012 Issue</a:t>
            </a:r>
          </a:p>
          <a:p>
            <a:pPr>
              <a:buFontTx/>
              <a:buNone/>
            </a:pPr>
            <a:r>
              <a:rPr lang="en-US" altLang="zh-CN"/>
              <a:t>   3 Google Asks Swiss Court to Lift Street </a:t>
            </a:r>
          </a:p>
          <a:p>
            <a:pPr>
              <a:buFontTx/>
              <a:buNone/>
            </a:pPr>
            <a:r>
              <a:rPr lang="en-US" altLang="zh-CN"/>
              <a:t>    View </a:t>
            </a:r>
            <a:r>
              <a:rPr lang="en-US" altLang="zh-CN" u="sng"/>
              <a:t>Restrictions</a:t>
            </a:r>
          </a:p>
          <a:p>
            <a:pPr>
              <a:buFontTx/>
              <a:buNone/>
            </a:pP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60C51C0B-6F6A-896E-7F7A-B7D3DF8CE387}"/>
              </a:ext>
            </a:extLst>
          </p:cNvPr>
          <p:cNvSpPr>
            <a:spLocks noGrp="1" noChangeArrowheads="1"/>
          </p:cNvSpPr>
          <p:nvPr>
            <p:ph type="title"/>
          </p:nvPr>
        </p:nvSpPr>
        <p:spPr>
          <a:xfrm>
            <a:off x="1952625" y="0"/>
            <a:ext cx="8229600" cy="1143000"/>
          </a:xfrm>
        </p:spPr>
        <p:txBody>
          <a:bodyPr/>
          <a:lstStyle/>
          <a:p>
            <a:r>
              <a:rPr lang="en-US" altLang="zh-CN"/>
              <a:t>Exercise</a:t>
            </a:r>
            <a:endParaRPr lang="zh-CN" altLang="en-US"/>
          </a:p>
        </p:txBody>
      </p:sp>
      <p:sp>
        <p:nvSpPr>
          <p:cNvPr id="38915" name="内容占位符 2">
            <a:extLst>
              <a:ext uri="{FF2B5EF4-FFF2-40B4-BE49-F238E27FC236}">
                <a16:creationId xmlns:a16="http://schemas.microsoft.com/office/drawing/2014/main" id="{74389055-204B-1BFA-72A0-B3DEF5BF8F55}"/>
              </a:ext>
            </a:extLst>
          </p:cNvPr>
          <p:cNvSpPr>
            <a:spLocks noGrp="1" noChangeArrowheads="1"/>
          </p:cNvSpPr>
          <p:nvPr>
            <p:ph idx="1"/>
          </p:nvPr>
        </p:nvSpPr>
        <p:spPr>
          <a:xfrm>
            <a:off x="1809750" y="1428751"/>
            <a:ext cx="8858250" cy="4714875"/>
          </a:xfrm>
        </p:spPr>
        <p:txBody>
          <a:bodyPr/>
          <a:lstStyle/>
          <a:p>
            <a:pPr>
              <a:buFontTx/>
              <a:buNone/>
            </a:pPr>
            <a:r>
              <a:rPr lang="en-US" altLang="zh-CN"/>
              <a:t>4 </a:t>
            </a:r>
            <a:r>
              <a:rPr lang="en-US" altLang="zh-CN" u="sng"/>
              <a:t>Investigation</a:t>
            </a:r>
            <a:r>
              <a:rPr lang="en-US" altLang="zh-CN"/>
              <a:t> of Violence, Mass Escapes </a:t>
            </a:r>
          </a:p>
          <a:p>
            <a:pPr>
              <a:buFontTx/>
              <a:buNone/>
            </a:pPr>
            <a:r>
              <a:rPr lang="en-US" altLang="zh-CN"/>
              <a:t>  from Egypt Prisons</a:t>
            </a:r>
          </a:p>
          <a:p>
            <a:pPr>
              <a:buFontTx/>
              <a:buNone/>
            </a:pPr>
            <a:r>
              <a:rPr lang="en-US" altLang="zh-CN"/>
              <a:t>5 Spain: 5 Dead, 3 Injured in Military Academy</a:t>
            </a:r>
          </a:p>
          <a:p>
            <a:pPr>
              <a:buFontTx/>
              <a:buNone/>
            </a:pPr>
            <a:r>
              <a:rPr lang="en-US" altLang="zh-CN"/>
              <a:t>  </a:t>
            </a:r>
            <a:r>
              <a:rPr lang="en-US" altLang="zh-CN" u="sng"/>
              <a:t> Explosion</a:t>
            </a:r>
          </a:p>
          <a:p>
            <a:pPr>
              <a:buFontTx/>
              <a:buNone/>
            </a:pPr>
            <a:r>
              <a:rPr lang="en-US" altLang="zh-CN"/>
              <a:t>6 Russia Raises Key Interest Rate to </a:t>
            </a:r>
            <a:r>
              <a:rPr lang="en-US" altLang="zh-CN" u="sng"/>
              <a:t>Check</a:t>
            </a:r>
          </a:p>
          <a:p>
            <a:pPr>
              <a:buFontTx/>
              <a:buNone/>
            </a:pPr>
            <a:r>
              <a:rPr lang="en-US" altLang="zh-CN"/>
              <a:t>  Inflation</a:t>
            </a:r>
          </a:p>
          <a:p>
            <a:pPr>
              <a:buFontTx/>
              <a:buNone/>
            </a:pP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D07433E7-0CAC-D01D-D3AE-3D674C780714}"/>
              </a:ext>
            </a:extLst>
          </p:cNvPr>
          <p:cNvSpPr>
            <a:spLocks noGrp="1" noChangeArrowheads="1"/>
          </p:cNvSpPr>
          <p:nvPr>
            <p:ph type="title"/>
          </p:nvPr>
        </p:nvSpPr>
        <p:spPr>
          <a:xfrm>
            <a:off x="1952625" y="0"/>
            <a:ext cx="8229600" cy="1143000"/>
          </a:xfrm>
        </p:spPr>
        <p:txBody>
          <a:bodyPr/>
          <a:lstStyle/>
          <a:p>
            <a:r>
              <a:rPr lang="en-US" altLang="zh-CN"/>
              <a:t>Exercise</a:t>
            </a:r>
            <a:endParaRPr lang="zh-CN" altLang="en-US"/>
          </a:p>
        </p:txBody>
      </p:sp>
      <p:sp>
        <p:nvSpPr>
          <p:cNvPr id="19459" name="内容占位符 2">
            <a:extLst>
              <a:ext uri="{FF2B5EF4-FFF2-40B4-BE49-F238E27FC236}">
                <a16:creationId xmlns:a16="http://schemas.microsoft.com/office/drawing/2014/main" id="{C967B39E-E81F-7EC5-6680-A78EA8060BEF}"/>
              </a:ext>
            </a:extLst>
          </p:cNvPr>
          <p:cNvSpPr>
            <a:spLocks noGrp="1" noChangeArrowheads="1"/>
          </p:cNvSpPr>
          <p:nvPr>
            <p:ph idx="1"/>
          </p:nvPr>
        </p:nvSpPr>
        <p:spPr>
          <a:xfrm>
            <a:off x="1952625" y="928688"/>
            <a:ext cx="8286750" cy="5929312"/>
          </a:xfrm>
        </p:spPr>
        <p:txBody>
          <a:bodyPr/>
          <a:lstStyle/>
          <a:p>
            <a:pPr>
              <a:buFontTx/>
              <a:buNone/>
            </a:pPr>
            <a:r>
              <a:rPr lang="en-US" altLang="zh-CN"/>
              <a:t>  Give the complete forms of the shortenings in the following headlines and translate</a:t>
            </a:r>
            <a:br>
              <a:rPr lang="en-US" altLang="zh-CN"/>
            </a:br>
            <a:r>
              <a:rPr lang="en-US" altLang="zh-CN"/>
              <a:t>them into Chinese.</a:t>
            </a:r>
            <a:br>
              <a:rPr lang="en-US" altLang="zh-CN"/>
            </a:br>
            <a:r>
              <a:rPr lang="en-US" altLang="zh-CN"/>
              <a:t> 1 College </a:t>
            </a:r>
            <a:r>
              <a:rPr lang="en-US" altLang="zh-CN" b="1"/>
              <a:t>Grads</a:t>
            </a:r>
            <a:r>
              <a:rPr lang="en-US" altLang="zh-CN"/>
              <a:t> Face Tough Employment    Market</a:t>
            </a:r>
            <a:br>
              <a:rPr lang="en-US" altLang="zh-CN"/>
            </a:br>
            <a:r>
              <a:rPr lang="en-US" altLang="zh-CN"/>
              <a:t>2 Diplomats: Syria Evades </a:t>
            </a:r>
            <a:r>
              <a:rPr lang="en-US" altLang="zh-CN" b="1"/>
              <a:t>Nuke</a:t>
            </a:r>
            <a:r>
              <a:rPr lang="en-US" altLang="zh-CN"/>
              <a:t> Probe</a:t>
            </a:r>
            <a:br>
              <a:rPr lang="en-US" altLang="zh-CN"/>
            </a:br>
            <a:r>
              <a:rPr lang="en-US" altLang="zh-CN"/>
              <a:t>3 Olympic </a:t>
            </a:r>
            <a:r>
              <a:rPr lang="en-US" altLang="zh-CN" b="1"/>
              <a:t>Champ</a:t>
            </a:r>
            <a:r>
              <a:rPr lang="en-US" altLang="zh-CN"/>
              <a:t> Demong Chasing Gold    at Nordic Worlds</a:t>
            </a:r>
            <a:br>
              <a:rPr lang="en-US" altLang="zh-CN"/>
            </a:br>
            <a:r>
              <a:rPr lang="en-US" altLang="zh-CN"/>
              <a:t>4  Judge: No Sentencing Delay for </a:t>
            </a:r>
            <a:r>
              <a:rPr lang="en-US" altLang="zh-CN" b="1"/>
              <a:t>Doc</a:t>
            </a:r>
            <a:r>
              <a:rPr lang="en-US" altLang="zh-CN"/>
              <a:t> in     Ark. Bombing</a:t>
            </a:r>
            <a:br>
              <a:rPr lang="en-US" altLang="zh-CN"/>
            </a:b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4000" b="1" dirty="0">
                <a:latin typeface="+mn-lt"/>
                <a:cs typeface="Times New Roman" pitchFamily="18" charset="0"/>
              </a:rPr>
              <a:t>Language features of news (structure) </a:t>
            </a:r>
            <a:endParaRPr lang="zh-CN" altLang="en-US" sz="4000" b="1" dirty="0">
              <a:latin typeface="+mn-lt"/>
              <a:cs typeface="Times New Roman" pitchFamily="18" charset="0"/>
            </a:endParaRPr>
          </a:p>
        </p:txBody>
      </p:sp>
      <p:sp>
        <p:nvSpPr>
          <p:cNvPr id="3" name="内容占位符 2"/>
          <p:cNvSpPr>
            <a:spLocks noGrp="1"/>
          </p:cNvSpPr>
          <p:nvPr>
            <p:ph idx="1"/>
          </p:nvPr>
        </p:nvSpPr>
        <p:spPr/>
        <p:txBody>
          <a:bodyPr>
            <a:normAutofit/>
          </a:bodyPr>
          <a:lstStyle/>
          <a:p>
            <a:r>
              <a:rPr lang="en-US" sz="2400" dirty="0">
                <a:cs typeface="Times New Roman" pitchFamily="18" charset="0"/>
              </a:rPr>
              <a:t>The structure of a </a:t>
            </a:r>
            <a:r>
              <a:rPr lang="en-US" sz="2400" b="1" dirty="0">
                <a:cs typeface="Times New Roman" pitchFamily="18" charset="0"/>
              </a:rPr>
              <a:t>News Report </a:t>
            </a:r>
            <a:r>
              <a:rPr lang="en-US" sz="2400" dirty="0">
                <a:cs typeface="Times New Roman" pitchFamily="18" charset="0"/>
              </a:rPr>
              <a:t>follows a specific structure. The parts of this structure are identified and defined below:</a:t>
            </a:r>
          </a:p>
          <a:p>
            <a:r>
              <a:rPr lang="en-US" sz="2400" b="1" dirty="0">
                <a:cs typeface="Times New Roman" pitchFamily="18" charset="0"/>
              </a:rPr>
              <a:t>Headline: </a:t>
            </a:r>
            <a:r>
              <a:rPr lang="en-US" sz="2400" dirty="0">
                <a:cs typeface="Times New Roman" pitchFamily="18" charset="0"/>
              </a:rPr>
              <a:t>The Headline is the title of the article which is made up of 10 words or less. This title has two purposes: to introduce the topic of the article and to capture the readers’ interest, usually through controversial wording.</a:t>
            </a:r>
            <a:endParaRPr lang="zh-CN" altLang="en-US" sz="2400" dirty="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95472" y="714357"/>
            <a:ext cx="8229600" cy="4525963"/>
          </a:xfrm>
        </p:spPr>
        <p:txBody>
          <a:bodyPr>
            <a:normAutofit/>
          </a:bodyPr>
          <a:lstStyle/>
          <a:p>
            <a:r>
              <a:rPr lang="en-US" sz="2400" b="1" dirty="0">
                <a:cs typeface="Times New Roman" pitchFamily="18" charset="0"/>
              </a:rPr>
              <a:t>Subheading: </a:t>
            </a:r>
            <a:r>
              <a:rPr lang="en-US" sz="2400" dirty="0">
                <a:cs typeface="Times New Roman" pitchFamily="18" charset="0"/>
              </a:rPr>
              <a:t>The Subheading, which is not always included in an article, expands upon the Headline’s content, if needed. </a:t>
            </a:r>
          </a:p>
          <a:p>
            <a:r>
              <a:rPr lang="en-US" sz="2400" b="1" dirty="0">
                <a:cs typeface="Times New Roman" pitchFamily="18" charset="0"/>
              </a:rPr>
              <a:t>By-line: </a:t>
            </a:r>
            <a:r>
              <a:rPr lang="en-US" sz="2400" dirty="0">
                <a:cs typeface="Times New Roman" pitchFamily="18" charset="0"/>
              </a:rPr>
              <a:t>The by-line includes the article’s author’s name, and sometimes that person’s occupation.</a:t>
            </a:r>
            <a:endParaRPr lang="zh-CN" altLang="en-US" sz="2400" dirty="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66910" y="785795"/>
            <a:ext cx="8229600" cy="4525963"/>
          </a:xfrm>
        </p:spPr>
        <p:txBody>
          <a:bodyPr>
            <a:normAutofit/>
          </a:bodyPr>
          <a:lstStyle/>
          <a:p>
            <a:r>
              <a:rPr lang="en-US" sz="2400" b="1" dirty="0">
                <a:cs typeface="Times New Roman" pitchFamily="18" charset="0"/>
              </a:rPr>
              <a:t>Summary Lead: </a:t>
            </a:r>
            <a:r>
              <a:rPr lang="en-US" sz="2400" dirty="0">
                <a:cs typeface="Times New Roman" pitchFamily="18" charset="0"/>
              </a:rPr>
              <a:t>The Summary Lead consists of </a:t>
            </a:r>
          </a:p>
          <a:p>
            <a:r>
              <a:rPr lang="en-US" sz="2400" dirty="0">
                <a:cs typeface="Times New Roman" pitchFamily="18" charset="0"/>
              </a:rPr>
              <a:t>the first paragraph, the 1-2 sentences consisting of less than 30 words that begin an article. The content of this paragraph consists of the 5WH (who, what where, when, why, and how) of the article. </a:t>
            </a:r>
            <a:endParaRPr lang="zh-CN" altLang="en-US" sz="2400" dirty="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66910" y="714357"/>
            <a:ext cx="8229600" cy="4525963"/>
          </a:xfrm>
        </p:spPr>
        <p:txBody>
          <a:bodyPr>
            <a:normAutofit/>
          </a:bodyPr>
          <a:lstStyle/>
          <a:p>
            <a:r>
              <a:rPr lang="en-US" sz="2400" b="1" dirty="0">
                <a:cs typeface="Times New Roman" pitchFamily="18" charset="0"/>
              </a:rPr>
              <a:t>Fact-based Paragraphs: </a:t>
            </a:r>
            <a:r>
              <a:rPr lang="en-US" sz="2400" dirty="0">
                <a:cs typeface="Times New Roman" pitchFamily="18" charset="0"/>
              </a:rPr>
              <a:t>The remainder of the article consists of short paragraphs that expand on the 5WH mentioned in the Summary Lead and include quotations from key people involved in or related to the article. The content of these paragraphs is fact-based and organized from most to least important, so that the editor can cut the bottom paragraphs out if needed. </a:t>
            </a:r>
            <a:endParaRPr lang="zh-CN" altLang="en-US" sz="2400" dirty="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095472" y="357167"/>
          <a:ext cx="8286808" cy="5985307"/>
        </p:xfrm>
        <a:graphic>
          <a:graphicData uri="http://schemas.openxmlformats.org/drawingml/2006/table">
            <a:tbl>
              <a:tblPr/>
              <a:tblGrid>
                <a:gridCol w="2213977">
                  <a:extLst>
                    <a:ext uri="{9D8B030D-6E8A-4147-A177-3AD203B41FA5}">
                      <a16:colId xmlns:a16="http://schemas.microsoft.com/office/drawing/2014/main" val="20000"/>
                    </a:ext>
                  </a:extLst>
                </a:gridCol>
                <a:gridCol w="6072831">
                  <a:extLst>
                    <a:ext uri="{9D8B030D-6E8A-4147-A177-3AD203B41FA5}">
                      <a16:colId xmlns:a16="http://schemas.microsoft.com/office/drawing/2014/main" val="20001"/>
                    </a:ext>
                  </a:extLst>
                </a:gridCol>
              </a:tblGrid>
              <a:tr h="356343">
                <a:tc>
                  <a:txBody>
                    <a:bodyPr/>
                    <a:lstStyle/>
                    <a:p>
                      <a:pPr algn="ctr">
                        <a:spcAft>
                          <a:spcPts val="0"/>
                        </a:spcAft>
                      </a:pPr>
                      <a:r>
                        <a:rPr lang="en-US" sz="2000" b="1" kern="100" dirty="0">
                          <a:solidFill>
                            <a:srgbClr val="000000"/>
                          </a:solidFill>
                          <a:latin typeface="Times New Roman"/>
                          <a:ea typeface="宋体"/>
                          <a:cs typeface="Times New Roman"/>
                        </a:rPr>
                        <a:t>Element</a:t>
                      </a:r>
                      <a:endParaRPr lang="zh-CN" sz="20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100" dirty="0">
                          <a:solidFill>
                            <a:srgbClr val="000000"/>
                          </a:solidFill>
                          <a:latin typeface="Times New Roman"/>
                          <a:ea typeface="宋体"/>
                          <a:cs typeface="Times New Roman"/>
                        </a:rPr>
                        <a:t>Definition</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2686">
                <a:tc>
                  <a:txBody>
                    <a:bodyPr/>
                    <a:lstStyle/>
                    <a:p>
                      <a:pPr algn="ctr">
                        <a:spcAft>
                          <a:spcPts val="0"/>
                        </a:spcAft>
                      </a:pPr>
                      <a:r>
                        <a:rPr lang="en-US" sz="2000" b="1" kern="100" dirty="0">
                          <a:solidFill>
                            <a:srgbClr val="000000"/>
                          </a:solidFill>
                          <a:latin typeface="Times New Roman"/>
                          <a:ea typeface="宋体"/>
                          <a:cs typeface="Times New Roman"/>
                        </a:rPr>
                        <a:t>Headline</a:t>
                      </a:r>
                      <a:endParaRPr lang="zh-CN" sz="20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a:ea typeface="宋体"/>
                          <a:cs typeface="Times New Roman"/>
                        </a:rPr>
                        <a:t>• Catches your attention </a:t>
                      </a:r>
                      <a:endParaRPr lang="zh-CN" sz="2000" kern="100" dirty="0">
                        <a:latin typeface="Calibri"/>
                        <a:ea typeface="宋体"/>
                        <a:cs typeface="Times New Roman"/>
                      </a:endParaRPr>
                    </a:p>
                    <a:p>
                      <a:pPr algn="just">
                        <a:spcAft>
                          <a:spcPts val="0"/>
                        </a:spcAft>
                      </a:pPr>
                      <a:r>
                        <a:rPr lang="en-US" sz="2000" kern="0" dirty="0">
                          <a:solidFill>
                            <a:srgbClr val="000000"/>
                          </a:solidFill>
                          <a:latin typeface="Times New Roman"/>
                          <a:ea typeface="宋体"/>
                          <a:cs typeface="Times New Roman"/>
                        </a:rPr>
                        <a:t>• Sums up the story</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69029">
                <a:tc>
                  <a:txBody>
                    <a:bodyPr/>
                    <a:lstStyle/>
                    <a:p>
                      <a:pPr algn="ctr">
                        <a:spcAft>
                          <a:spcPts val="0"/>
                        </a:spcAft>
                      </a:pPr>
                      <a:r>
                        <a:rPr lang="en-US" sz="2000" b="1" kern="100">
                          <a:latin typeface="Times New Roman"/>
                          <a:ea typeface="宋体"/>
                          <a:cs typeface="Times New Roman"/>
                        </a:rPr>
                        <a:t>byline</a:t>
                      </a:r>
                      <a:endParaRPr lang="zh-CN" sz="20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a:ea typeface="宋体"/>
                          <a:cs typeface="Times New Roman"/>
                        </a:rPr>
                        <a:t>• Writer’s name </a:t>
                      </a:r>
                      <a:endParaRPr lang="zh-CN" sz="2000" kern="100" dirty="0">
                        <a:latin typeface="Calibri"/>
                        <a:ea typeface="宋体"/>
                        <a:cs typeface="Times New Roman"/>
                      </a:endParaRPr>
                    </a:p>
                    <a:p>
                      <a:pPr algn="l">
                        <a:spcAft>
                          <a:spcPts val="0"/>
                        </a:spcAft>
                      </a:pPr>
                      <a:r>
                        <a:rPr lang="en-US" sz="2000" kern="0" dirty="0">
                          <a:solidFill>
                            <a:srgbClr val="000000"/>
                          </a:solidFill>
                          <a:latin typeface="Times New Roman"/>
                          <a:ea typeface="宋体"/>
                          <a:cs typeface="Times New Roman"/>
                        </a:rPr>
                        <a:t>• Writer’s Specialty, e.g. sports, food, crime, current   </a:t>
                      </a:r>
                    </a:p>
                    <a:p>
                      <a:pPr algn="l">
                        <a:spcAft>
                          <a:spcPts val="0"/>
                        </a:spcAft>
                      </a:pPr>
                      <a:r>
                        <a:rPr lang="en-US" sz="2000" kern="0" dirty="0">
                          <a:solidFill>
                            <a:srgbClr val="000000"/>
                          </a:solidFill>
                          <a:latin typeface="Times New Roman"/>
                          <a:ea typeface="宋体"/>
                          <a:cs typeface="Times New Roman"/>
                        </a:rPr>
                        <a:t>   events</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0162">
                <a:tc>
                  <a:txBody>
                    <a:bodyPr/>
                    <a:lstStyle/>
                    <a:p>
                      <a:pPr algn="ctr">
                        <a:spcAft>
                          <a:spcPts val="0"/>
                        </a:spcAft>
                      </a:pPr>
                      <a:r>
                        <a:rPr lang="en-US" sz="2000" b="1" kern="100" dirty="0" err="1">
                          <a:solidFill>
                            <a:srgbClr val="000000"/>
                          </a:solidFill>
                          <a:latin typeface="Times New Roman"/>
                          <a:ea typeface="宋体"/>
                          <a:cs typeface="Times New Roman"/>
                        </a:rPr>
                        <a:t>Placeline</a:t>
                      </a:r>
                      <a:r>
                        <a:rPr lang="en-US" sz="2000" b="1" kern="100" dirty="0">
                          <a:solidFill>
                            <a:srgbClr val="000000"/>
                          </a:solidFill>
                          <a:latin typeface="Times New Roman"/>
                          <a:ea typeface="宋体"/>
                          <a:cs typeface="Times New Roman"/>
                        </a:rPr>
                        <a:t> </a:t>
                      </a:r>
                    </a:p>
                    <a:p>
                      <a:pPr algn="ctr">
                        <a:spcAft>
                          <a:spcPts val="0"/>
                        </a:spcAft>
                      </a:pPr>
                      <a:r>
                        <a:rPr lang="en-US" altLang="zh-CN" sz="2000" b="1" kern="100" dirty="0">
                          <a:solidFill>
                            <a:srgbClr val="000000"/>
                          </a:solidFill>
                          <a:latin typeface="Times New Roman"/>
                          <a:ea typeface="宋体"/>
                          <a:cs typeface="Times New Roman"/>
                        </a:rPr>
                        <a:t>(optional)</a:t>
                      </a:r>
                      <a:endParaRPr lang="zh-CN" sz="20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a:ea typeface="宋体"/>
                          <a:cs typeface="Times New Roman"/>
                        </a:rPr>
                        <a:t>• Where the story begins</a:t>
                      </a:r>
                      <a:endParaRPr lang="zh-CN" sz="20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69029">
                <a:tc>
                  <a:txBody>
                    <a:bodyPr/>
                    <a:lstStyle/>
                    <a:p>
                      <a:pPr algn="ctr">
                        <a:spcAft>
                          <a:spcPts val="0"/>
                        </a:spcAft>
                      </a:pPr>
                      <a:r>
                        <a:rPr lang="en-US" sz="2000" b="1" kern="100" dirty="0">
                          <a:solidFill>
                            <a:srgbClr val="000000"/>
                          </a:solidFill>
                          <a:latin typeface="Times New Roman"/>
                          <a:ea typeface="宋体"/>
                          <a:cs typeface="Times New Roman"/>
                        </a:rPr>
                        <a:t>Lead</a:t>
                      </a:r>
                      <a:endParaRPr lang="zh-CN" sz="20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a:ea typeface="宋体"/>
                          <a:cs typeface="Times New Roman"/>
                        </a:rPr>
                        <a:t>• The opening section </a:t>
                      </a:r>
                      <a:endParaRPr lang="zh-CN" sz="2000" kern="100" dirty="0">
                        <a:latin typeface="Calibri"/>
                        <a:ea typeface="宋体"/>
                        <a:cs typeface="Times New Roman"/>
                      </a:endParaRPr>
                    </a:p>
                    <a:p>
                      <a:pPr algn="l">
                        <a:spcAft>
                          <a:spcPts val="0"/>
                        </a:spcAft>
                      </a:pPr>
                      <a:r>
                        <a:rPr lang="en-US" sz="2000" kern="0" dirty="0">
                          <a:solidFill>
                            <a:srgbClr val="000000"/>
                          </a:solidFill>
                          <a:latin typeface="Times New Roman"/>
                          <a:ea typeface="宋体"/>
                          <a:cs typeface="Times New Roman"/>
                        </a:rPr>
                        <a:t>• Gives most important information </a:t>
                      </a:r>
                      <a:endParaRPr lang="zh-CN" sz="2000" kern="100" dirty="0">
                        <a:latin typeface="Calibri"/>
                        <a:ea typeface="宋体"/>
                        <a:cs typeface="Times New Roman"/>
                      </a:endParaRPr>
                    </a:p>
                    <a:p>
                      <a:pPr algn="l">
                        <a:spcAft>
                          <a:spcPts val="0"/>
                        </a:spcAft>
                      </a:pPr>
                      <a:r>
                        <a:rPr lang="en-US" sz="2000" kern="0" dirty="0">
                          <a:solidFill>
                            <a:srgbClr val="000000"/>
                          </a:solidFill>
                          <a:latin typeface="Times New Roman"/>
                          <a:ea typeface="宋体"/>
                          <a:cs typeface="Times New Roman"/>
                        </a:rPr>
                        <a:t>• Should answer most of the 5W’s</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12686">
                <a:tc>
                  <a:txBody>
                    <a:bodyPr/>
                    <a:lstStyle/>
                    <a:p>
                      <a:pPr algn="ctr">
                        <a:spcAft>
                          <a:spcPts val="0"/>
                        </a:spcAft>
                      </a:pPr>
                      <a:r>
                        <a:rPr lang="en-US" sz="2000" b="1" kern="100">
                          <a:solidFill>
                            <a:srgbClr val="000000"/>
                          </a:solidFill>
                          <a:latin typeface="Times New Roman"/>
                          <a:ea typeface="宋体"/>
                          <a:cs typeface="Times New Roman"/>
                        </a:rPr>
                        <a:t>Body</a:t>
                      </a:r>
                      <a:endParaRPr lang="zh-CN" sz="20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a:ea typeface="宋体"/>
                          <a:cs typeface="Times New Roman"/>
                        </a:rPr>
                        <a:t>• Supplies detail </a:t>
                      </a:r>
                      <a:endParaRPr lang="zh-CN" sz="2000" kern="100" dirty="0">
                        <a:latin typeface="Calibri"/>
                        <a:ea typeface="宋体"/>
                        <a:cs typeface="Times New Roman"/>
                      </a:endParaRPr>
                    </a:p>
                    <a:p>
                      <a:pPr algn="l">
                        <a:spcAft>
                          <a:spcPts val="0"/>
                        </a:spcAft>
                      </a:pPr>
                      <a:r>
                        <a:rPr lang="en-US" sz="2000" kern="0" dirty="0">
                          <a:solidFill>
                            <a:srgbClr val="000000"/>
                          </a:solidFill>
                          <a:latin typeface="Times New Roman"/>
                          <a:ea typeface="宋体"/>
                          <a:cs typeface="Times New Roman"/>
                        </a:rPr>
                        <a:t>• Most important details come first</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56343">
                <a:tc>
                  <a:txBody>
                    <a:bodyPr/>
                    <a:lstStyle/>
                    <a:p>
                      <a:pPr algn="ctr">
                        <a:spcAft>
                          <a:spcPts val="0"/>
                        </a:spcAft>
                      </a:pPr>
                      <a:r>
                        <a:rPr lang="en-US" sz="2000" b="1" kern="100">
                          <a:solidFill>
                            <a:srgbClr val="000000"/>
                          </a:solidFill>
                          <a:latin typeface="Times New Roman"/>
                          <a:ea typeface="宋体"/>
                          <a:cs typeface="Times New Roman"/>
                        </a:rPr>
                        <a:t>Facts</a:t>
                      </a:r>
                      <a:endParaRPr lang="zh-CN" sz="20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solidFill>
                            <a:srgbClr val="000000"/>
                          </a:solidFill>
                          <a:latin typeface="Times New Roman"/>
                          <a:ea typeface="宋体"/>
                          <a:cs typeface="Times New Roman"/>
                        </a:rPr>
                        <a:t>• Simple true statements</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069029">
                <a:tc>
                  <a:txBody>
                    <a:bodyPr/>
                    <a:lstStyle/>
                    <a:p>
                      <a:pPr algn="ctr">
                        <a:spcAft>
                          <a:spcPts val="0"/>
                        </a:spcAft>
                      </a:pPr>
                      <a:r>
                        <a:rPr lang="en-US" sz="2000" b="1" kern="100" dirty="0">
                          <a:solidFill>
                            <a:srgbClr val="000000"/>
                          </a:solidFill>
                          <a:latin typeface="Times New Roman"/>
                          <a:ea typeface="宋体"/>
                          <a:cs typeface="Times New Roman"/>
                        </a:rPr>
                        <a:t>Quotation</a:t>
                      </a:r>
                      <a:endParaRPr lang="zh-CN" sz="20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a:solidFill>
                            <a:srgbClr val="000000"/>
                          </a:solidFill>
                          <a:latin typeface="Times New Roman"/>
                          <a:ea typeface="宋体"/>
                          <a:cs typeface="Times New Roman"/>
                        </a:rPr>
                        <a:t>• What someone actually said </a:t>
                      </a:r>
                      <a:endParaRPr lang="zh-CN" sz="2000" kern="100" dirty="0">
                        <a:latin typeface="Calibri"/>
                        <a:ea typeface="宋体"/>
                        <a:cs typeface="Times New Roman"/>
                      </a:endParaRPr>
                    </a:p>
                    <a:p>
                      <a:pPr algn="l">
                        <a:spcAft>
                          <a:spcPts val="0"/>
                        </a:spcAft>
                      </a:pPr>
                      <a:r>
                        <a:rPr lang="en-US" sz="2000" kern="0" dirty="0">
                          <a:solidFill>
                            <a:srgbClr val="000000"/>
                          </a:solidFill>
                          <a:latin typeface="Times New Roman"/>
                          <a:ea typeface="宋体"/>
                          <a:cs typeface="Times New Roman"/>
                        </a:rPr>
                        <a:t>• Adds accuracy </a:t>
                      </a:r>
                      <a:endParaRPr lang="zh-CN" sz="2000" kern="100" dirty="0">
                        <a:latin typeface="Calibri"/>
                        <a:ea typeface="宋体"/>
                        <a:cs typeface="Times New Roman"/>
                      </a:endParaRPr>
                    </a:p>
                    <a:p>
                      <a:pPr algn="l">
                        <a:spcAft>
                          <a:spcPts val="0"/>
                        </a:spcAft>
                      </a:pPr>
                      <a:r>
                        <a:rPr lang="en-US" sz="2000" kern="0" dirty="0">
                          <a:solidFill>
                            <a:srgbClr val="000000"/>
                          </a:solidFill>
                          <a:latin typeface="Times New Roman"/>
                          <a:ea typeface="宋体"/>
                          <a:cs typeface="Times New Roman"/>
                        </a:rPr>
                        <a:t>• Adds “at the scene” feeling</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24034" y="0"/>
            <a:ext cx="8229600" cy="511156"/>
          </a:xfrm>
        </p:spPr>
        <p:txBody>
          <a:bodyPr>
            <a:noAutofit/>
          </a:bodyPr>
          <a:lstStyle/>
          <a:p>
            <a:r>
              <a:rPr lang="en-US" altLang="zh-CN" sz="3600" dirty="0">
                <a:latin typeface="+mn-lt"/>
                <a:cs typeface="Times New Roman" pitchFamily="18" charset="0"/>
              </a:rPr>
              <a:t>Exercise-analysis of the news structure</a:t>
            </a:r>
            <a:endParaRPr lang="zh-CN" altLang="en-US" sz="3600" dirty="0">
              <a:latin typeface="+mn-lt"/>
              <a:cs typeface="Times New Roman" pitchFamily="18" charset="0"/>
            </a:endParaRPr>
          </a:p>
        </p:txBody>
      </p:sp>
      <p:sp>
        <p:nvSpPr>
          <p:cNvPr id="3" name="内容占位符 2"/>
          <p:cNvSpPr>
            <a:spLocks noGrp="1"/>
          </p:cNvSpPr>
          <p:nvPr>
            <p:ph idx="1"/>
          </p:nvPr>
        </p:nvSpPr>
        <p:spPr>
          <a:xfrm>
            <a:off x="1738282" y="500042"/>
            <a:ext cx="8715436" cy="6143668"/>
          </a:xfrm>
        </p:spPr>
        <p:txBody>
          <a:bodyPr>
            <a:noAutofit/>
          </a:bodyPr>
          <a:lstStyle/>
          <a:p>
            <a:pPr algn="ctr">
              <a:buNone/>
            </a:pPr>
            <a:r>
              <a:rPr lang="en-US" sz="1600" b="1" dirty="0">
                <a:cs typeface="Times New Roman" pitchFamily="18" charset="0"/>
              </a:rPr>
              <a:t>Students Grow Flying Sauce </a:t>
            </a:r>
            <a:endParaRPr lang="en-US" sz="1600" dirty="0">
              <a:cs typeface="Times New Roman" pitchFamily="18" charset="0"/>
            </a:endParaRPr>
          </a:p>
          <a:p>
            <a:pPr algn="ctr">
              <a:buNone/>
            </a:pPr>
            <a:r>
              <a:rPr lang="en-US" sz="1600" dirty="0">
                <a:cs typeface="Times New Roman" pitchFamily="18" charset="0"/>
              </a:rPr>
              <a:t>Jim Wilkes, Science Reporter </a:t>
            </a:r>
          </a:p>
          <a:p>
            <a:r>
              <a:rPr lang="en-US" sz="1600" dirty="0">
                <a:cs typeface="Times New Roman" pitchFamily="18" charset="0"/>
              </a:rPr>
              <a:t>TORONTO - In the cult movie classic Attack of the Killer Tomatoes, mutant  vegetables cut a deadly swath through the community, consuming everyone in their path. </a:t>
            </a:r>
          </a:p>
          <a:p>
            <a:r>
              <a:rPr lang="en-US" sz="1600" dirty="0">
                <a:cs typeface="Times New Roman" pitchFamily="18" charset="0"/>
              </a:rPr>
              <a:t>But Canadian astronaut Bob </a:t>
            </a:r>
            <a:r>
              <a:rPr lang="en-US" sz="1600" dirty="0" err="1">
                <a:cs typeface="Times New Roman" pitchFamily="18" charset="0"/>
              </a:rPr>
              <a:t>Thirsk</a:t>
            </a:r>
            <a:r>
              <a:rPr lang="en-US" sz="1600" dirty="0">
                <a:cs typeface="Times New Roman" pitchFamily="18" charset="0"/>
              </a:rPr>
              <a:t> says Toronto students cultivating tomato seeds from space shouldn’t worry about like imitating art. </a:t>
            </a:r>
          </a:p>
          <a:p>
            <a:r>
              <a:rPr lang="en-US" sz="1600" dirty="0">
                <a:cs typeface="Times New Roman" pitchFamily="18" charset="0"/>
              </a:rPr>
              <a:t>“There should be no fear on the part of teachers or parents about any toxic fruit growing from these tomato plants,” said </a:t>
            </a:r>
            <a:r>
              <a:rPr lang="en-US" sz="1600" dirty="0" err="1">
                <a:cs typeface="Times New Roman" pitchFamily="18" charset="0"/>
              </a:rPr>
              <a:t>Thirsk</a:t>
            </a:r>
            <a:r>
              <a:rPr lang="en-US" sz="1600" dirty="0">
                <a:cs typeface="Times New Roman" pitchFamily="18" charset="0"/>
              </a:rPr>
              <a:t>, who flew aboard the shuttle Columbia on a 17-day mission in 1996. </a:t>
            </a:r>
          </a:p>
          <a:p>
            <a:r>
              <a:rPr lang="en-US" sz="1600" dirty="0">
                <a:cs typeface="Times New Roman" pitchFamily="18" charset="0"/>
              </a:rPr>
              <a:t>He said he’ll eat tomatoes produced from the high-flying seeds or use them to make salsa or ketchup. </a:t>
            </a:r>
          </a:p>
          <a:p>
            <a:r>
              <a:rPr lang="en-US" sz="1600" dirty="0" err="1">
                <a:cs typeface="Times New Roman" pitchFamily="18" charset="0"/>
              </a:rPr>
              <a:t>Thirsk</a:t>
            </a:r>
            <a:r>
              <a:rPr lang="en-US" sz="1600" dirty="0">
                <a:cs typeface="Times New Roman" pitchFamily="18" charset="0"/>
              </a:rPr>
              <a:t> visited students at St. </a:t>
            </a:r>
            <a:r>
              <a:rPr lang="en-US" sz="1600" dirty="0" err="1">
                <a:cs typeface="Times New Roman" pitchFamily="18" charset="0"/>
              </a:rPr>
              <a:t>Cecillia</a:t>
            </a:r>
            <a:r>
              <a:rPr lang="en-US" sz="1600" dirty="0">
                <a:cs typeface="Times New Roman" pitchFamily="18" charset="0"/>
              </a:rPr>
              <a:t> Catholic School on Annette St. yesterday to check up on their experiments with tomato seeds taken into space by astronaut Mark </a:t>
            </a:r>
            <a:r>
              <a:rPr lang="en-US" sz="1600" dirty="0" err="1">
                <a:cs typeface="Times New Roman" pitchFamily="18" charset="0"/>
              </a:rPr>
              <a:t>Garneau</a:t>
            </a:r>
            <a:r>
              <a:rPr lang="en-US" sz="1600" dirty="0">
                <a:cs typeface="Times New Roman" pitchFamily="18" charset="0"/>
              </a:rPr>
              <a:t>. </a:t>
            </a:r>
          </a:p>
          <a:p>
            <a:r>
              <a:rPr lang="en-US" sz="1600" dirty="0">
                <a:cs typeface="Times New Roman" pitchFamily="18" charset="0"/>
              </a:rPr>
              <a:t>The </a:t>
            </a:r>
            <a:r>
              <a:rPr lang="en-US" sz="1600" dirty="0" err="1">
                <a:cs typeface="Times New Roman" pitchFamily="18" charset="0"/>
              </a:rPr>
              <a:t>Tomatosphere</a:t>
            </a:r>
            <a:r>
              <a:rPr lang="en-US" sz="1600" dirty="0">
                <a:cs typeface="Times New Roman" pitchFamily="18" charset="0"/>
              </a:rPr>
              <a:t> project involves 2,500 secondary school classrooms across Canada growing 400,000 seeds, half of which made the trip to space. Space plants are said to grow faster and taller. </a:t>
            </a:r>
          </a:p>
          <a:p>
            <a:r>
              <a:rPr lang="en-US" sz="1600" dirty="0">
                <a:cs typeface="Times New Roman" pitchFamily="18" charset="0"/>
              </a:rPr>
              <a:t>“The space-flown seeds made 170 orbits of the Earth, travelled more than 7 million kilometers and spent 12 days weightless,” </a:t>
            </a:r>
            <a:r>
              <a:rPr lang="en-US" sz="1600" dirty="0" err="1">
                <a:cs typeface="Times New Roman" pitchFamily="18" charset="0"/>
              </a:rPr>
              <a:t>Thirsk</a:t>
            </a:r>
            <a:r>
              <a:rPr lang="en-US" sz="1600" dirty="0">
                <a:cs typeface="Times New Roman" pitchFamily="18" charset="0"/>
              </a:rPr>
              <a:t> said. </a:t>
            </a:r>
          </a:p>
          <a:p>
            <a:r>
              <a:rPr lang="en-US" sz="1600" dirty="0">
                <a:cs typeface="Times New Roman" pitchFamily="18" charset="0"/>
              </a:rPr>
              <a:t>At the end of June, schools will send results of their experiment to the Canadian Space Agency which will compile the date and make conclusions. </a:t>
            </a:r>
          </a:p>
          <a:p>
            <a:r>
              <a:rPr lang="en-US" sz="1600" dirty="0" err="1">
                <a:cs typeface="Times New Roman" pitchFamily="18" charset="0"/>
              </a:rPr>
              <a:t>Thirsk</a:t>
            </a:r>
            <a:r>
              <a:rPr lang="en-US" sz="1600" dirty="0">
                <a:cs typeface="Times New Roman" pitchFamily="18" charset="0"/>
              </a:rPr>
              <a:t> said the program is designed to introduce space science to young Canadians. “I can see that in these classrooms we have potential future Canadian scientists and astronauts,” he said. “I find that incredibly exciting.” </a:t>
            </a:r>
            <a:endParaRPr lang="zh-CN" altLang="en-US" sz="1600" dirty="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What is a Feature?"/>
          <p:cNvSpPr txBox="1">
            <a:spLocks noGrp="1"/>
          </p:cNvSpPr>
          <p:nvPr>
            <p:ph type="title"/>
          </p:nvPr>
        </p:nvSpPr>
        <p:spPr>
          <a:prstGeom prst="rect">
            <a:avLst/>
          </a:prstGeom>
        </p:spPr>
        <p:txBody>
          <a:bodyPr/>
          <a:lstStyle/>
          <a:p>
            <a:r>
              <a:t>What is a Feature?</a:t>
            </a:r>
          </a:p>
        </p:txBody>
      </p:sp>
      <p:sp>
        <p:nvSpPr>
          <p:cNvPr id="197" name="A feature story is all about the details: painting a picture of a person, event, or place on the written page so your topic becomes alive to the reader. They allow a writer to be creative. It's not just about facts; feature stories are more about storyte"/>
          <p:cNvSpPr txBox="1">
            <a:spLocks noGrp="1"/>
          </p:cNvSpPr>
          <p:nvPr>
            <p:ph type="body" idx="1"/>
          </p:nvPr>
        </p:nvSpPr>
        <p:spPr>
          <a:xfrm>
            <a:off x="736600" y="1949450"/>
            <a:ext cx="10718800" cy="4202113"/>
          </a:xfrm>
          <a:prstGeom prst="rect">
            <a:avLst/>
          </a:prstGeom>
        </p:spPr>
        <p:txBody>
          <a:bodyPr>
            <a:normAutofit fontScale="92500" lnSpcReduction="10000"/>
          </a:bodyPr>
          <a:lstStyle>
            <a:lvl1pPr marL="0" indent="0" defTabSz="4572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lvl1pPr>
          </a:lstStyle>
          <a:p>
            <a:r>
              <a:t>A feature story is all about the details: painting a picture of a person, event, or place on the written page so your topic becomes alive to the reader. They allow a writer to be creative. It's not just about facts; feature stories are more about storytelling and weaving an interesting narrative.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7">
                                            <p:txEl>
                                              <p:pRg st="0" end="0"/>
                                            </p:txEl>
                                          </p:spTgt>
                                        </p:tgtEl>
                                        <p:attrNameLst>
                                          <p:attrName>style.visibility</p:attrName>
                                        </p:attrNameLst>
                                      </p:cBhvr>
                                      <p:to>
                                        <p:strVal val="visible"/>
                                      </p:to>
                                    </p:set>
                                    <p:animEffect transition="in" filter="blinds(horizontal)">
                                      <p:cBhvr>
                                        <p:cTn id="7" dur="500"/>
                                        <p:tgtEl>
                                          <p:spTgt spid="1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ypes of Features"/>
          <p:cNvSpPr txBox="1">
            <a:spLocks noGrp="1"/>
          </p:cNvSpPr>
          <p:nvPr>
            <p:ph type="title"/>
          </p:nvPr>
        </p:nvSpPr>
        <p:spPr>
          <a:prstGeom prst="rect">
            <a:avLst/>
          </a:prstGeom>
        </p:spPr>
        <p:txBody>
          <a:bodyPr/>
          <a:lstStyle/>
          <a:p>
            <a:r>
              <a:t>Types of Features </a:t>
            </a:r>
          </a:p>
        </p:txBody>
      </p:sp>
      <p:sp>
        <p:nvSpPr>
          <p:cNvPr id="200" name="News Feature…"/>
          <p:cNvSpPr txBox="1">
            <a:spLocks noGrp="1"/>
          </p:cNvSpPr>
          <p:nvPr>
            <p:ph type="body" idx="1"/>
          </p:nvPr>
        </p:nvSpPr>
        <p:spPr>
          <a:prstGeom prst="rect">
            <a:avLst/>
          </a:prstGeom>
        </p:spPr>
        <p:txBody>
          <a:bodyPr>
            <a:normAutofit fontScale="70000" lnSpcReduction="20000"/>
          </a:bodyPr>
          <a:lstStyle/>
          <a:p>
            <a:pPr marL="394335" indent="-394335" defTabSz="228600">
              <a:spcBef>
                <a:spcPts val="0"/>
              </a:spcBef>
              <a:buSzPct val="100000"/>
              <a:buChar char="•"/>
              <a:defRPr sz="6900" b="1">
                <a:solidFill>
                  <a:srgbClr val="282828"/>
                </a:solidFill>
                <a:latin typeface="Helvetica"/>
                <a:ea typeface="Helvetica"/>
                <a:cs typeface="Helvetica"/>
                <a:sym typeface="Helvetica"/>
              </a:defRPr>
            </a:pPr>
            <a:r>
              <a:t>News Feature</a:t>
            </a:r>
          </a:p>
          <a:p>
            <a:pPr marL="394335" indent="-394335" defTabSz="228600">
              <a:spcBef>
                <a:spcPts val="0"/>
              </a:spcBef>
              <a:buSzPct val="100000"/>
              <a:buChar char="•"/>
              <a:defRPr sz="6900" b="1">
                <a:solidFill>
                  <a:srgbClr val="282828"/>
                </a:solidFill>
                <a:latin typeface="Helvetica"/>
                <a:ea typeface="Helvetica"/>
                <a:cs typeface="Helvetica"/>
                <a:sym typeface="Helvetica"/>
              </a:defRPr>
            </a:pPr>
            <a:r>
              <a:t>Profile</a:t>
            </a:r>
          </a:p>
          <a:p>
            <a:pPr marL="394335" indent="-394335" defTabSz="228600">
              <a:spcBef>
                <a:spcPts val="0"/>
              </a:spcBef>
              <a:buSzPct val="100000"/>
              <a:buChar char="•"/>
              <a:defRPr sz="6900" b="1">
                <a:solidFill>
                  <a:srgbClr val="282828"/>
                </a:solidFill>
                <a:latin typeface="Helvetica"/>
                <a:ea typeface="Helvetica"/>
                <a:cs typeface="Helvetica"/>
                <a:sym typeface="Helvetica"/>
              </a:defRPr>
            </a:pPr>
            <a:r>
              <a:t>Spot Feature</a:t>
            </a:r>
          </a:p>
          <a:p>
            <a:pPr marL="394335" indent="-394335" defTabSz="228600">
              <a:spcBef>
                <a:spcPts val="0"/>
              </a:spcBef>
              <a:buSzPct val="100000"/>
              <a:buChar char="•"/>
              <a:defRPr sz="6900" b="1">
                <a:solidFill>
                  <a:srgbClr val="282828"/>
                </a:solidFill>
                <a:latin typeface="Helvetica"/>
                <a:ea typeface="Helvetica"/>
                <a:cs typeface="Helvetica"/>
                <a:sym typeface="Helvetica"/>
              </a:defRPr>
            </a:pPr>
            <a:r>
              <a:t>Trend</a:t>
            </a:r>
          </a:p>
          <a:p>
            <a:pPr marL="394335" indent="-394335" defTabSz="228600">
              <a:spcBef>
                <a:spcPts val="0"/>
              </a:spcBef>
              <a:buSzPct val="100000"/>
              <a:buChar char="•"/>
              <a:defRPr sz="6900" b="1">
                <a:solidFill>
                  <a:srgbClr val="282828"/>
                </a:solidFill>
                <a:latin typeface="Helvetica"/>
                <a:ea typeface="Helvetica"/>
                <a:cs typeface="Helvetica"/>
                <a:sym typeface="Helvetica"/>
              </a:defRPr>
            </a:pPr>
            <a:r>
              <a:t>Live-In</a:t>
            </a:r>
          </a:p>
          <a:p>
            <a:pPr marL="0" indent="0" defTabSz="2286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rPr u="sng"/>
              <a:t>https://www.thoughtco.com/different-kinds-of-feature-stories-you-can-write-2074322</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ypes of Features"/>
          <p:cNvSpPr txBox="1">
            <a:spLocks noGrp="1"/>
          </p:cNvSpPr>
          <p:nvPr>
            <p:ph type="title"/>
          </p:nvPr>
        </p:nvSpPr>
        <p:spPr>
          <a:prstGeom prst="rect">
            <a:avLst/>
          </a:prstGeom>
        </p:spPr>
        <p:txBody>
          <a:bodyPr/>
          <a:lstStyle/>
          <a:p>
            <a:r>
              <a:t>Types of Features </a:t>
            </a:r>
          </a:p>
        </p:txBody>
      </p:sp>
      <p:sp>
        <p:nvSpPr>
          <p:cNvPr id="203" name="人物特写Profile…"/>
          <p:cNvSpPr txBox="1">
            <a:spLocks noGrp="1"/>
          </p:cNvSpPr>
          <p:nvPr>
            <p:ph type="body" idx="1"/>
          </p:nvPr>
        </p:nvSpPr>
        <p:spPr>
          <a:xfrm>
            <a:off x="914672" y="1946275"/>
            <a:ext cx="10718801" cy="4019550"/>
          </a:xfrm>
          <a:prstGeom prst="rect">
            <a:avLst/>
          </a:prstGeom>
        </p:spPr>
        <p:txBody>
          <a:bodyPr>
            <a:normAutofit fontScale="70000" lnSpcReduction="20000"/>
          </a:bodyPr>
          <a:lstStyle/>
          <a:p>
            <a:pPr marL="394335" indent="-394335" defTabSz="228600">
              <a:spcBef>
                <a:spcPts val="0"/>
              </a:spcBef>
              <a:buSzPct val="100000"/>
              <a:buChar char="•"/>
              <a:defRPr sz="6900" b="1">
                <a:solidFill>
                  <a:srgbClr val="282828"/>
                </a:solidFill>
                <a:latin typeface="Helvetica"/>
                <a:ea typeface="Helvetica"/>
                <a:cs typeface="Helvetica"/>
                <a:sym typeface="Helvetica"/>
              </a:defRPr>
            </a:pPr>
            <a:r>
              <a:t>人物特写Profile</a:t>
            </a:r>
          </a:p>
          <a:p>
            <a:pPr marL="394335" indent="-394335" defTabSz="228600">
              <a:spcBef>
                <a:spcPts val="0"/>
              </a:spcBef>
              <a:buSzPct val="100000"/>
              <a:buChar char="•"/>
              <a:defRPr sz="6900" b="1">
                <a:solidFill>
                  <a:srgbClr val="282828"/>
                </a:solidFill>
                <a:latin typeface="Helvetica"/>
                <a:ea typeface="Helvetica"/>
                <a:cs typeface="Helvetica"/>
                <a:sym typeface="Helvetica"/>
              </a:defRPr>
            </a:pPr>
            <a:r>
              <a:t>事件特写WHAT-feature</a:t>
            </a:r>
          </a:p>
          <a:p>
            <a:pPr marL="394335" indent="-394335" defTabSz="228600">
              <a:spcBef>
                <a:spcPts val="0"/>
              </a:spcBef>
              <a:buSzPct val="100000"/>
              <a:buChar char="•"/>
              <a:defRPr sz="6900" b="1">
                <a:solidFill>
                  <a:srgbClr val="282828"/>
                </a:solidFill>
                <a:latin typeface="Helvetica"/>
                <a:ea typeface="Helvetica"/>
                <a:cs typeface="Helvetica"/>
                <a:sym typeface="Helvetica"/>
              </a:defRPr>
            </a:pPr>
            <a:r>
              <a:t>旅游特写locality feature; travelogue</a:t>
            </a:r>
          </a:p>
          <a:p>
            <a:pPr marL="394335" indent="-394335" defTabSz="228600">
              <a:spcBef>
                <a:spcPts val="0"/>
              </a:spcBef>
              <a:buSzPct val="100000"/>
              <a:buChar char="•"/>
              <a:defRPr sz="6900" b="1">
                <a:solidFill>
                  <a:srgbClr val="282828"/>
                </a:solidFill>
                <a:latin typeface="Helvetica"/>
                <a:ea typeface="Helvetica"/>
                <a:cs typeface="Helvetica"/>
                <a:sym typeface="Helvetica"/>
              </a:defRPr>
            </a:pPr>
            <a:r>
              <a:t>亲历特写personal experience feature; eyewitness  account; eye-account; I-account</a:t>
            </a:r>
          </a:p>
          <a:p>
            <a:pPr marL="0" indent="0" defTabSz="2286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rPr u="sng"/>
              <a:t> </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Definitions of Features"/>
          <p:cNvSpPr txBox="1">
            <a:spLocks noGrp="1"/>
          </p:cNvSpPr>
          <p:nvPr>
            <p:ph type="title"/>
          </p:nvPr>
        </p:nvSpPr>
        <p:spPr>
          <a:prstGeom prst="rect">
            <a:avLst/>
          </a:prstGeom>
        </p:spPr>
        <p:txBody>
          <a:bodyPr/>
          <a:lstStyle/>
          <a:p>
            <a:r>
              <a:t>Definitions of Features </a:t>
            </a:r>
          </a:p>
        </p:txBody>
      </p:sp>
      <p:sp>
        <p:nvSpPr>
          <p:cNvPr id="206" name="A news feature is a type of feature story written in the style of a news article. It tackles a topic with painstaking detail and requires facts and research to back the story.…"/>
          <p:cNvSpPr txBox="1">
            <a:spLocks noGrp="1"/>
          </p:cNvSpPr>
          <p:nvPr>
            <p:ph type="body" idx="1"/>
          </p:nvPr>
        </p:nvSpPr>
        <p:spPr>
          <a:prstGeom prst="rect">
            <a:avLst/>
          </a:prstGeom>
        </p:spPr>
        <p:txBody>
          <a:bodyPr>
            <a:normAutofit fontScale="55000" lnSpcReduction="20000"/>
          </a:bodyPr>
          <a:lstStyle/>
          <a:p>
            <a:pPr marL="0" indent="0" defTabSz="2286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rPr b="1"/>
              <a:t>A news feature is a type of feature story written in the style of a news article.</a:t>
            </a:r>
            <a:r>
              <a:t> It tackles a topic with painstaking detail and requires facts and research to back the story.</a:t>
            </a:r>
          </a:p>
          <a:p>
            <a:pPr marL="0" indent="0" defTabSz="2286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endParaRPr/>
          </a:p>
          <a:p>
            <a:pPr marL="0" indent="0" defTabSz="2286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t>News features are increasingly found in publications, as they are more engaging for readers than hard news. To write a news feature, journalists must focus on </a:t>
            </a:r>
            <a:r>
              <a:rPr u="sng"/>
              <a:t>a specific topic </a:t>
            </a:r>
            <a:r>
              <a:t>that can be thoroughly covered within a given word count. The topic must also be important and include firsthand accounts of real people, opinions from experts and facts and evidences to establish the truth and gravity of the issue. Though their topics have a local focus, news features should put everything together and show that there's larger context to the issue.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500" fill="hold"/>
                                        <p:tgtEl>
                                          <p:spTgt spid="2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6">
                                            <p:txEl>
                                              <p:pRg st="2" end="2"/>
                                            </p:txEl>
                                          </p:spTgt>
                                        </p:tgtEl>
                                        <p:attrNameLst>
                                          <p:attrName>style.visibility</p:attrName>
                                        </p:attrNameLst>
                                      </p:cBhvr>
                                      <p:to>
                                        <p:strVal val="visible"/>
                                      </p:to>
                                    </p:set>
                                    <p:anim calcmode="lin" valueType="num">
                                      <p:cBhvr additive="base">
                                        <p:cTn id="13" dur="500" fill="hold"/>
                                        <p:tgtEl>
                                          <p:spTgt spid="20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Definitions of Features"/>
          <p:cNvSpPr txBox="1">
            <a:spLocks noGrp="1"/>
          </p:cNvSpPr>
          <p:nvPr>
            <p:ph type="title"/>
          </p:nvPr>
        </p:nvSpPr>
        <p:spPr>
          <a:prstGeom prst="rect">
            <a:avLst/>
          </a:prstGeom>
        </p:spPr>
        <p:txBody>
          <a:bodyPr/>
          <a:lstStyle/>
          <a:p>
            <a:r>
              <a:t>Definitions of Features </a:t>
            </a:r>
          </a:p>
        </p:txBody>
      </p:sp>
      <p:sp>
        <p:nvSpPr>
          <p:cNvPr id="209" name="A news feature brings out the best in a reporter. It reflects the reporter’s writing skills and hard work. It is built around a news point and has plenty of information to hold reader attention.…"/>
          <p:cNvSpPr txBox="1">
            <a:spLocks noGrp="1"/>
          </p:cNvSpPr>
          <p:nvPr>
            <p:ph type="body" idx="1"/>
          </p:nvPr>
        </p:nvSpPr>
        <p:spPr>
          <a:prstGeom prst="rect">
            <a:avLst/>
          </a:prstGeom>
        </p:spPr>
        <p:txBody>
          <a:bodyPr>
            <a:normAutofit fontScale="70000" lnSpcReduction="20000"/>
          </a:bodyPr>
          <a:lstStyle/>
          <a:p>
            <a:pPr marL="0" indent="0" defTabSz="228600">
              <a:spcBef>
                <a:spcPts val="300"/>
              </a:spcBef>
              <a:buSzTx/>
              <a:buNone/>
              <a:defRPr sz="4800">
                <a:solidFill>
                  <a:srgbClr val="000000"/>
                </a:solidFill>
                <a:latin typeface="Times Roman"/>
                <a:ea typeface="Times Roman"/>
                <a:cs typeface="Times Roman"/>
                <a:sym typeface="Times Roman"/>
              </a:defRPr>
            </a:pPr>
            <a:r>
              <a:t>A news feature brings out the best in a reporter. It reflects the reporter’s writing skills and hard work. It is built around a news point and has plenty of information to hold reader attention.</a:t>
            </a:r>
          </a:p>
          <a:p>
            <a:pPr marL="0" indent="0" defTabSz="228600">
              <a:spcBef>
                <a:spcPts val="300"/>
              </a:spcBef>
              <a:buSzTx/>
              <a:buNone/>
              <a:defRPr sz="4800">
                <a:solidFill>
                  <a:srgbClr val="000000"/>
                </a:solidFill>
                <a:latin typeface="Times Roman"/>
                <a:ea typeface="Times Roman"/>
                <a:cs typeface="Times Roman"/>
                <a:sym typeface="Times Roman"/>
              </a:defRPr>
            </a:pPr>
            <a:r>
              <a:t>There is no one single way in which a news feature can be written. Each writer has his own style, which may differ from subject to subject. This is what makes news features unique.</a:t>
            </a:r>
            <a:endParaRPr sz="800"/>
          </a:p>
          <a:p>
            <a:pPr marL="0" indent="0" defTabSz="228600">
              <a:spcBef>
                <a:spcPts val="0"/>
              </a:spcBef>
              <a:buSzTx/>
              <a:buNone/>
              <a:defRPr sz="3200">
                <a:solidFill>
                  <a:srgbClr val="02020B"/>
                </a:solidFill>
                <a:latin typeface="Arial" panose="020B0604020202090204"/>
                <a:ea typeface="Arial" panose="020B0604020202090204"/>
                <a:cs typeface="Arial" panose="020B0604020202090204"/>
                <a:sym typeface="Arial" panose="020B0604020202090204"/>
              </a:defRPr>
            </a:pPr>
            <a:r>
              <a:rPr u="sng"/>
              <a:t>https://www.thoughtco.com/tips-for-producing-great-news-features-2074291</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9">
                                            <p:txEl>
                                              <p:pRg st="0" end="0"/>
                                            </p:txEl>
                                          </p:spTgt>
                                        </p:tgtEl>
                                        <p:attrNameLst>
                                          <p:attrName>style.visibility</p:attrName>
                                        </p:attrNameLst>
                                      </p:cBhvr>
                                      <p:to>
                                        <p:strVal val="visible"/>
                                      </p:to>
                                    </p:set>
                                    <p:anim calcmode="lin" valueType="num">
                                      <p:cBhvr additive="base">
                                        <p:cTn id="7" dur="500" fill="hold"/>
                                        <p:tgtEl>
                                          <p:spTgt spid="2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9">
                                            <p:txEl>
                                              <p:pRg st="1" end="1"/>
                                            </p:txEl>
                                          </p:spTgt>
                                        </p:tgtEl>
                                        <p:attrNameLst>
                                          <p:attrName>style.visibility</p:attrName>
                                        </p:attrNameLst>
                                      </p:cBhvr>
                                      <p:to>
                                        <p:strVal val="visible"/>
                                      </p:to>
                                    </p:set>
                                    <p:anim calcmode="lin" valueType="num">
                                      <p:cBhvr additive="base">
                                        <p:cTn id="13" dur="500" fill="hold"/>
                                        <p:tgtEl>
                                          <p:spTgt spid="2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9">
                                            <p:txEl>
                                              <p:pRg st="2" end="2"/>
                                            </p:txEl>
                                          </p:spTgt>
                                        </p:tgtEl>
                                        <p:attrNameLst>
                                          <p:attrName>style.visibility</p:attrName>
                                        </p:attrNameLst>
                                      </p:cBhvr>
                                      <p:to>
                                        <p:strVal val="visible"/>
                                      </p:to>
                                    </p:set>
                                    <p:anim calcmode="lin" valueType="num">
                                      <p:cBhvr additive="base">
                                        <p:cTn id="19" dur="500" fill="hold"/>
                                        <p:tgtEl>
                                          <p:spTgt spid="20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Definitions of Features"/>
          <p:cNvSpPr txBox="1">
            <a:spLocks noGrp="1"/>
          </p:cNvSpPr>
          <p:nvPr>
            <p:ph type="title"/>
          </p:nvPr>
        </p:nvSpPr>
        <p:spPr>
          <a:prstGeom prst="rect">
            <a:avLst/>
          </a:prstGeom>
        </p:spPr>
        <p:txBody>
          <a:bodyPr/>
          <a:lstStyle/>
          <a:p>
            <a:r>
              <a:t>Definitions of Features </a:t>
            </a:r>
          </a:p>
        </p:txBody>
      </p:sp>
      <p:sp>
        <p:nvSpPr>
          <p:cNvPr id="212" name="A &quot;profile feature&quot; is a newspaper article that explores the background and character of a particular person (or group). The focus should be on a news angle or a single aspect of the subject's personal or professional life.…"/>
          <p:cNvSpPr txBox="1">
            <a:spLocks noGrp="1"/>
          </p:cNvSpPr>
          <p:nvPr>
            <p:ph type="body" idx="1"/>
          </p:nvPr>
        </p:nvSpPr>
        <p:spPr>
          <a:prstGeom prst="rect">
            <a:avLst/>
          </a:prstGeom>
        </p:spPr>
        <p:txBody>
          <a:bodyPr>
            <a:normAutofit fontScale="62500" lnSpcReduction="20000"/>
          </a:bodyPr>
          <a:lstStyle/>
          <a:p>
            <a:pPr marL="0" indent="0" defTabSz="228600">
              <a:spcBef>
                <a:spcPts val="0"/>
              </a:spcBef>
              <a:buSzTx/>
              <a:buNone/>
              <a:defRPr sz="4400">
                <a:solidFill>
                  <a:srgbClr val="444444"/>
                </a:solidFill>
              </a:defRPr>
            </a:pPr>
            <a:r>
              <a:t>A "profile feature" is a newspaper article that explores the background and character of a particular person (or group). The focus should be on a news angle or a single aspect of the subject's personal or professional life.</a:t>
            </a:r>
          </a:p>
          <a:p>
            <a:pPr marL="0" indent="0" defTabSz="228600">
              <a:spcBef>
                <a:spcPts val="0"/>
              </a:spcBef>
              <a:buSzTx/>
              <a:buNone/>
              <a:defRPr sz="4400">
                <a:solidFill>
                  <a:srgbClr val="444444"/>
                </a:solidFill>
              </a:defRPr>
            </a:pPr>
            <a:endParaRPr/>
          </a:p>
          <a:p>
            <a:pPr marL="0" indent="0" defTabSz="228600">
              <a:spcBef>
                <a:spcPts val="0"/>
              </a:spcBef>
              <a:buSzTx/>
              <a:buNone/>
              <a:defRPr sz="4400">
                <a:solidFill>
                  <a:srgbClr val="444444"/>
                </a:solidFill>
              </a:defRPr>
            </a:pPr>
            <a:r>
              <a:t>A travelogue is a truthful account of an individual’s experiences traveling, usually told in the past tense and in the first person.</a:t>
            </a:r>
          </a:p>
          <a:p>
            <a:pPr marL="0" indent="0" defTabSz="228600">
              <a:spcBef>
                <a:spcPts val="0"/>
              </a:spcBef>
              <a:buSzTx/>
              <a:buNone/>
              <a:defRPr sz="4400">
                <a:solidFill>
                  <a:srgbClr val="444444"/>
                </a:solidFill>
              </a:defRPr>
            </a:pPr>
            <a:endParaRPr/>
          </a:p>
          <a:p>
            <a:pPr marL="0" indent="0" defTabSz="228600">
              <a:spcBef>
                <a:spcPts val="0"/>
              </a:spcBef>
              <a:buSzTx/>
              <a:buNone/>
              <a:defRPr sz="4400">
                <a:solidFill>
                  <a:srgbClr val="444444"/>
                </a:solidFill>
              </a:defRPr>
            </a:pPr>
            <a:r>
              <a:rPr>
                <a:solidFill>
                  <a:srgbClr val="666666"/>
                </a:solidFill>
              </a:rPr>
              <a:t>Eyewitness account definition:</a:t>
            </a:r>
            <a:r>
              <a:t> a description given by someone who was present at an event</a:t>
            </a:r>
            <a:r>
              <a:rPr>
                <a:solidFill>
                  <a:srgbClr val="666666"/>
                </a:solidFill>
              </a:rPr>
              <a:t>.</a:t>
            </a:r>
            <a:r>
              <a:rPr u="sng"/>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12">
                                            <p:txEl>
                                              <p:pRg st="0" end="0"/>
                                            </p:txEl>
                                          </p:spTgt>
                                        </p:tgtEl>
                                        <p:attrNameLst>
                                          <p:attrName>style.visibility</p:attrName>
                                        </p:attrNameLst>
                                      </p:cBhvr>
                                      <p:to>
                                        <p:strVal val="visible"/>
                                      </p:to>
                                    </p:set>
                                    <p:animEffect transition="in" filter="diamond(in)">
                                      <p:cBhvr>
                                        <p:cTn id="7" dur="2000"/>
                                        <p:tgtEl>
                                          <p:spTgt spid="2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12">
                                            <p:txEl>
                                              <p:pRg st="2" end="2"/>
                                            </p:txEl>
                                          </p:spTgt>
                                        </p:tgtEl>
                                        <p:attrNameLst>
                                          <p:attrName>style.visibility</p:attrName>
                                        </p:attrNameLst>
                                      </p:cBhvr>
                                      <p:to>
                                        <p:strVal val="visible"/>
                                      </p:to>
                                    </p:set>
                                    <p:animEffect transition="in" filter="diamond(in)">
                                      <p:cBhvr>
                                        <p:cTn id="12" dur="2000"/>
                                        <p:tgtEl>
                                          <p:spTgt spid="2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12">
                                            <p:txEl>
                                              <p:pRg st="4" end="4"/>
                                            </p:txEl>
                                          </p:spTgt>
                                        </p:tgtEl>
                                        <p:attrNameLst>
                                          <p:attrName>style.visibility</p:attrName>
                                        </p:attrNameLst>
                                      </p:cBhvr>
                                      <p:to>
                                        <p:strVal val="visible"/>
                                      </p:to>
                                    </p:set>
                                    <p:animEffect transition="in" filter="diamond(in)">
                                      <p:cBhvr>
                                        <p:cTn id="17" dur="2000"/>
                                        <p:tgtEl>
                                          <p:spTgt spid="2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Difference between a News story and  a Feature"/>
          <p:cNvSpPr txBox="1">
            <a:spLocks noGrp="1"/>
          </p:cNvSpPr>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Difference between a News story and  a Feature </a:t>
            </a:r>
          </a:p>
        </p:txBody>
      </p:sp>
      <p:sp>
        <p:nvSpPr>
          <p:cNvPr id="215" name="1.Time factor – features are not as time-dependent as news stories…"/>
          <p:cNvSpPr txBox="1">
            <a:spLocks noGrp="1"/>
          </p:cNvSpPr>
          <p:nvPr>
            <p:ph type="body" idx="1"/>
          </p:nvPr>
        </p:nvSpPr>
        <p:spPr>
          <a:xfrm>
            <a:off x="952818" y="1067435"/>
            <a:ext cx="10846753" cy="5506085"/>
          </a:xfrm>
          <a:prstGeom prst="rect">
            <a:avLst/>
          </a:prstGeom>
        </p:spPr>
        <p:txBody>
          <a:bodyPr>
            <a:normAutofit fontScale="77500" lnSpcReduction="20000"/>
          </a:bodyPr>
          <a:lstStyle/>
          <a:p>
            <a:pPr marL="0" indent="0" defTabSz="205423">
              <a:spcBef>
                <a:spcPts val="250"/>
              </a:spcBef>
              <a:buSzTx/>
              <a:buNone/>
              <a:defRPr sz="4320">
                <a:solidFill>
                  <a:srgbClr val="000000"/>
                </a:solidFill>
                <a:latin typeface="Times Roman"/>
                <a:ea typeface="Times Roman"/>
                <a:cs typeface="Times Roman"/>
                <a:sym typeface="Times Roman"/>
              </a:defRPr>
            </a:pPr>
            <a:r>
              <a:t>1.</a:t>
            </a:r>
            <a:r>
              <a:rPr b="1"/>
              <a:t>Time factor </a:t>
            </a:r>
          </a:p>
          <a:p>
            <a:pPr marL="0" indent="0" defTabSz="205423">
              <a:spcBef>
                <a:spcPts val="250"/>
              </a:spcBef>
              <a:buSzTx/>
              <a:buNone/>
              <a:defRPr sz="4320">
                <a:solidFill>
                  <a:srgbClr val="000000"/>
                </a:solidFill>
                <a:latin typeface="Times Roman"/>
                <a:ea typeface="Times Roman"/>
                <a:cs typeface="Times Roman"/>
                <a:sym typeface="Times Roman"/>
              </a:defRPr>
            </a:pPr>
            <a:endParaRPr b="1"/>
          </a:p>
          <a:p>
            <a:pPr marL="0" indent="0" defTabSz="205423">
              <a:spcBef>
                <a:spcPts val="250"/>
              </a:spcBef>
              <a:buSzTx/>
              <a:buNone/>
              <a:defRPr sz="4320">
                <a:solidFill>
                  <a:srgbClr val="000000"/>
                </a:solidFill>
                <a:latin typeface="Times Roman"/>
                <a:ea typeface="Times Roman"/>
                <a:cs typeface="Times Roman"/>
                <a:sym typeface="Times Roman"/>
              </a:defRPr>
            </a:pPr>
            <a:r>
              <a:t>2. </a:t>
            </a:r>
            <a:r>
              <a:rPr b="1"/>
              <a:t>Writing style</a:t>
            </a:r>
            <a:r>
              <a:t> </a:t>
            </a:r>
          </a:p>
          <a:p>
            <a:pPr marL="0" indent="0" defTabSz="205423">
              <a:spcBef>
                <a:spcPts val="250"/>
              </a:spcBef>
              <a:buSzTx/>
              <a:buNone/>
              <a:defRPr sz="4320">
                <a:solidFill>
                  <a:srgbClr val="000000"/>
                </a:solidFill>
                <a:latin typeface="Times Roman"/>
                <a:ea typeface="Times Roman"/>
                <a:cs typeface="Times Roman"/>
                <a:sym typeface="Times Roman"/>
              </a:defRPr>
            </a:pPr>
            <a:endParaRPr/>
          </a:p>
          <a:p>
            <a:pPr marL="0" indent="0" defTabSz="205423">
              <a:spcBef>
                <a:spcPts val="250"/>
              </a:spcBef>
              <a:buSzTx/>
              <a:buNone/>
              <a:defRPr sz="4320">
                <a:solidFill>
                  <a:srgbClr val="000000"/>
                </a:solidFill>
                <a:latin typeface="Times Roman"/>
                <a:ea typeface="Times Roman"/>
                <a:cs typeface="Times Roman"/>
                <a:sym typeface="Times Roman"/>
              </a:defRPr>
            </a:pPr>
            <a:r>
              <a:t>3. </a:t>
            </a:r>
            <a:r>
              <a:rPr b="1"/>
              <a:t>The length </a:t>
            </a:r>
          </a:p>
          <a:p>
            <a:pPr marL="0" indent="0" defTabSz="205423">
              <a:spcBef>
                <a:spcPts val="250"/>
              </a:spcBef>
              <a:buSzTx/>
              <a:buNone/>
              <a:defRPr sz="4320">
                <a:solidFill>
                  <a:srgbClr val="000000"/>
                </a:solidFill>
                <a:latin typeface="Times Roman"/>
                <a:ea typeface="Times Roman"/>
                <a:cs typeface="Times Roman"/>
                <a:sym typeface="Times Roman"/>
              </a:defRPr>
            </a:pPr>
            <a:endParaRPr b="1"/>
          </a:p>
          <a:p>
            <a:pPr marL="0" indent="0" defTabSz="205423">
              <a:spcBef>
                <a:spcPts val="250"/>
              </a:spcBef>
              <a:buSzTx/>
              <a:buNone/>
              <a:defRPr sz="4320">
                <a:solidFill>
                  <a:srgbClr val="000000"/>
                </a:solidFill>
                <a:latin typeface="Times Roman"/>
                <a:ea typeface="Times Roman"/>
                <a:cs typeface="Times Roman"/>
                <a:sym typeface="Times Roman"/>
              </a:defRPr>
            </a:pPr>
            <a:r>
              <a:t>4. </a:t>
            </a:r>
            <a:r>
              <a:rPr b="1"/>
              <a:t>The lead </a:t>
            </a:r>
          </a:p>
          <a:p>
            <a:pPr marL="0" indent="0" defTabSz="205423">
              <a:spcBef>
                <a:spcPts val="250"/>
              </a:spcBef>
              <a:buSzTx/>
              <a:buNone/>
              <a:defRPr sz="4320">
                <a:solidFill>
                  <a:srgbClr val="000000"/>
                </a:solidFill>
                <a:latin typeface="Times Roman"/>
                <a:ea typeface="Times Roman"/>
                <a:cs typeface="Times Roman"/>
                <a:sym typeface="Times Roman"/>
              </a:defRPr>
            </a:pPr>
            <a:endParaRPr b="1"/>
          </a:p>
          <a:p>
            <a:pPr marL="0" indent="0" defTabSz="205423">
              <a:spcBef>
                <a:spcPts val="250"/>
              </a:spcBef>
              <a:buSzTx/>
              <a:buNone/>
              <a:defRPr sz="4320">
                <a:solidFill>
                  <a:srgbClr val="000000"/>
                </a:solidFill>
                <a:latin typeface="Times Roman"/>
                <a:ea typeface="Times Roman"/>
                <a:cs typeface="Times Roman"/>
                <a:sym typeface="Times Roman"/>
              </a:defRPr>
            </a:pPr>
            <a:r>
              <a:t>5. </a:t>
            </a:r>
            <a:r>
              <a:rPr b="1"/>
              <a:t>The ending</a:t>
            </a:r>
          </a:p>
          <a:p>
            <a:pPr marL="0" indent="0" defTabSz="205423">
              <a:spcBef>
                <a:spcPts val="250"/>
              </a:spcBef>
              <a:buSzTx/>
              <a:buNone/>
              <a:defRPr sz="4320">
                <a:solidFill>
                  <a:srgbClr val="000000"/>
                </a:solidFill>
                <a:latin typeface="Times Roman"/>
                <a:ea typeface="Times Roman"/>
                <a:cs typeface="Times Roman"/>
                <a:sym typeface="Times Roman"/>
              </a:defRPr>
            </a:pPr>
            <a:endParaRPr b="1"/>
          </a:p>
          <a:p>
            <a:pPr marL="0" indent="0" defTabSz="205423">
              <a:spcBef>
                <a:spcPts val="250"/>
              </a:spcBef>
              <a:buSzTx/>
              <a:buNone/>
              <a:defRPr sz="4320">
                <a:solidFill>
                  <a:srgbClr val="000000"/>
                </a:solidFill>
                <a:latin typeface="Times Roman"/>
                <a:ea typeface="Times Roman"/>
                <a:cs typeface="Times Roman"/>
                <a:sym typeface="Times Roman"/>
              </a:defRPr>
            </a:pPr>
            <a:r>
              <a:rPr u="sng"/>
              <a:t>https://hosbeg.com/difference-between-a-news-story-and-a-feature/</a:t>
            </a:r>
          </a:p>
        </p:txBody>
      </p:sp>
      <p:sp>
        <p:nvSpPr>
          <p:cNvPr id="2" name="右箭头 1">
            <a:hlinkClick r:id="rId2" action="ppaction://hlinksldjump"/>
          </p:cNvPr>
          <p:cNvSpPr/>
          <p:nvPr/>
        </p:nvSpPr>
        <p:spPr>
          <a:xfrm>
            <a:off x="3395663" y="1825789"/>
            <a:ext cx="900113" cy="866130"/>
          </a:xfrm>
          <a:prstGeom prst="rightArrow">
            <a:avLst/>
          </a:prstGeom>
          <a:blipFill rotWithShape="1">
            <a:blip r:embed="rId3"/>
            <a:srcRect/>
            <a:tile tx="0" ty="0" sx="100000" sy="100000" flip="none" algn="tl"/>
          </a:blip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25400" tIns="25400" rIns="25400" bIns="25400" numCol="1" spcCol="38100" rtlCol="0" anchor="ctr" forceAA="0">
            <a:spAutoFit/>
          </a:bodyPr>
          <a:lstStyle/>
          <a:p>
            <a:pPr algn="ctr" defTabSz="412750" hangingPunct="0"/>
            <a:endParaRPr lang="zh-CN" altLang="en-US" sz="2500" kern="0">
              <a:solidFill>
                <a:srgbClr val="FFFFFF"/>
              </a:solidFill>
              <a:latin typeface="Helvetica Neue" panose="02000503000000020004"/>
              <a:ea typeface="Helvetica Neue" panose="02000503000000020004"/>
              <a:cs typeface="Helvetica Neue" panose="02000503000000020004"/>
              <a:sym typeface="Helvetica Neue" panose="020005030000000200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 calcmode="lin" valueType="num">
                                      <p:cBhvr additive="base">
                                        <p:cTn id="7" dur="500" fill="hold"/>
                                        <p:tgtEl>
                                          <p:spTgt spid="2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
                                            <p:txEl>
                                              <p:pRg st="2" end="2"/>
                                            </p:txEl>
                                          </p:spTgt>
                                        </p:tgtEl>
                                        <p:attrNameLst>
                                          <p:attrName>style.visibility</p:attrName>
                                        </p:attrNameLst>
                                      </p:cBhvr>
                                      <p:to>
                                        <p:strVal val="visible"/>
                                      </p:to>
                                    </p:set>
                                    <p:anim calcmode="lin" valueType="num">
                                      <p:cBhvr additive="base">
                                        <p:cTn id="13" dur="500" fill="hold"/>
                                        <p:tgtEl>
                                          <p:spTgt spid="2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
                                            <p:txEl>
                                              <p:pRg st="4" end="4"/>
                                            </p:txEl>
                                          </p:spTgt>
                                        </p:tgtEl>
                                        <p:attrNameLst>
                                          <p:attrName>style.visibility</p:attrName>
                                        </p:attrNameLst>
                                      </p:cBhvr>
                                      <p:to>
                                        <p:strVal val="visible"/>
                                      </p:to>
                                    </p:set>
                                    <p:anim calcmode="lin" valueType="num">
                                      <p:cBhvr additive="base">
                                        <p:cTn id="19" dur="500" fill="hold"/>
                                        <p:tgtEl>
                                          <p:spTgt spid="2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
                                            <p:txEl>
                                              <p:pRg st="6" end="6"/>
                                            </p:txEl>
                                          </p:spTgt>
                                        </p:tgtEl>
                                        <p:attrNameLst>
                                          <p:attrName>style.visibility</p:attrName>
                                        </p:attrNameLst>
                                      </p:cBhvr>
                                      <p:to>
                                        <p:strVal val="visible"/>
                                      </p:to>
                                    </p:set>
                                    <p:anim calcmode="lin" valueType="num">
                                      <p:cBhvr additive="base">
                                        <p:cTn id="25" dur="500" fill="hold"/>
                                        <p:tgtEl>
                                          <p:spTgt spid="2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
                                            <p:txEl>
                                              <p:pRg st="8" end="8"/>
                                            </p:txEl>
                                          </p:spTgt>
                                        </p:tgtEl>
                                        <p:attrNameLst>
                                          <p:attrName>style.visibility</p:attrName>
                                        </p:attrNameLst>
                                      </p:cBhvr>
                                      <p:to>
                                        <p:strVal val="visible"/>
                                      </p:to>
                                    </p:set>
                                    <p:anim calcmode="lin" valueType="num">
                                      <p:cBhvr additive="base">
                                        <p:cTn id="31" dur="500" fill="hold"/>
                                        <p:tgtEl>
                                          <p:spTgt spid="21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
                                            <p:txEl>
                                              <p:pRg st="10" end="10"/>
                                            </p:txEl>
                                          </p:spTgt>
                                        </p:tgtEl>
                                        <p:attrNameLst>
                                          <p:attrName>style.visibility</p:attrName>
                                        </p:attrNameLst>
                                      </p:cBhvr>
                                      <p:to>
                                        <p:strVal val="visible"/>
                                      </p:to>
                                    </p:set>
                                    <p:anim calcmode="lin" valueType="num">
                                      <p:cBhvr additive="base">
                                        <p:cTn id="37" dur="500" fill="hold"/>
                                        <p:tgtEl>
                                          <p:spTgt spid="215">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checkerboard(across)">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uiExpand="1" build="p"/>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Difference between a News story and  a Feature"/>
          <p:cNvSpPr txBox="1">
            <a:spLocks noGrp="1"/>
          </p:cNvSpPr>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Difference between a News story and  a Feature </a:t>
            </a:r>
          </a:p>
        </p:txBody>
      </p:sp>
      <p:sp>
        <p:nvSpPr>
          <p:cNvPr id="215" name="1.Time factor – features are not as time-dependent as news stories…"/>
          <p:cNvSpPr txBox="1">
            <a:spLocks noGrp="1"/>
          </p:cNvSpPr>
          <p:nvPr>
            <p:ph type="body" idx="1"/>
          </p:nvPr>
        </p:nvSpPr>
        <p:spPr>
          <a:xfrm>
            <a:off x="952818" y="1067435"/>
            <a:ext cx="10846753" cy="5506085"/>
          </a:xfrm>
          <a:prstGeom prst="rect">
            <a:avLst/>
          </a:prstGeom>
        </p:spPr>
        <p:txBody>
          <a:bodyPr>
            <a:normAutofit fontScale="55000" lnSpcReduction="20000"/>
          </a:bodyPr>
          <a:lstStyle/>
          <a:p>
            <a:pPr marL="0" indent="0" defTabSz="205423">
              <a:spcBef>
                <a:spcPts val="250"/>
              </a:spcBef>
              <a:buSzTx/>
              <a:buNone/>
              <a:defRPr sz="4320">
                <a:solidFill>
                  <a:srgbClr val="000000"/>
                </a:solidFill>
                <a:latin typeface="Times Roman"/>
                <a:ea typeface="Times Roman"/>
                <a:cs typeface="Times Roman"/>
                <a:sym typeface="Times Roman"/>
              </a:defRPr>
            </a:pPr>
            <a:r>
              <a:t>1.</a:t>
            </a:r>
            <a:r>
              <a:rPr b="1"/>
              <a:t>Time factor</a:t>
            </a:r>
            <a:r>
              <a:t> </a:t>
            </a:r>
            <a:r>
              <a:rPr b="1"/>
              <a:t>– </a:t>
            </a:r>
            <a:r>
              <a:t>features are not as time-dependent as news stories</a:t>
            </a:r>
          </a:p>
          <a:p>
            <a:pPr marL="0" indent="0" defTabSz="205423">
              <a:spcBef>
                <a:spcPts val="250"/>
              </a:spcBef>
              <a:buSzTx/>
              <a:buNone/>
              <a:defRPr sz="4320">
                <a:solidFill>
                  <a:srgbClr val="000000"/>
                </a:solidFill>
                <a:latin typeface="Times Roman"/>
                <a:ea typeface="Times Roman"/>
                <a:cs typeface="Times Roman"/>
                <a:sym typeface="Times Roman"/>
              </a:defRPr>
            </a:pPr>
            <a:r>
              <a:t>2. </a:t>
            </a:r>
            <a:r>
              <a:rPr b="1"/>
              <a:t>Writing style</a:t>
            </a:r>
            <a:r>
              <a:t> </a:t>
            </a:r>
            <a:r>
              <a:rPr b="1"/>
              <a:t>– </a:t>
            </a:r>
            <a:r>
              <a:t>News stories: go straight to the point; use simple and very effective words to deliver the facts quickly. Feature stories: have a creative structure</a:t>
            </a:r>
            <a:r>
              <a:rPr lang="en-US"/>
              <a:t>, </a:t>
            </a:r>
            <a:r>
              <a:t> colorful and flowery.</a:t>
            </a:r>
          </a:p>
          <a:p>
            <a:pPr marL="0" indent="0" defTabSz="205423">
              <a:spcBef>
                <a:spcPts val="250"/>
              </a:spcBef>
              <a:buSzTx/>
              <a:buNone/>
              <a:defRPr sz="4320">
                <a:solidFill>
                  <a:srgbClr val="000000"/>
                </a:solidFill>
                <a:latin typeface="Times Roman"/>
                <a:ea typeface="Times Roman"/>
                <a:cs typeface="Times Roman"/>
                <a:sym typeface="Times Roman"/>
              </a:defRPr>
            </a:pPr>
            <a:r>
              <a:t>3. </a:t>
            </a:r>
            <a:r>
              <a:rPr b="1"/>
              <a:t>The length –</a:t>
            </a:r>
            <a:r>
              <a:t> a news story is shorter than a feature story</a:t>
            </a:r>
            <a:r>
              <a:rPr lang="en-US"/>
              <a:t>, </a:t>
            </a:r>
            <a:r>
              <a:t>can vary from just a couple of sentences to about 600 words, but a feature story can be longer than 2000 words – especially in magazines.</a:t>
            </a:r>
          </a:p>
          <a:p>
            <a:pPr marL="0" indent="0" defTabSz="205423">
              <a:spcBef>
                <a:spcPts val="250"/>
              </a:spcBef>
              <a:buSzTx/>
              <a:buNone/>
              <a:defRPr sz="4320">
                <a:solidFill>
                  <a:srgbClr val="000000"/>
                </a:solidFill>
                <a:latin typeface="Times Roman"/>
                <a:ea typeface="Times Roman"/>
                <a:cs typeface="Times Roman"/>
                <a:sym typeface="Times Roman"/>
              </a:defRPr>
            </a:pPr>
            <a:r>
              <a:t>4. </a:t>
            </a:r>
            <a:r>
              <a:rPr b="1"/>
              <a:t>The lead –</a:t>
            </a:r>
            <a:r>
              <a:t> the lead of a feature does not give the news instead it gets the reader interested in reading the rest of the story. News story leads sell the story. They tell what the news is about and tell all the most important details about the news.</a:t>
            </a:r>
          </a:p>
          <a:p>
            <a:pPr marL="0" indent="0" defTabSz="205423">
              <a:spcBef>
                <a:spcPts val="250"/>
              </a:spcBef>
              <a:buSzTx/>
              <a:buNone/>
              <a:defRPr sz="4320">
                <a:solidFill>
                  <a:srgbClr val="000000"/>
                </a:solidFill>
                <a:latin typeface="Times Roman"/>
                <a:ea typeface="Times Roman"/>
                <a:cs typeface="Times Roman"/>
                <a:sym typeface="Times Roman"/>
              </a:defRPr>
            </a:pPr>
            <a:r>
              <a:t>5. </a:t>
            </a:r>
            <a:r>
              <a:rPr b="1"/>
              <a:t>The ending –</a:t>
            </a:r>
            <a:r>
              <a:t> a news story can end anywhere after the most important things have been mentioned, but a feature story has to be ended in specific manner. Features have to end in such a way that the reader feels satisfied for having kept on reading. The feature ending is more like a reward to the reader.</a:t>
            </a:r>
          </a:p>
          <a:p>
            <a:pPr marL="120015" indent="-120015" defTabSz="205423">
              <a:spcBef>
                <a:spcPts val="0"/>
              </a:spcBef>
              <a:buSzTx/>
              <a:buNone/>
              <a:defRPr sz="1350">
                <a:solidFill>
                  <a:srgbClr val="222222"/>
                </a:solidFill>
                <a:latin typeface="Verdana" panose="020B0804030504040204"/>
                <a:ea typeface="Verdana" panose="020B0804030504040204"/>
                <a:cs typeface="Verdana" panose="020B0804030504040204"/>
                <a:sym typeface="Verdana" panose="020B0804030504040204"/>
              </a:defRPr>
            </a:pPr>
            <a:endParaRPr/>
          </a:p>
          <a:p>
            <a:pPr marL="0" indent="0" defTabSz="205423">
              <a:spcBef>
                <a:spcPts val="250"/>
              </a:spcBef>
              <a:buSzTx/>
              <a:buNone/>
              <a:defRPr sz="4320">
                <a:solidFill>
                  <a:srgbClr val="000000"/>
                </a:solidFill>
                <a:latin typeface="Times Roman"/>
                <a:ea typeface="Times Roman"/>
                <a:cs typeface="Times Roman"/>
                <a:sym typeface="Times Roman"/>
              </a:defRPr>
            </a:pPr>
            <a:r>
              <a:rPr u="sng"/>
              <a:t>https://hosbeg.com/difference-between-a-news-story-and-a-feature/</a:t>
            </a:r>
          </a:p>
        </p:txBody>
      </p:sp>
      <p:sp>
        <p:nvSpPr>
          <p:cNvPr id="2" name="左箭头 1">
            <a:hlinkClick r:id="rId2" action="ppaction://hlinksldjump"/>
          </p:cNvPr>
          <p:cNvSpPr/>
          <p:nvPr/>
        </p:nvSpPr>
        <p:spPr>
          <a:xfrm>
            <a:off x="10884535" y="5822320"/>
            <a:ext cx="756285" cy="866130"/>
          </a:xfrm>
          <a:prstGeom prst="leftArrow">
            <a:avLst/>
          </a:prstGeom>
          <a:blipFill rotWithShape="1">
            <a:blip r:embed="rId3"/>
            <a:srcRect/>
            <a:tile tx="0" ty="0" sx="100000" sy="100000" flip="none" algn="tl"/>
          </a:blip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25400" tIns="25400" rIns="25400" bIns="25400" numCol="1" spcCol="38100" rtlCol="0" anchor="ctr" forceAA="0">
            <a:spAutoFit/>
          </a:bodyPr>
          <a:lstStyle/>
          <a:p>
            <a:pPr algn="ctr" defTabSz="412750" hangingPunct="0"/>
            <a:endParaRPr lang="zh-CN" altLang="en-US" sz="2500" kern="0">
              <a:solidFill>
                <a:srgbClr val="FFFFFF"/>
              </a:solidFill>
              <a:latin typeface="Helvetica Neue" panose="02000503000000020004"/>
              <a:ea typeface="Helvetica Neue" panose="02000503000000020004"/>
              <a:cs typeface="Helvetica Neue" panose="02000503000000020004"/>
              <a:sym typeface="Helvetica Neue" panose="02000503000000020004"/>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 calcmode="lin" valueType="num">
                                      <p:cBhvr additive="base">
                                        <p:cTn id="7" dur="500" fill="hold"/>
                                        <p:tgtEl>
                                          <p:spTgt spid="2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
                                            <p:txEl>
                                              <p:pRg st="1" end="1"/>
                                            </p:txEl>
                                          </p:spTgt>
                                        </p:tgtEl>
                                        <p:attrNameLst>
                                          <p:attrName>style.visibility</p:attrName>
                                        </p:attrNameLst>
                                      </p:cBhvr>
                                      <p:to>
                                        <p:strVal val="visible"/>
                                      </p:to>
                                    </p:set>
                                    <p:anim calcmode="lin" valueType="num">
                                      <p:cBhvr additive="base">
                                        <p:cTn id="13" dur="500" fill="hold"/>
                                        <p:tgtEl>
                                          <p:spTgt spid="2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
                                            <p:txEl>
                                              <p:pRg st="2" end="2"/>
                                            </p:txEl>
                                          </p:spTgt>
                                        </p:tgtEl>
                                        <p:attrNameLst>
                                          <p:attrName>style.visibility</p:attrName>
                                        </p:attrNameLst>
                                      </p:cBhvr>
                                      <p:to>
                                        <p:strVal val="visible"/>
                                      </p:to>
                                    </p:set>
                                    <p:anim calcmode="lin" valueType="num">
                                      <p:cBhvr additive="base">
                                        <p:cTn id="19" dur="500" fill="hold"/>
                                        <p:tgtEl>
                                          <p:spTgt spid="2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
                                            <p:txEl>
                                              <p:pRg st="3" end="3"/>
                                            </p:txEl>
                                          </p:spTgt>
                                        </p:tgtEl>
                                        <p:attrNameLst>
                                          <p:attrName>style.visibility</p:attrName>
                                        </p:attrNameLst>
                                      </p:cBhvr>
                                      <p:to>
                                        <p:strVal val="visible"/>
                                      </p:to>
                                    </p:set>
                                    <p:anim calcmode="lin" valueType="num">
                                      <p:cBhvr additive="base">
                                        <p:cTn id="25" dur="500" fill="hold"/>
                                        <p:tgtEl>
                                          <p:spTgt spid="2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
                                            <p:txEl>
                                              <p:pRg st="4" end="4"/>
                                            </p:txEl>
                                          </p:spTgt>
                                        </p:tgtEl>
                                        <p:attrNameLst>
                                          <p:attrName>style.visibility</p:attrName>
                                        </p:attrNameLst>
                                      </p:cBhvr>
                                      <p:to>
                                        <p:strVal val="visible"/>
                                      </p:to>
                                    </p:set>
                                    <p:anim calcmode="lin" valueType="num">
                                      <p:cBhvr additive="base">
                                        <p:cTn id="31" dur="500" fill="hold"/>
                                        <p:tgtEl>
                                          <p:spTgt spid="2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
                                            <p:txEl>
                                              <p:pRg st="6" end="6"/>
                                            </p:txEl>
                                          </p:spTgt>
                                        </p:tgtEl>
                                        <p:attrNameLst>
                                          <p:attrName>style.visibility</p:attrName>
                                        </p:attrNameLst>
                                      </p:cBhvr>
                                      <p:to>
                                        <p:strVal val="visible"/>
                                      </p:to>
                                    </p:set>
                                    <p:anim calcmode="lin" valueType="num">
                                      <p:cBhvr additive="base">
                                        <p:cTn id="37" dur="500" fill="hold"/>
                                        <p:tgtEl>
                                          <p:spTgt spid="21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a:spLocks noGrp="1"/>
          </p:cNvSpPr>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Structure of a Feature </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a:spLocks noGrp="1"/>
          </p:cNvSpPr>
          <p:nvPr>
            <p:ph type="body" idx="1"/>
          </p:nvPr>
        </p:nvSpPr>
        <p:spPr>
          <a:xfrm>
            <a:off x="835025" y="1067435"/>
            <a:ext cx="10964545" cy="5485130"/>
          </a:xfrm>
          <a:prstGeom prst="rect">
            <a:avLst/>
          </a:prstGeom>
        </p:spPr>
        <p:txBody>
          <a:bodyPr>
            <a:normAutofit/>
          </a:bodyPr>
          <a:lstStyle/>
          <a:p>
            <a:pPr marL="0" indent="0" defTabSz="212408">
              <a:spcBef>
                <a:spcPts val="300"/>
              </a:spcBef>
              <a:buSzTx/>
              <a:buNone/>
              <a:defRPr sz="4465">
                <a:solidFill>
                  <a:srgbClr val="000000"/>
                </a:solidFill>
                <a:latin typeface="Times Roman"/>
                <a:ea typeface="Times Roman"/>
                <a:cs typeface="Times Roman"/>
                <a:sym typeface="Times Roman"/>
              </a:defRPr>
            </a:pPr>
            <a:r>
              <a:rPr sz="3300" b="1">
                <a:latin typeface="Times New Roman" panose="02020503050405090304"/>
                <a:ea typeface="Times New Roman" panose="02020503050405090304"/>
                <a:cs typeface="Times New Roman" panose="02020503050405090304"/>
              </a:rPr>
              <a:t>1.Intro or Lead </a:t>
            </a:r>
          </a:p>
          <a:p>
            <a:pPr marL="0" indent="0" defTabSz="212408">
              <a:spcBef>
                <a:spcPts val="300"/>
              </a:spcBef>
              <a:buSzTx/>
              <a:buNone/>
              <a:defRPr sz="4465">
                <a:solidFill>
                  <a:srgbClr val="000000"/>
                </a:solidFill>
                <a:latin typeface="Times Roman"/>
                <a:ea typeface="Times Roman"/>
                <a:cs typeface="Times Roman"/>
                <a:sym typeface="Times Roman"/>
              </a:defRPr>
            </a:pPr>
            <a:r>
              <a:rPr sz="3300" b="1">
                <a:latin typeface="Times New Roman" panose="02020503050405090304"/>
                <a:ea typeface="Times New Roman" panose="02020503050405090304"/>
                <a:cs typeface="Times New Roman" panose="02020503050405090304"/>
              </a:rPr>
              <a:t>2.Transition</a:t>
            </a:r>
            <a:endParaRPr sz="3300">
              <a:latin typeface="Times New Roman" panose="02020503050405090304"/>
              <a:ea typeface="Times New Roman" panose="02020503050405090304"/>
              <a:cs typeface="Times New Roman" panose="02020503050405090304"/>
            </a:endParaRPr>
          </a:p>
          <a:p>
            <a:pPr marL="0" indent="0" defTabSz="212408">
              <a:spcBef>
                <a:spcPts val="0"/>
              </a:spcBef>
              <a:buSzTx/>
              <a:buNone/>
              <a:defRPr sz="4370" b="1">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3. Body</a:t>
            </a:r>
            <a:endParaRPr sz="3300">
              <a:sym typeface="Times Roman"/>
            </a:endParaRPr>
          </a:p>
          <a:p>
            <a:pPr marL="0" indent="0" defTabSz="212408">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b="1">
                <a:sym typeface="Times Roman"/>
              </a:rPr>
              <a:t>4. Conclusion</a:t>
            </a:r>
          </a:p>
          <a:p>
            <a:pPr marL="0" indent="0" defTabSz="212408">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b="1">
                <a:sym typeface="Times Roman"/>
              </a:rPr>
              <a:t>5. Length</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a:spLocks noGrp="1"/>
          </p:cNvSpPr>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rPr lang="en-US"/>
              <a:t>Structure of a Feature - Intro or Lead</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a:spLocks noGrp="1"/>
          </p:cNvSpPr>
          <p:nvPr>
            <p:ph type="body" idx="1"/>
          </p:nvPr>
        </p:nvSpPr>
        <p:spPr>
          <a:xfrm>
            <a:off x="835025" y="1067435"/>
            <a:ext cx="10964545" cy="5485130"/>
          </a:xfrm>
          <a:prstGeom prst="rect">
            <a:avLst/>
          </a:prstGeom>
        </p:spPr>
        <p:txBody>
          <a:bodyPr>
            <a:normAutofit/>
          </a:bodyPr>
          <a:lstStyle/>
          <a:p>
            <a:pPr marL="0" indent="0" defTabSz="212408">
              <a:spcBef>
                <a:spcPts val="300"/>
              </a:spcBef>
              <a:buSzTx/>
              <a:buNone/>
              <a:defRPr sz="4465">
                <a:solidFill>
                  <a:srgbClr val="000000"/>
                </a:solidFill>
                <a:latin typeface="Times Roman"/>
                <a:ea typeface="Times Roman"/>
                <a:cs typeface="Times Roman"/>
                <a:sym typeface="Times Roman"/>
              </a:defRPr>
            </a:pPr>
            <a:r>
              <a:rPr sz="3300" b="1">
                <a:latin typeface="Times New Roman" panose="02020503050405090304"/>
                <a:ea typeface="Times New Roman" panose="02020503050405090304"/>
                <a:cs typeface="Times New Roman" panose="02020503050405090304"/>
              </a:rPr>
              <a:t>1.Intro or Lead </a:t>
            </a:r>
            <a:r>
              <a:rPr sz="3300">
                <a:latin typeface="Times New Roman" panose="02020503050405090304"/>
                <a:ea typeface="Times New Roman" panose="02020503050405090304"/>
                <a:cs typeface="Times New Roman" panose="02020503050405090304"/>
              </a:rPr>
              <a:t>The lead must attract immediate attention and pull the reader </a:t>
            </a:r>
          </a:p>
          <a:p>
            <a:pPr marL="0" indent="0" defTabSz="212408">
              <a:spcBef>
                <a:spcPts val="300"/>
              </a:spcBef>
              <a:buSzTx/>
              <a:buNone/>
              <a:defRPr sz="4465">
                <a:solidFill>
                  <a:srgbClr val="000000"/>
                </a:solidFill>
                <a:latin typeface="Times Roman"/>
                <a:ea typeface="Times Roman"/>
                <a:cs typeface="Times Roman"/>
                <a:sym typeface="Times Roman"/>
              </a:defRPr>
            </a:pPr>
            <a:r>
              <a:rPr sz="3300">
                <a:latin typeface="Times New Roman" panose="02020503050405090304"/>
                <a:ea typeface="Times New Roman" panose="02020503050405090304"/>
                <a:cs typeface="Times New Roman" panose="02020503050405090304"/>
              </a:rPr>
              <a:t>into the story. </a:t>
            </a:r>
          </a:p>
          <a:p>
            <a:pPr marL="0" indent="0" defTabSz="212408">
              <a:spcBef>
                <a:spcPts val="300"/>
              </a:spcBef>
              <a:buSzTx/>
              <a:buNone/>
              <a:defRPr sz="4465">
                <a:solidFill>
                  <a:srgbClr val="000000"/>
                </a:solidFill>
                <a:latin typeface="Times Roman"/>
                <a:ea typeface="Times Roman"/>
                <a:cs typeface="Times Roman"/>
                <a:sym typeface="Times Roman"/>
              </a:defRPr>
            </a:pPr>
            <a:r>
              <a:rPr sz="3300">
                <a:latin typeface="Times New Roman" panose="02020503050405090304"/>
                <a:ea typeface="Times New Roman" panose="02020503050405090304"/>
                <a:cs typeface="Times New Roman" panose="02020503050405090304"/>
              </a:rPr>
              <a:t>Leads can vary in style and content. You can use description, narration, dialogue, question, unusual statement, call to action, comparison-contrast. </a:t>
            </a:r>
          </a:p>
          <a:p>
            <a:pPr marL="0" indent="0" defTabSz="212408">
              <a:spcBef>
                <a:spcPts val="300"/>
              </a:spcBef>
              <a:buSzTx/>
              <a:buNone/>
              <a:defRPr sz="4465">
                <a:solidFill>
                  <a:srgbClr val="000000"/>
                </a:solidFill>
                <a:latin typeface="Times Roman"/>
                <a:ea typeface="Times Roman"/>
                <a:cs typeface="Times Roman"/>
                <a:sym typeface="Times Roman"/>
              </a:defRPr>
            </a:pPr>
            <a:endParaRPr>
              <a:latin typeface="Times Roman"/>
              <a:ea typeface="Times Roman"/>
              <a:cs typeface="Times Roman"/>
              <a:sym typeface="Times Roman"/>
            </a:endParaRPr>
          </a:p>
          <a:p>
            <a:pPr marL="0" indent="0" defTabSz="212408">
              <a:spcBef>
                <a:spcPts val="0"/>
              </a:spcBef>
              <a:buSzTx/>
              <a:buNone/>
              <a:defRPr sz="149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a:spLocks noGrp="1"/>
          </p:cNvSpPr>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Structure of a Feature </a:t>
            </a:r>
            <a:r>
              <a:rPr lang="en-US"/>
              <a:t>- Transtion</a:t>
            </a:r>
            <a:r>
              <a:t> </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a:spLocks noGrp="1"/>
          </p:cNvSpPr>
          <p:nvPr>
            <p:ph type="body" idx="1"/>
          </p:nvPr>
        </p:nvSpPr>
        <p:spPr>
          <a:xfrm>
            <a:off x="835025" y="1067435"/>
            <a:ext cx="10964545" cy="5485130"/>
          </a:xfrm>
          <a:prstGeom prst="rect">
            <a:avLst/>
          </a:prstGeom>
        </p:spPr>
        <p:txBody>
          <a:bodyPr>
            <a:normAutofit/>
          </a:bodyPr>
          <a:lstStyle/>
          <a:p>
            <a:pPr marL="0" indent="0" defTabSz="212408">
              <a:spcBef>
                <a:spcPts val="300"/>
              </a:spcBef>
              <a:buSzTx/>
              <a:buNone/>
              <a:defRPr sz="4465">
                <a:solidFill>
                  <a:srgbClr val="000000"/>
                </a:solidFill>
                <a:latin typeface="Times Roman"/>
                <a:ea typeface="Times Roman"/>
                <a:cs typeface="Times Roman"/>
                <a:sym typeface="Times Roman"/>
              </a:defRPr>
            </a:pPr>
            <a:r>
              <a:rPr sz="3300" b="1">
                <a:latin typeface="Times New Roman" panose="02020503050405090304"/>
                <a:ea typeface="Times New Roman" panose="02020503050405090304"/>
                <a:cs typeface="Times New Roman" panose="02020503050405090304"/>
              </a:rPr>
              <a:t>2.Transition</a:t>
            </a:r>
          </a:p>
          <a:p>
            <a:pPr marL="0" indent="0" defTabSz="212408">
              <a:spcBef>
                <a:spcPts val="300"/>
              </a:spcBef>
              <a:buSzTx/>
              <a:buNone/>
              <a:defRPr sz="4465">
                <a:solidFill>
                  <a:srgbClr val="000000"/>
                </a:solidFill>
                <a:latin typeface="Times Roman"/>
                <a:ea typeface="Times Roman"/>
                <a:cs typeface="Times Roman"/>
                <a:sym typeface="Times Roman"/>
              </a:defRPr>
            </a:pPr>
            <a:r>
              <a:rPr sz="3300">
                <a:latin typeface="Times New Roman" panose="02020503050405090304"/>
                <a:ea typeface="Times New Roman" panose="02020503050405090304"/>
                <a:cs typeface="Times New Roman" panose="02020503050405090304"/>
              </a:rPr>
              <a:t>No matter how good the lead is, you need a solid transition into </a:t>
            </a:r>
          </a:p>
          <a:p>
            <a:pPr marL="0" indent="0" defTabSz="212408">
              <a:spcBef>
                <a:spcPts val="300"/>
              </a:spcBef>
              <a:buSzTx/>
              <a:buNone/>
              <a:defRPr sz="4465">
                <a:solidFill>
                  <a:srgbClr val="000000"/>
                </a:solidFill>
                <a:latin typeface="Times Roman"/>
                <a:ea typeface="Times Roman"/>
                <a:cs typeface="Times Roman"/>
                <a:sym typeface="Times Roman"/>
              </a:defRPr>
            </a:pPr>
            <a:r>
              <a:rPr sz="3300">
                <a:latin typeface="Times New Roman" panose="02020503050405090304"/>
                <a:ea typeface="Times New Roman" panose="02020503050405090304"/>
                <a:cs typeface="Times New Roman" panose="02020503050405090304"/>
              </a:rPr>
              <a:t>the body of the feature. If you think of the lead as a lure to attract the audience, then the transition sets the hook. </a:t>
            </a:r>
          </a:p>
          <a:p>
            <a:pPr marL="0" indent="0" defTabSz="212408">
              <a:spcBef>
                <a:spcPts val="300"/>
              </a:spcBef>
              <a:buSzTx/>
              <a:buNone/>
              <a:defRPr sz="4465">
                <a:solidFill>
                  <a:srgbClr val="000000"/>
                </a:solidFill>
                <a:latin typeface="Times Roman"/>
                <a:ea typeface="Times Roman"/>
                <a:cs typeface="Times Roman"/>
                <a:sym typeface="Times Roman"/>
              </a:defRPr>
            </a:pPr>
            <a:r>
              <a:rPr sz="3300">
                <a:latin typeface="Times New Roman" panose="02020503050405090304"/>
                <a:ea typeface="Times New Roman" panose="02020503050405090304"/>
                <a:cs typeface="Times New Roman" panose="02020503050405090304"/>
              </a:rPr>
              <a:t>It makes the reader want to continue.  And it promises some kind of satisfaction  or reward. The reward can be entertainment, information or self-awareness but has to be something of value to the reader.</a:t>
            </a:r>
            <a:endParaRPr sz="2185">
              <a:latin typeface="Times New Roman" panose="02020503050405090304"/>
              <a:ea typeface="Times New Roman" panose="02020503050405090304"/>
              <a:cs typeface="Times New Roman" panose="02020503050405090304"/>
            </a:endParaRPr>
          </a:p>
          <a:p>
            <a:pPr marL="0" indent="0" defTabSz="212408">
              <a:spcBef>
                <a:spcPts val="0"/>
              </a:spcBef>
              <a:buSzTx/>
              <a:buNone/>
              <a:defRPr sz="4370" b="1">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a:p>
            <a:pPr marL="0" indent="0" defTabSz="212408">
              <a:spcBef>
                <a:spcPts val="0"/>
              </a:spcBef>
              <a:buSzTx/>
              <a:buNone/>
              <a:defRPr sz="149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tructure of a Feature"/>
          <p:cNvSpPr txBox="1">
            <a:spLocks noGrp="1"/>
          </p:cNvSpPr>
          <p:nvPr>
            <p:ph type="title"/>
          </p:nvPr>
        </p:nvSpPr>
        <p:spPr>
          <a:xfrm>
            <a:off x="736600" y="0"/>
            <a:ext cx="10718800" cy="1162941"/>
          </a:xfrm>
          <a:prstGeom prst="rect">
            <a:avLst/>
          </a:prstGeom>
        </p:spPr>
        <p:txBody>
          <a:bodyPr>
            <a:normAutofit fontScale="90000"/>
          </a:bodyPr>
          <a:lstStyle>
            <a:lvl1pPr defTabSz="577850">
              <a:defRPr sz="7560">
                <a:effectLst>
                  <a:outerShdw blurRad="44450" dist="8890" dir="5400000" rotWithShape="0">
                    <a:srgbClr val="000000">
                      <a:alpha val="30000"/>
                    </a:srgbClr>
                  </a:outerShdw>
                </a:effectLst>
              </a:defRPr>
            </a:lvl1pPr>
          </a:lstStyle>
          <a:p>
            <a:r>
              <a:t>Structure of a Feature </a:t>
            </a:r>
            <a:r>
              <a:rPr lang="en-US"/>
              <a:t>- Body</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a:spLocks noGrp="1"/>
          </p:cNvSpPr>
          <p:nvPr>
            <p:ph type="body" idx="1"/>
          </p:nvPr>
        </p:nvSpPr>
        <p:spPr>
          <a:xfrm>
            <a:off x="835025" y="1067435"/>
            <a:ext cx="10964545" cy="5485130"/>
          </a:xfrm>
          <a:prstGeom prst="rect">
            <a:avLst/>
          </a:prstGeom>
        </p:spPr>
        <p:txBody>
          <a:bodyPr>
            <a:normAutofit/>
          </a:bodyPr>
          <a:lstStyle/>
          <a:p>
            <a:pPr marL="0" indent="0" defTabSz="212408">
              <a:spcBef>
                <a:spcPts val="300"/>
              </a:spcBef>
              <a:buSzTx/>
              <a:buNone/>
              <a:defRPr sz="4465">
                <a:solidFill>
                  <a:srgbClr val="000000"/>
                </a:solidFill>
                <a:latin typeface="Times Roman"/>
                <a:ea typeface="Times Roman"/>
                <a:cs typeface="Times Roman"/>
                <a:sym typeface="Times Roman"/>
              </a:defRPr>
            </a:pPr>
            <a:r>
              <a:rPr sz="3300"/>
              <a:t>3. Body</a:t>
            </a:r>
            <a:endParaRPr sz="3300">
              <a:latin typeface="Times Roman"/>
              <a:ea typeface="Times Roman"/>
              <a:cs typeface="Times Roman"/>
              <a:sym typeface="Times Roman"/>
            </a:endParaRPr>
          </a:p>
          <a:p>
            <a:pPr marL="0" indent="0" defTabSz="212408">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Sound knowledge of the subject, coupled with good writing </a:t>
            </a:r>
          </a:p>
          <a:p>
            <a:pPr marL="0" indent="0" defTabSz="212408">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skills, will let you take the reader through a variety of experiences. You should use the standard writing devices of crisp dialogue, documental but vivid fact and detail, </a:t>
            </a:r>
          </a:p>
          <a:p>
            <a:pPr marL="0" indent="0" defTabSz="212408">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careful observation, suspense and if appropriate, plot.</a:t>
            </a:r>
            <a:endParaRPr>
              <a:latin typeface="Times Roman"/>
              <a:ea typeface="Times Roman"/>
              <a:cs typeface="Times Roman"/>
              <a:sym typeface="Times Roman"/>
            </a:endParaRPr>
          </a:p>
          <a:p>
            <a:pPr marL="0" indent="0" defTabSz="212408">
              <a:spcBef>
                <a:spcPts val="0"/>
              </a:spcBef>
              <a:buSzTx/>
              <a:buNone/>
              <a:defRPr sz="149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Structure of a Feature"/>
          <p:cNvSpPr txBox="1">
            <a:spLocks noGrp="1"/>
          </p:cNvSpPr>
          <p:nvPr>
            <p:ph type="title"/>
          </p:nvPr>
        </p:nvSpPr>
        <p:spPr>
          <a:xfrm>
            <a:off x="736600" y="38264"/>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Body</a:t>
            </a:r>
          </a:p>
        </p:txBody>
      </p:sp>
      <p:sp>
        <p:nvSpPr>
          <p:cNvPr id="221" name="3.1 Body is the major area…"/>
          <p:cNvSpPr txBox="1">
            <a:spLocks noGrp="1"/>
          </p:cNvSpPr>
          <p:nvPr>
            <p:ph type="body" idx="1"/>
          </p:nvPr>
        </p:nvSpPr>
        <p:spPr>
          <a:xfrm>
            <a:off x="899478" y="1174433"/>
            <a:ext cx="10556240" cy="5428298"/>
          </a:xfrm>
          <a:prstGeom prst="rect">
            <a:avLst/>
          </a:prstGeom>
        </p:spPr>
        <p:txBody>
          <a:bodyPr>
            <a:normAutofit fontScale="75000" lnSpcReduction="10000"/>
          </a:bodyPr>
          <a:lstStyle/>
          <a:p>
            <a:pPr marL="0" indent="0" defTabSz="159703">
              <a:spcBef>
                <a:spcPts val="200"/>
              </a:spcBef>
              <a:buSzTx/>
              <a:buNone/>
              <a:defRPr sz="3360" b="1">
                <a:solidFill>
                  <a:srgbClr val="000000"/>
                </a:solidFill>
                <a:latin typeface="Times Roman"/>
                <a:ea typeface="Times Roman"/>
                <a:cs typeface="Times Roman"/>
                <a:sym typeface="Times Roman"/>
              </a:defRPr>
            </a:pPr>
            <a:r>
              <a:rPr sz="3000"/>
              <a:t>3.1 Body is the major area </a:t>
            </a:r>
          </a:p>
          <a:p>
            <a:pPr marL="0" indent="0" defTabSz="159703">
              <a:spcBef>
                <a:spcPts val="200"/>
              </a:spcBef>
              <a:buSzTx/>
              <a:buNone/>
              <a:defRPr sz="3360">
                <a:solidFill>
                  <a:srgbClr val="000000"/>
                </a:solidFill>
                <a:latin typeface="Times Roman"/>
                <a:ea typeface="Times Roman"/>
                <a:cs typeface="Times Roman"/>
                <a:sym typeface="Times Roman"/>
              </a:defRPr>
            </a:pPr>
            <a:r>
              <a:rPr sz="3000"/>
              <a:t>Whenever, one is writing the body of a feature  which can carry many short pieces</a:t>
            </a:r>
          </a:p>
          <a:p>
            <a:pPr marL="0" indent="0" defTabSz="159703">
              <a:spcBef>
                <a:spcPts val="200"/>
              </a:spcBef>
              <a:buSzTx/>
              <a:buNone/>
              <a:defRPr sz="3360">
                <a:solidFill>
                  <a:srgbClr val="000000"/>
                </a:solidFill>
                <a:latin typeface="Times Roman"/>
                <a:ea typeface="Times Roman"/>
                <a:cs typeface="Times Roman"/>
                <a:sym typeface="Times Roman"/>
              </a:defRPr>
            </a:pPr>
            <a:r>
              <a:rPr sz="3000"/>
              <a:t> following points must be kept in mind.</a:t>
            </a:r>
          </a:p>
          <a:p>
            <a:pPr marL="0" indent="0" defTabSz="159703">
              <a:spcBef>
                <a:spcPts val="200"/>
              </a:spcBef>
              <a:buSzTx/>
              <a:buNone/>
              <a:defRPr sz="3360">
                <a:solidFill>
                  <a:srgbClr val="000000"/>
                </a:solidFill>
                <a:latin typeface="Times Roman"/>
                <a:ea typeface="Times Roman"/>
                <a:cs typeface="Times Roman"/>
                <a:sym typeface="Times Roman"/>
              </a:defRPr>
            </a:pPr>
            <a:r>
              <a:rPr sz="3000" b="1"/>
              <a:t>3.2 Never fill it, important part </a:t>
            </a:r>
            <a:r>
              <a:rPr sz="3000"/>
              <a:t>People can try to fill the part only may be thinking that the reader has been gripped into a certain situation and he will stick to reading the feature. It is never the case as the newspaper reading is a willing one, and if the reader feels that he is being bored or over-burdened, he might leave it even in the middle of the feature. So every word and concept must be rightly written and </a:t>
            </a:r>
          </a:p>
          <a:p>
            <a:pPr marL="0" indent="0" defTabSz="159703">
              <a:spcBef>
                <a:spcPts val="200"/>
              </a:spcBef>
              <a:buSzTx/>
              <a:buNone/>
              <a:defRPr sz="3360">
                <a:solidFill>
                  <a:srgbClr val="000000"/>
                </a:solidFill>
                <a:latin typeface="Times Roman"/>
                <a:ea typeface="Times Roman"/>
                <a:cs typeface="Times Roman"/>
                <a:sym typeface="Times Roman"/>
              </a:defRPr>
            </a:pPr>
            <a:r>
              <a:rPr sz="3000"/>
              <a:t>rightly placed. </a:t>
            </a:r>
          </a:p>
          <a:p>
            <a:pPr marL="0" indent="0" defTabSz="159703">
              <a:spcBef>
                <a:spcPts val="200"/>
              </a:spcBef>
              <a:buSzTx/>
              <a:buNone/>
              <a:defRPr sz="3360" b="1">
                <a:solidFill>
                  <a:srgbClr val="000000"/>
                </a:solidFill>
                <a:latin typeface="Times Roman"/>
                <a:ea typeface="Times Roman"/>
                <a:cs typeface="Times Roman"/>
                <a:sym typeface="Times Roman"/>
              </a:defRPr>
            </a:pPr>
            <a:r>
              <a:rPr sz="3000"/>
              <a:t>3.3 Should be well-connected, forceful and coordinated </a:t>
            </a:r>
          </a:p>
          <a:p>
            <a:pPr marL="0" indent="0" defTabSz="159703">
              <a:spcBef>
                <a:spcPts val="200"/>
              </a:spcBef>
              <a:buSzTx/>
              <a:buNone/>
              <a:defRPr sz="3360">
                <a:solidFill>
                  <a:srgbClr val="000000"/>
                </a:solidFill>
                <a:latin typeface="Times Roman"/>
                <a:ea typeface="Times Roman"/>
                <a:cs typeface="Times Roman"/>
                <a:sym typeface="Times Roman"/>
              </a:defRPr>
            </a:pPr>
            <a:r>
              <a:rPr sz="3000"/>
              <a:t>All the paragraphs of the main body should be well-connected with each other. Jumping from one idea to another should be well-thought and must be seen whether it is getting its connection to the previous or the following paragraphs. Never take it for granted that the reader is going to form linkages in the thought process. </a:t>
            </a:r>
          </a:p>
          <a:p>
            <a:pPr marL="0" indent="0" defTabSz="159703">
              <a:spcBef>
                <a:spcPts val="200"/>
              </a:spcBef>
              <a:buSzTx/>
              <a:buNone/>
              <a:defRPr sz="3360">
                <a:solidFill>
                  <a:srgbClr val="000000"/>
                </a:solidFill>
                <a:latin typeface="Times Roman"/>
                <a:ea typeface="Times Roman"/>
                <a:cs typeface="Times Roman"/>
                <a:sym typeface="Times Roman"/>
              </a:defRPr>
            </a:pPr>
            <a:endParaRPr sz="3000"/>
          </a:p>
        </p:txBody>
      </p:sp>
    </p:spTree>
  </p:cSld>
  <p:clrMapOvr>
    <a:masterClrMapping/>
  </p:clrMapOvr>
  <p:transition spd="med">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1">
                                            <p:txEl>
                                              <p:pRg st="0" end="0"/>
                                            </p:txEl>
                                          </p:spTgt>
                                        </p:tgtEl>
                                        <p:attrNameLst>
                                          <p:attrName>style.visibility</p:attrName>
                                        </p:attrNameLst>
                                      </p:cBhvr>
                                      <p:to>
                                        <p:strVal val="visible"/>
                                      </p:to>
                                    </p:set>
                                    <p:anim calcmode="lin" valueType="num">
                                      <p:cBhvr additive="base">
                                        <p:cTn id="7" dur="500" fill="hold"/>
                                        <p:tgtEl>
                                          <p:spTgt spid="2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1">
                                            <p:txEl>
                                              <p:pRg st="1" end="1"/>
                                            </p:txEl>
                                          </p:spTgt>
                                        </p:tgtEl>
                                        <p:attrNameLst>
                                          <p:attrName>style.visibility</p:attrName>
                                        </p:attrNameLst>
                                      </p:cBhvr>
                                      <p:to>
                                        <p:strVal val="visible"/>
                                      </p:to>
                                    </p:set>
                                    <p:anim calcmode="lin" valueType="num">
                                      <p:cBhvr additive="base">
                                        <p:cTn id="13" dur="500" fill="hold"/>
                                        <p:tgtEl>
                                          <p:spTgt spid="22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1">
                                            <p:txEl>
                                              <p:pRg st="2" end="2"/>
                                            </p:txEl>
                                          </p:spTgt>
                                        </p:tgtEl>
                                        <p:attrNameLst>
                                          <p:attrName>style.visibility</p:attrName>
                                        </p:attrNameLst>
                                      </p:cBhvr>
                                      <p:to>
                                        <p:strVal val="visible"/>
                                      </p:to>
                                    </p:set>
                                    <p:anim calcmode="lin" valueType="num">
                                      <p:cBhvr additive="base">
                                        <p:cTn id="19" dur="500" fill="hold"/>
                                        <p:tgtEl>
                                          <p:spTgt spid="22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1">
                                            <p:txEl>
                                              <p:pRg st="3" end="3"/>
                                            </p:txEl>
                                          </p:spTgt>
                                        </p:tgtEl>
                                        <p:attrNameLst>
                                          <p:attrName>style.visibility</p:attrName>
                                        </p:attrNameLst>
                                      </p:cBhvr>
                                      <p:to>
                                        <p:strVal val="visible"/>
                                      </p:to>
                                    </p:set>
                                    <p:anim calcmode="lin" valueType="num">
                                      <p:cBhvr additive="base">
                                        <p:cTn id="25" dur="500" fill="hold"/>
                                        <p:tgtEl>
                                          <p:spTgt spid="22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1">
                                            <p:txEl>
                                              <p:pRg st="4" end="4"/>
                                            </p:txEl>
                                          </p:spTgt>
                                        </p:tgtEl>
                                        <p:attrNameLst>
                                          <p:attrName>style.visibility</p:attrName>
                                        </p:attrNameLst>
                                      </p:cBhvr>
                                      <p:to>
                                        <p:strVal val="visible"/>
                                      </p:to>
                                    </p:set>
                                    <p:anim calcmode="lin" valueType="num">
                                      <p:cBhvr additive="base">
                                        <p:cTn id="31" dur="500" fill="hold"/>
                                        <p:tgtEl>
                                          <p:spTgt spid="22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1">
                                            <p:txEl>
                                              <p:pRg st="5" end="5"/>
                                            </p:txEl>
                                          </p:spTgt>
                                        </p:tgtEl>
                                        <p:attrNameLst>
                                          <p:attrName>style.visibility</p:attrName>
                                        </p:attrNameLst>
                                      </p:cBhvr>
                                      <p:to>
                                        <p:strVal val="visible"/>
                                      </p:to>
                                    </p:set>
                                    <p:anim calcmode="lin" valueType="num">
                                      <p:cBhvr additive="base">
                                        <p:cTn id="37" dur="500" fill="hold"/>
                                        <p:tgtEl>
                                          <p:spTgt spid="22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1">
                                            <p:txEl>
                                              <p:pRg st="6" end="6"/>
                                            </p:txEl>
                                          </p:spTgt>
                                        </p:tgtEl>
                                        <p:attrNameLst>
                                          <p:attrName>style.visibility</p:attrName>
                                        </p:attrNameLst>
                                      </p:cBhvr>
                                      <p:to>
                                        <p:strVal val="visible"/>
                                      </p:to>
                                    </p:set>
                                    <p:anim calcmode="lin" valueType="num">
                                      <p:cBhvr additive="base">
                                        <p:cTn id="43" dur="500" fill="hold"/>
                                        <p:tgtEl>
                                          <p:spTgt spid="22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Structure of a Feature"/>
          <p:cNvSpPr txBox="1">
            <a:spLocks noGrp="1"/>
          </p:cNvSpPr>
          <p:nvPr>
            <p:ph type="title"/>
          </p:nvPr>
        </p:nvSpPr>
        <p:spPr>
          <a:xfrm>
            <a:off x="736600" y="38264"/>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Body</a:t>
            </a:r>
          </a:p>
        </p:txBody>
      </p:sp>
      <p:sp>
        <p:nvSpPr>
          <p:cNvPr id="221" name="3.1 Body is the major area…"/>
          <p:cNvSpPr txBox="1">
            <a:spLocks noGrp="1"/>
          </p:cNvSpPr>
          <p:nvPr>
            <p:ph type="body" idx="1"/>
          </p:nvPr>
        </p:nvSpPr>
        <p:spPr>
          <a:xfrm>
            <a:off x="601980" y="937895"/>
            <a:ext cx="11197590" cy="5822950"/>
          </a:xfrm>
          <a:prstGeom prst="rect">
            <a:avLst/>
          </a:prstGeom>
        </p:spPr>
        <p:txBody>
          <a:bodyPr>
            <a:noAutofit/>
          </a:bodyPr>
          <a:lstStyle/>
          <a:p>
            <a:pPr marL="0" indent="0" defTabSz="159703">
              <a:spcBef>
                <a:spcPts val="200"/>
              </a:spcBef>
              <a:buSzTx/>
              <a:buNone/>
              <a:defRPr sz="3360" b="1">
                <a:solidFill>
                  <a:srgbClr val="000000"/>
                </a:solidFill>
                <a:latin typeface="Times Roman"/>
                <a:ea typeface="Times Roman"/>
                <a:cs typeface="Times Roman"/>
                <a:sym typeface="Times Roman"/>
              </a:defRPr>
            </a:pPr>
            <a:r>
              <a:rPr sz="2200"/>
              <a:t>3.4 Avoid unnecessary details </a:t>
            </a:r>
          </a:p>
          <a:p>
            <a:pPr marL="0" indent="0" defTabSz="159703">
              <a:spcBef>
                <a:spcPts val="200"/>
              </a:spcBef>
              <a:buSzTx/>
              <a:buNone/>
              <a:defRPr sz="3360">
                <a:solidFill>
                  <a:srgbClr val="000000"/>
                </a:solidFill>
                <a:latin typeface="Times Roman"/>
                <a:ea typeface="Times Roman"/>
                <a:cs typeface="Times Roman"/>
                <a:sym typeface="Times Roman"/>
              </a:defRPr>
            </a:pPr>
            <a:r>
              <a:rPr sz="2200"/>
              <a:t>When we say a particular portion of a feature is the main body, it never means that every detail should be put in order to fill that body. </a:t>
            </a:r>
          </a:p>
          <a:p>
            <a:pPr marL="0" indent="0" defTabSz="159703">
              <a:spcBef>
                <a:spcPts val="200"/>
              </a:spcBef>
              <a:buSzTx/>
              <a:buNone/>
              <a:defRPr sz="3360">
                <a:solidFill>
                  <a:srgbClr val="000000"/>
                </a:solidFill>
                <a:latin typeface="Times Roman"/>
                <a:ea typeface="Times Roman"/>
                <a:cs typeface="Times Roman"/>
                <a:sym typeface="Times Roman"/>
              </a:defRPr>
            </a:pPr>
            <a:r>
              <a:rPr sz="2200"/>
              <a:t>There must be only relevant details without any stuffing-the-sack idea. The writer must consider that the main body is as important as the other portions of the feature. Concentrating in the same manner like the way the Intro or the Lead is written, the reader will remain absorbed in the story.</a:t>
            </a:r>
          </a:p>
          <a:p>
            <a:pPr marL="0" indent="0" defTabSz="166688">
              <a:spcBef>
                <a:spcPts val="200"/>
              </a:spcBef>
              <a:buSzTx/>
              <a:buNone/>
              <a:defRPr sz="3505" b="1">
                <a:solidFill>
                  <a:srgbClr val="000000"/>
                </a:solidFill>
                <a:latin typeface="Times Roman"/>
                <a:ea typeface="Times Roman"/>
                <a:cs typeface="Times Roman"/>
                <a:sym typeface="Times Roman"/>
              </a:defRPr>
            </a:pPr>
            <a:r>
              <a:rPr sz="2200">
                <a:sym typeface="+mn-ea"/>
              </a:rPr>
              <a:t>3.5 But never omit important if it is required so</a:t>
            </a:r>
          </a:p>
          <a:p>
            <a:pPr marL="0" indent="0" defTabSz="166688">
              <a:spcBef>
                <a:spcPts val="200"/>
              </a:spcBef>
              <a:buSzTx/>
              <a:buNone/>
              <a:defRPr sz="3505">
                <a:solidFill>
                  <a:srgbClr val="000000"/>
                </a:solidFill>
                <a:latin typeface="Times Roman"/>
                <a:ea typeface="Times Roman"/>
                <a:cs typeface="Times Roman"/>
                <a:sym typeface="Times Roman"/>
              </a:defRPr>
            </a:pPr>
            <a:r>
              <a:rPr sz="2200">
                <a:sym typeface="+mn-ea"/>
              </a:rPr>
              <a:t>If unnecessary details are to be avoided, then it never means that the </a:t>
            </a:r>
          </a:p>
          <a:p>
            <a:pPr marL="0" indent="0" defTabSz="166688">
              <a:spcBef>
                <a:spcPts val="200"/>
              </a:spcBef>
              <a:buSzTx/>
              <a:buNone/>
              <a:defRPr sz="3505">
                <a:solidFill>
                  <a:srgbClr val="000000"/>
                </a:solidFill>
                <a:latin typeface="Times Roman"/>
                <a:ea typeface="Times Roman"/>
                <a:cs typeface="Times Roman"/>
                <a:sym typeface="Times Roman"/>
              </a:defRPr>
            </a:pPr>
            <a:r>
              <a:rPr sz="2200">
                <a:sym typeface="+mn-ea"/>
              </a:rPr>
              <a:t>important should be missed oromitted from the feature. Obviously the </a:t>
            </a:r>
          </a:p>
          <a:p>
            <a:pPr marL="0" indent="0" defTabSz="166688">
              <a:spcBef>
                <a:spcPts val="200"/>
              </a:spcBef>
              <a:buSzTx/>
              <a:buNone/>
              <a:defRPr sz="3505">
                <a:solidFill>
                  <a:srgbClr val="000000"/>
                </a:solidFill>
                <a:latin typeface="Times Roman"/>
                <a:ea typeface="Times Roman"/>
                <a:cs typeface="Times Roman"/>
                <a:sym typeface="Times Roman"/>
              </a:defRPr>
            </a:pPr>
            <a:r>
              <a:rPr sz="2200">
                <a:sym typeface="+mn-ea"/>
              </a:rPr>
              <a:t>responsibility of keeping this intact and observing the rule lies with the writer.</a:t>
            </a:r>
          </a:p>
          <a:p>
            <a:pPr marL="0" indent="0" defTabSz="166688">
              <a:spcBef>
                <a:spcPts val="200"/>
              </a:spcBef>
              <a:buSzTx/>
              <a:buNone/>
              <a:defRPr sz="3505">
                <a:solidFill>
                  <a:srgbClr val="000000"/>
                </a:solidFill>
                <a:latin typeface="Times Roman"/>
                <a:ea typeface="Times Roman"/>
                <a:cs typeface="Times Roman"/>
                <a:sym typeface="Times Roman"/>
              </a:defRPr>
            </a:pPr>
            <a:r>
              <a:rPr sz="2200" b="1">
                <a:sym typeface="+mn-ea"/>
              </a:rPr>
              <a:t>3.</a:t>
            </a:r>
            <a:r>
              <a:rPr lang="en-US" sz="2200" b="1">
                <a:sym typeface="+mn-ea"/>
              </a:rPr>
              <a:t>6</a:t>
            </a:r>
            <a:r>
              <a:rPr sz="2200" b="1">
                <a:sym typeface="+mn-ea"/>
              </a:rPr>
              <a:t> Building towards the climax</a:t>
            </a:r>
            <a:endParaRPr sz="2200" b="1"/>
          </a:p>
          <a:p>
            <a:pPr marL="0" indent="0" defTabSz="166688">
              <a:spcBef>
                <a:spcPts val="200"/>
              </a:spcBef>
              <a:buSzTx/>
              <a:buNone/>
              <a:defRPr sz="3505">
                <a:solidFill>
                  <a:srgbClr val="000000"/>
                </a:solidFill>
                <a:latin typeface="Times Roman"/>
                <a:ea typeface="Times Roman"/>
                <a:cs typeface="Times Roman"/>
                <a:sym typeface="Times Roman"/>
              </a:defRPr>
            </a:pPr>
            <a:r>
              <a:rPr sz="2200">
                <a:sym typeface="+mn-ea"/>
              </a:rPr>
              <a:t>Main body should be used as a portion, which is building the feature towards the climax. Hence, it must be planned in this manner that reader is expecting </a:t>
            </a:r>
          </a:p>
          <a:p>
            <a:pPr marL="0" indent="0" defTabSz="166688">
              <a:spcBef>
                <a:spcPts val="200"/>
              </a:spcBef>
              <a:buSzTx/>
              <a:buNone/>
              <a:defRPr sz="3505">
                <a:solidFill>
                  <a:srgbClr val="000000"/>
                </a:solidFill>
                <a:latin typeface="Times Roman"/>
                <a:ea typeface="Times Roman"/>
                <a:cs typeface="Times Roman"/>
                <a:sym typeface="Times Roman"/>
              </a:defRPr>
            </a:pPr>
            <a:r>
              <a:rPr sz="2200">
                <a:sym typeface="+mn-ea"/>
              </a:rPr>
              <a:t>the climax after the main body</a:t>
            </a:r>
            <a:r>
              <a:rPr sz="2200" b="1">
                <a:sym typeface="+mn-ea"/>
              </a:rPr>
              <a:t>.</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tructure of a Feature"/>
          <p:cNvSpPr txBox="1">
            <a:spLocks noGrp="1"/>
          </p:cNvSpPr>
          <p:nvPr>
            <p:ph type="title"/>
          </p:nvPr>
        </p:nvSpPr>
        <p:spPr>
          <a:xfrm>
            <a:off x="736600" y="38264"/>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Conclusion</a:t>
            </a:r>
          </a:p>
        </p:txBody>
      </p:sp>
      <p:sp>
        <p:nvSpPr>
          <p:cNvPr id="224" name="3.5 But never omit important if it is required so…"/>
          <p:cNvSpPr txBox="1">
            <a:spLocks noGrp="1"/>
          </p:cNvSpPr>
          <p:nvPr>
            <p:ph type="body" idx="1"/>
          </p:nvPr>
        </p:nvSpPr>
        <p:spPr>
          <a:xfrm>
            <a:off x="614680" y="701993"/>
            <a:ext cx="11184890" cy="6058853"/>
          </a:xfrm>
          <a:prstGeom prst="rect">
            <a:avLst/>
          </a:prstGeom>
        </p:spPr>
        <p:txBody>
          <a:bodyPr/>
          <a:lstStyle/>
          <a:p>
            <a:pPr marL="0" indent="0" defTabSz="166688">
              <a:spcBef>
                <a:spcPts val="200"/>
              </a:spcBef>
              <a:buSzTx/>
              <a:buNone/>
              <a:defRPr sz="3505" b="1">
                <a:solidFill>
                  <a:srgbClr val="000000"/>
                </a:solidFill>
                <a:latin typeface="Times Roman"/>
                <a:ea typeface="Times Roman"/>
                <a:cs typeface="Times Roman"/>
                <a:sym typeface="Times Roman"/>
              </a:defRPr>
            </a:pPr>
            <a:endParaRPr b="1"/>
          </a:p>
          <a:p>
            <a:pPr marL="0" indent="0" defTabSz="166688">
              <a:spcBef>
                <a:spcPts val="200"/>
              </a:spcBef>
              <a:buSzTx/>
              <a:buNone/>
              <a:defRPr sz="3505" b="1">
                <a:solidFill>
                  <a:srgbClr val="000000"/>
                </a:solidFill>
                <a:latin typeface="Times Roman"/>
                <a:ea typeface="Times Roman"/>
                <a:cs typeface="Times Roman"/>
                <a:sym typeface="Times Roman"/>
              </a:defRPr>
            </a:pPr>
            <a:endParaRPr b="1"/>
          </a:p>
          <a:p>
            <a:pPr marL="0" indent="0" defTabSz="166688">
              <a:spcBef>
                <a:spcPts val="200"/>
              </a:spcBef>
              <a:buSzTx/>
              <a:buNone/>
              <a:defRPr sz="3505" b="1">
                <a:solidFill>
                  <a:srgbClr val="000000"/>
                </a:solidFill>
                <a:latin typeface="Times Roman"/>
                <a:ea typeface="Times Roman"/>
                <a:cs typeface="Times Roman"/>
                <a:sym typeface="Times Roman"/>
              </a:defRPr>
            </a:pPr>
            <a:r>
              <a:rPr sz="3300"/>
              <a:t>4 Conclusion</a:t>
            </a:r>
          </a:p>
          <a:p>
            <a:pPr marL="0" indent="0" defTabSz="166688">
              <a:spcBef>
                <a:spcPts val="200"/>
              </a:spcBef>
              <a:buSzTx/>
              <a:buNone/>
              <a:defRPr sz="3505" b="1">
                <a:solidFill>
                  <a:srgbClr val="000000"/>
                </a:solidFill>
                <a:latin typeface="Times Roman"/>
                <a:ea typeface="Times Roman"/>
                <a:cs typeface="Times Roman"/>
                <a:sym typeface="Times Roman"/>
              </a:defRPr>
            </a:pPr>
            <a:r>
              <a:rPr sz="3300"/>
              <a:t>The conclusion should give the reader a sense of </a:t>
            </a:r>
          </a:p>
          <a:p>
            <a:pPr marL="0" indent="0" defTabSz="166688">
              <a:spcBef>
                <a:spcPts val="200"/>
              </a:spcBef>
              <a:buSzTx/>
              <a:buNone/>
              <a:defRPr sz="3505" b="1">
                <a:solidFill>
                  <a:srgbClr val="000000"/>
                </a:solidFill>
                <a:latin typeface="Times Roman"/>
                <a:ea typeface="Times Roman"/>
                <a:cs typeface="Times Roman"/>
                <a:sym typeface="Times Roman"/>
              </a:defRPr>
            </a:pPr>
            <a:r>
              <a:rPr sz="3300"/>
              <a:t>satisfaction. You need to tie the conclusion to the lead sothat the story has unity. Often you can do this through a short, tight summary, occasionally, </a:t>
            </a:r>
          </a:p>
          <a:p>
            <a:pPr marL="0" indent="0" defTabSz="166688">
              <a:spcBef>
                <a:spcPts val="200"/>
              </a:spcBef>
              <a:buSzTx/>
              <a:buNone/>
              <a:defRPr sz="3505" b="1">
                <a:solidFill>
                  <a:srgbClr val="000000"/>
                </a:solidFill>
                <a:latin typeface="Times Roman"/>
                <a:ea typeface="Times Roman"/>
                <a:cs typeface="Times Roman"/>
                <a:sym typeface="Times Roman"/>
              </a:defRPr>
            </a:pPr>
            <a:r>
              <a:rPr sz="3300"/>
              <a:t>you can conclude with an anecdote ora quote that </a:t>
            </a:r>
          </a:p>
          <a:p>
            <a:pPr marL="0" indent="0" defTabSz="166688">
              <a:spcBef>
                <a:spcPts val="200"/>
              </a:spcBef>
              <a:buSzTx/>
              <a:buNone/>
              <a:defRPr sz="3505" b="1">
                <a:solidFill>
                  <a:srgbClr val="000000"/>
                </a:solidFill>
                <a:latin typeface="Times Roman"/>
                <a:ea typeface="Times Roman"/>
                <a:cs typeface="Times Roman"/>
                <a:sym typeface="Times Roman"/>
              </a:defRPr>
            </a:pPr>
            <a:r>
              <a:rPr sz="3300"/>
              <a:t>sums up the substance of the story. With a narrative </a:t>
            </a:r>
          </a:p>
          <a:p>
            <a:pPr marL="0" indent="0" defTabSz="166688">
              <a:spcBef>
                <a:spcPts val="200"/>
              </a:spcBef>
              <a:buSzTx/>
              <a:buNone/>
              <a:defRPr sz="3505" b="1">
                <a:solidFill>
                  <a:srgbClr val="000000"/>
                </a:solidFill>
                <a:latin typeface="Times Roman"/>
                <a:ea typeface="Times Roman"/>
                <a:cs typeface="Times Roman"/>
                <a:sym typeface="Times Roman"/>
              </a:defRPr>
            </a:pPr>
            <a:r>
              <a:rPr sz="3300"/>
              <a:t>approach, you build toward a climax.</a:t>
            </a:r>
            <a:endParaRPr b="0"/>
          </a:p>
          <a:p>
            <a:pPr marL="0" indent="0" defTabSz="166688">
              <a:spcBef>
                <a:spcPts val="200"/>
              </a:spcBef>
              <a:buSzTx/>
              <a:buNone/>
              <a:defRPr sz="3505">
                <a:solidFill>
                  <a:srgbClr val="000000"/>
                </a:solidFill>
                <a:latin typeface="Times Roman"/>
                <a:ea typeface="Times Roman"/>
                <a:cs typeface="Times Roman"/>
                <a:sym typeface="Times Roman"/>
              </a:defRPr>
            </a:pPr>
            <a:endParaRPr b="0"/>
          </a:p>
          <a:p>
            <a:pPr marL="0" indent="0" defTabSz="166688">
              <a:spcBef>
                <a:spcPts val="200"/>
              </a:spcBef>
              <a:buSzTx/>
              <a:buNone/>
              <a:defRPr sz="3505">
                <a:solidFill>
                  <a:srgbClr val="000000"/>
                </a:solidFill>
                <a:latin typeface="Times Roman"/>
                <a:ea typeface="Times Roman"/>
                <a:cs typeface="Times Roman"/>
                <a:sym typeface="Times Roman"/>
              </a:defRPr>
            </a:pPr>
            <a:endParaRPr b="0"/>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tructure of a Feature"/>
          <p:cNvSpPr txBox="1">
            <a:spLocks noGrp="1"/>
          </p:cNvSpPr>
          <p:nvPr>
            <p:ph type="title"/>
          </p:nvPr>
        </p:nvSpPr>
        <p:spPr>
          <a:xfrm>
            <a:off x="736600" y="193521"/>
            <a:ext cx="10718800" cy="899589"/>
          </a:xfrm>
          <a:prstGeom prst="rect">
            <a:avLst/>
          </a:prstGeom>
        </p:spPr>
        <p:txBody>
          <a:bodyPr>
            <a:normAutofit fontScale="90000"/>
          </a:bodyPr>
          <a:lstStyle>
            <a:lvl1pPr defTabSz="445770">
              <a:defRPr sz="5830">
                <a:effectLst>
                  <a:outerShdw blurRad="34290" dist="6858" dir="5400000" rotWithShape="0">
                    <a:srgbClr val="000000">
                      <a:alpha val="30000"/>
                    </a:srgbClr>
                  </a:outerShdw>
                </a:effectLst>
              </a:defRPr>
            </a:lvl1pPr>
          </a:lstStyle>
          <a:p>
            <a:r>
              <a:t>Structure of a Feature </a:t>
            </a:r>
            <a:r>
              <a:rPr lang="en-US"/>
              <a:t>- Length</a:t>
            </a:r>
          </a:p>
        </p:txBody>
      </p:sp>
      <p:sp>
        <p:nvSpPr>
          <p:cNvPr id="224" name="3.5 But never omit important if it is required so…"/>
          <p:cNvSpPr txBox="1">
            <a:spLocks noGrp="1"/>
          </p:cNvSpPr>
          <p:nvPr>
            <p:ph type="body" idx="1"/>
          </p:nvPr>
        </p:nvSpPr>
        <p:spPr>
          <a:xfrm>
            <a:off x="736600" y="1324610"/>
            <a:ext cx="11184890" cy="4208463"/>
          </a:xfrm>
          <a:prstGeom prst="rect">
            <a:avLst/>
          </a:prstGeom>
        </p:spPr>
        <p:txBody>
          <a:bodyPr>
            <a:normAutofit fontScale="75000" lnSpcReduction="20000"/>
          </a:bodyPr>
          <a:lstStyle/>
          <a:p>
            <a:pPr marL="0" indent="0" defTabSz="166688">
              <a:spcBef>
                <a:spcPts val="200"/>
              </a:spcBef>
              <a:buSzTx/>
              <a:buNone/>
              <a:defRPr sz="3505" b="1">
                <a:solidFill>
                  <a:srgbClr val="000000"/>
                </a:solidFill>
                <a:latin typeface="Times Roman"/>
                <a:ea typeface="Times Roman"/>
                <a:cs typeface="Times Roman"/>
                <a:sym typeface="Times Roman"/>
              </a:defRPr>
            </a:pPr>
            <a:endParaRPr b="1"/>
          </a:p>
          <a:p>
            <a:pPr marL="0" indent="0" defTabSz="166688">
              <a:spcBef>
                <a:spcPts val="200"/>
              </a:spcBef>
              <a:buSzTx/>
              <a:buNone/>
              <a:defRPr sz="3505" b="1">
                <a:solidFill>
                  <a:srgbClr val="000000"/>
                </a:solidFill>
                <a:latin typeface="Times Roman"/>
                <a:ea typeface="Times Roman"/>
                <a:cs typeface="Times Roman"/>
                <a:sym typeface="Times Roman"/>
              </a:defRPr>
            </a:pPr>
            <a:endParaRPr b="1"/>
          </a:p>
          <a:p>
            <a:pPr marL="0" indent="0" defTabSz="166688">
              <a:spcBef>
                <a:spcPts val="200"/>
              </a:spcBef>
              <a:buSzTx/>
              <a:buNone/>
              <a:defRPr sz="3505" b="1">
                <a:solidFill>
                  <a:srgbClr val="000000"/>
                </a:solidFill>
                <a:latin typeface="Times Roman"/>
                <a:ea typeface="Times Roman"/>
                <a:cs typeface="Times Roman"/>
                <a:sym typeface="Times Roman"/>
              </a:defRPr>
            </a:pPr>
            <a:endParaRPr b="0"/>
          </a:p>
          <a:p>
            <a:pPr marL="0" indent="0" defTabSz="166688">
              <a:spcBef>
                <a:spcPts val="200"/>
              </a:spcBef>
              <a:buSzTx/>
              <a:buNone/>
              <a:defRPr sz="3505">
                <a:solidFill>
                  <a:srgbClr val="000000"/>
                </a:solidFill>
                <a:latin typeface="Times Roman"/>
                <a:ea typeface="Times Roman"/>
                <a:cs typeface="Times Roman"/>
                <a:sym typeface="Times Roman"/>
              </a:defRPr>
            </a:pPr>
            <a:endParaRPr b="0"/>
          </a:p>
          <a:p>
            <a:pPr marL="0" indent="0" defTabSz="166688">
              <a:spcBef>
                <a:spcPts val="200"/>
              </a:spcBef>
              <a:buSzTx/>
              <a:buNone/>
              <a:defRPr sz="3505" b="1">
                <a:solidFill>
                  <a:srgbClr val="000000"/>
                </a:solidFill>
                <a:latin typeface="Times Roman"/>
                <a:ea typeface="Times Roman"/>
                <a:cs typeface="Times Roman"/>
                <a:sym typeface="Times Roman"/>
              </a:defRPr>
            </a:pPr>
            <a:r>
              <a:rPr sz="3300"/>
              <a:t>5 Length</a:t>
            </a:r>
          </a:p>
          <a:p>
            <a:pPr marL="0" indent="0" defTabSz="166688">
              <a:spcBef>
                <a:spcPts val="200"/>
              </a:spcBef>
              <a:buSzTx/>
              <a:buNone/>
              <a:defRPr sz="3505" b="1">
                <a:solidFill>
                  <a:srgbClr val="000000"/>
                </a:solidFill>
                <a:latin typeface="Times Roman"/>
                <a:ea typeface="Times Roman"/>
                <a:cs typeface="Times Roman"/>
                <a:sym typeface="Times Roman"/>
              </a:defRPr>
            </a:pPr>
            <a:endParaRPr sz="3300"/>
          </a:p>
          <a:p>
            <a:pPr marL="0" indent="0" defTabSz="166688">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If a reporter asks how long a feature story should be, the editor </a:t>
            </a:r>
          </a:p>
          <a:p>
            <a:pPr marL="0" indent="0" defTabSz="166688">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may reply, 'as long as you keep it interesting.'  Feature  stories  vary in length from two or three paragraphs to 15 or 20 triple-spaced sheets ofcopy. Readers' interest is  the  main  yardstick </a:t>
            </a:r>
          </a:p>
          <a:p>
            <a:pPr marL="0" indent="0" defTabSz="166688">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by which they are judged. And editors are paid to accurately</a:t>
            </a:r>
            <a:endParaRPr sz="3300">
              <a:latin typeface="Times Roman"/>
              <a:ea typeface="Times Roman"/>
              <a:cs typeface="Times Roman"/>
              <a:sym typeface="Times Roman"/>
            </a:endParaRPr>
          </a:p>
          <a:p>
            <a:pPr marL="0" indent="0" defTabSz="166688">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3300"/>
              <a:t>assess readers' interest.</a:t>
            </a:r>
            <a:endParaRPr>
              <a:latin typeface="Times Roman"/>
              <a:ea typeface="Times Roman"/>
              <a:cs typeface="Times Roman"/>
              <a:sym typeface="Times Roman"/>
            </a:endParaRPr>
          </a:p>
          <a:p>
            <a:pPr marL="0" indent="0" defTabSz="166688">
              <a:spcBef>
                <a:spcPts val="200"/>
              </a:spcBef>
              <a:buSzTx/>
              <a:buNone/>
              <a:defRPr sz="3505">
                <a:solidFill>
                  <a:srgbClr val="000000"/>
                </a:solidFill>
                <a:latin typeface="Times Roman"/>
                <a:ea typeface="Times Roman"/>
                <a:cs typeface="Times Roman"/>
                <a:sym typeface="Times Roman"/>
              </a:defRPr>
            </a:pPr>
            <a:endParaRPr>
              <a:latin typeface="Times Roman"/>
              <a:ea typeface="Times Roman"/>
              <a:cs typeface="Times Roman"/>
              <a:sym typeface="Times Roman"/>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C1A2ADA-94E5-3A6A-BB9C-C2A17124FF60}"/>
              </a:ext>
            </a:extLst>
          </p:cNvPr>
          <p:cNvSpPr>
            <a:spLocks noGrp="1" noChangeArrowheads="1"/>
          </p:cNvSpPr>
          <p:nvPr>
            <p:ph type="ctrTitle"/>
          </p:nvPr>
        </p:nvSpPr>
        <p:spPr>
          <a:xfrm>
            <a:off x="2351088" y="1844676"/>
            <a:ext cx="7772400" cy="1431925"/>
          </a:xfrm>
        </p:spPr>
        <p:txBody>
          <a:bodyPr>
            <a:normAutofit fontScale="90000"/>
          </a:bodyPr>
          <a:lstStyle/>
          <a:p>
            <a:pPr fontAlgn="auto">
              <a:spcAft>
                <a:spcPts val="0"/>
              </a:spcAft>
              <a:defRPr/>
            </a:pPr>
            <a:r>
              <a:rPr lang="zh-CN" altLang="en-US" dirty="0"/>
              <a:t>英语新闻写作</a:t>
            </a:r>
            <a:br>
              <a:rPr lang="zh-CN" altLang="en-US" dirty="0"/>
            </a:br>
            <a:r>
              <a:rPr lang="en-US" altLang="zh-CN" dirty="0"/>
              <a:t>English news writing</a:t>
            </a:r>
          </a:p>
        </p:txBody>
      </p:sp>
      <p:sp>
        <p:nvSpPr>
          <p:cNvPr id="38915" name="副标题 5">
            <a:extLst>
              <a:ext uri="{FF2B5EF4-FFF2-40B4-BE49-F238E27FC236}">
                <a16:creationId xmlns:a16="http://schemas.microsoft.com/office/drawing/2014/main" id="{5B76B4A3-6BBB-329B-3C03-B8528077F1E7}"/>
              </a:ext>
            </a:extLst>
          </p:cNvPr>
          <p:cNvSpPr>
            <a:spLocks noGrp="1" noChangeArrowheads="1"/>
          </p:cNvSpPr>
          <p:nvPr>
            <p:ph type="subTitle" idx="1"/>
          </p:nvPr>
        </p:nvSpPr>
        <p:spPr>
          <a:xfrm>
            <a:off x="2209800" y="3611563"/>
            <a:ext cx="7772400" cy="1200150"/>
          </a:xfrm>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linds(horizont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EC23383E-A32E-3F26-5A5A-45C17FAA9F7E}"/>
              </a:ext>
            </a:extLst>
          </p:cNvPr>
          <p:cNvSpPr>
            <a:spLocks noGrp="1" noChangeArrowheads="1"/>
          </p:cNvSpPr>
          <p:nvPr>
            <p:ph idx="1"/>
          </p:nvPr>
        </p:nvSpPr>
        <p:spPr>
          <a:xfrm>
            <a:off x="1981200" y="1412875"/>
            <a:ext cx="8229600" cy="5111750"/>
          </a:xfrm>
        </p:spPr>
        <p:txBody>
          <a:bodyPr/>
          <a:lstStyle/>
          <a:p>
            <a:r>
              <a:rPr lang="zh-CN" altLang="en-US" sz="2800"/>
              <a:t>按传播工具分：</a:t>
            </a:r>
            <a:r>
              <a:rPr lang="en-US" altLang="zh-CN" sz="2800">
                <a:latin typeface="Times New Roman" panose="02020603050405020304" pitchFamily="18" charset="0"/>
              </a:rPr>
              <a:t>Newspaper coverage, magazine coverage, radio news, TV news,  cable news, dispatches. </a:t>
            </a:r>
          </a:p>
          <a:p>
            <a:r>
              <a:rPr lang="zh-CN" altLang="en-US" sz="2800"/>
              <a:t>新闻事实发生的地域和范围：</a:t>
            </a:r>
            <a:r>
              <a:rPr lang="en-US" altLang="zh-CN" sz="2800">
                <a:latin typeface="Times New Roman" panose="02020603050405020304" pitchFamily="18" charset="0"/>
              </a:rPr>
              <a:t>home news, local news</a:t>
            </a:r>
          </a:p>
          <a:p>
            <a:r>
              <a:rPr lang="zh-CN" altLang="en-US" sz="2800"/>
              <a:t>报道的内容：</a:t>
            </a:r>
            <a:r>
              <a:rPr lang="en-US" altLang="zh-CN" sz="2800">
                <a:latin typeface="Times New Roman" panose="02020603050405020304" pitchFamily="18" charset="0"/>
              </a:rPr>
              <a:t>political news, economic news, technological news, cultural news, sports news, violence and crime news, disaster news, weather news, obituary, entertainment</a:t>
            </a:r>
            <a:r>
              <a:rPr lang="en-US" altLang="zh-CN" sz="2800"/>
              <a:t>.</a:t>
            </a:r>
          </a:p>
          <a:p>
            <a:pPr>
              <a:buFontTx/>
              <a:buNone/>
            </a:pPr>
            <a:endParaRPr lang="en-US" altLang="zh-CN" sz="2800">
              <a:latin typeface="Times New Roman" panose="02020603050405020304" pitchFamily="18" charset="0"/>
            </a:endParaRPr>
          </a:p>
          <a:p>
            <a:endParaRPr lang="en-US" altLang="zh-CN" sz="2800"/>
          </a:p>
          <a:p>
            <a:endParaRPr lang="en-US" altLang="zh-CN" sz="2800"/>
          </a:p>
        </p:txBody>
      </p:sp>
      <p:sp>
        <p:nvSpPr>
          <p:cNvPr id="39939" name="Rectangle 2">
            <a:extLst>
              <a:ext uri="{FF2B5EF4-FFF2-40B4-BE49-F238E27FC236}">
                <a16:creationId xmlns:a16="http://schemas.microsoft.com/office/drawing/2014/main" id="{B3062DF4-F6C0-2928-4C96-D91E7C0DDA5B}"/>
              </a:ext>
            </a:extLst>
          </p:cNvPr>
          <p:cNvSpPr>
            <a:spLocks noGrp="1" noChangeArrowheads="1"/>
          </p:cNvSpPr>
          <p:nvPr>
            <p:ph type="title"/>
          </p:nvPr>
        </p:nvSpPr>
        <p:spPr>
          <a:xfrm>
            <a:off x="1847850" y="188913"/>
            <a:ext cx="8229600" cy="1143000"/>
          </a:xfrm>
        </p:spPr>
        <p:txBody>
          <a:bodyPr/>
          <a:lstStyle/>
          <a:p>
            <a:r>
              <a:rPr lang="en-US" altLang="zh-CN"/>
              <a:t>Classifications</a:t>
            </a:r>
            <a:endParaRPr lang="zh-CN"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F73BA193-47AA-9706-84DB-340F20A799E3}"/>
              </a:ext>
            </a:extLst>
          </p:cNvPr>
          <p:cNvSpPr>
            <a:spLocks noGrp="1" noChangeArrowheads="1"/>
          </p:cNvSpPr>
          <p:nvPr>
            <p:ph idx="1"/>
          </p:nvPr>
        </p:nvSpPr>
        <p:spPr>
          <a:xfrm>
            <a:off x="1981200" y="1600200"/>
            <a:ext cx="8229600" cy="5257800"/>
          </a:xfrm>
        </p:spPr>
        <p:txBody>
          <a:bodyPr/>
          <a:lstStyle/>
          <a:p>
            <a:r>
              <a:rPr lang="zh-CN" altLang="en-US"/>
              <a:t>新闻与新闻价值（</a:t>
            </a:r>
            <a:r>
              <a:rPr lang="en-US" altLang="zh-CN"/>
              <a:t>news and news value)</a:t>
            </a:r>
          </a:p>
          <a:p>
            <a:r>
              <a:rPr lang="en-US" altLang="zh-CN"/>
              <a:t>News value determiners/determinants</a:t>
            </a:r>
          </a:p>
          <a:p>
            <a:pPr>
              <a:buClr>
                <a:schemeClr val="tx1"/>
              </a:buClr>
              <a:buFont typeface="Wingdings" panose="05000000000000000000" pitchFamily="2" charset="2"/>
              <a:buChar char="Ø"/>
            </a:pPr>
            <a:r>
              <a:rPr lang="zh-CN" altLang="en-US">
                <a:solidFill>
                  <a:srgbClr val="FF0066"/>
                </a:solidFill>
                <a:latin typeface="Times New Roman" panose="02020603050405020304" pitchFamily="18" charset="0"/>
              </a:rPr>
              <a:t>时效性</a:t>
            </a:r>
            <a:r>
              <a:rPr lang="en-US" altLang="zh-CN">
                <a:latin typeface="Times New Roman" panose="02020603050405020304" pitchFamily="18" charset="0"/>
              </a:rPr>
              <a:t>timeliness </a:t>
            </a:r>
            <a:r>
              <a:rPr lang="zh-CN" altLang="en-US">
                <a:latin typeface="Times New Roman" panose="02020603050405020304" pitchFamily="18" charset="0"/>
              </a:rPr>
              <a:t>和新鲜感</a:t>
            </a:r>
            <a:r>
              <a:rPr lang="en-US" altLang="zh-CN">
                <a:latin typeface="Times New Roman" panose="02020603050405020304" pitchFamily="18" charset="0"/>
              </a:rPr>
              <a:t>freshness</a:t>
            </a:r>
          </a:p>
          <a:p>
            <a:pPr>
              <a:buClr>
                <a:schemeClr val="tx1"/>
              </a:buClr>
              <a:buFont typeface="Wingdings" panose="05000000000000000000" pitchFamily="2" charset="2"/>
              <a:buChar char="Ø"/>
            </a:pPr>
            <a:r>
              <a:rPr lang="zh-CN" altLang="en-US">
                <a:solidFill>
                  <a:srgbClr val="FF0066"/>
                </a:solidFill>
                <a:latin typeface="Times New Roman" panose="02020603050405020304" pitchFamily="18" charset="0"/>
              </a:rPr>
              <a:t>重要性</a:t>
            </a:r>
            <a:r>
              <a:rPr lang="en-US" altLang="zh-CN">
                <a:latin typeface="Times New Roman" panose="02020603050405020304" pitchFamily="18" charset="0"/>
              </a:rPr>
              <a:t>importance, consequence, impact or significance </a:t>
            </a:r>
          </a:p>
          <a:p>
            <a:pPr>
              <a:buClr>
                <a:schemeClr val="tx1"/>
              </a:buClr>
              <a:buFont typeface="Wingdings" panose="05000000000000000000" pitchFamily="2" charset="2"/>
              <a:buChar char="Ø"/>
            </a:pPr>
            <a:r>
              <a:rPr lang="zh-CN" altLang="en-US">
                <a:solidFill>
                  <a:srgbClr val="FF0066"/>
                </a:solidFill>
                <a:latin typeface="Times New Roman" panose="02020603050405020304" pitchFamily="18" charset="0"/>
              </a:rPr>
              <a:t>显著性</a:t>
            </a:r>
            <a:r>
              <a:rPr lang="en-US" altLang="zh-CN">
                <a:latin typeface="Times New Roman" panose="02020603050405020304" pitchFamily="18" charset="0"/>
              </a:rPr>
              <a:t>prominence </a:t>
            </a:r>
          </a:p>
          <a:p>
            <a:pPr>
              <a:buClr>
                <a:schemeClr val="tx1"/>
              </a:buClr>
              <a:buFont typeface="Wingdings" panose="05000000000000000000" pitchFamily="2" charset="2"/>
              <a:buChar char="Ø"/>
            </a:pPr>
            <a:r>
              <a:rPr lang="zh-CN" altLang="en-US">
                <a:solidFill>
                  <a:srgbClr val="FF0066"/>
                </a:solidFill>
                <a:latin typeface="Times New Roman" panose="02020603050405020304" pitchFamily="18" charset="0"/>
              </a:rPr>
              <a:t>接近性</a:t>
            </a:r>
            <a:r>
              <a:rPr lang="en-US" altLang="zh-CN">
                <a:latin typeface="Times New Roman" panose="02020603050405020304" pitchFamily="18" charset="0"/>
              </a:rPr>
              <a:t>nearness, proximity or locality </a:t>
            </a:r>
          </a:p>
          <a:p>
            <a:endParaRPr lang="en-US" altLang="zh-CN">
              <a:latin typeface="Times New Roman" panose="02020603050405020304" pitchFamily="18" charset="0"/>
            </a:endParaRPr>
          </a:p>
        </p:txBody>
      </p:sp>
      <p:sp>
        <p:nvSpPr>
          <p:cNvPr id="28674" name="Rectangle 2">
            <a:extLst>
              <a:ext uri="{FF2B5EF4-FFF2-40B4-BE49-F238E27FC236}">
                <a16:creationId xmlns:a16="http://schemas.microsoft.com/office/drawing/2014/main" id="{5C9F703F-6273-4AEB-9DA2-A11C43817654}"/>
              </a:ext>
            </a:extLst>
          </p:cNvPr>
          <p:cNvSpPr>
            <a:spLocks noGrp="1" noChangeArrowheads="1"/>
          </p:cNvSpPr>
          <p:nvPr>
            <p:ph type="title"/>
          </p:nvPr>
        </p:nvSpPr>
        <p:spPr/>
        <p:txBody>
          <a:bodyPr/>
          <a:lstStyle/>
          <a:p>
            <a:r>
              <a:rPr lang="en-US" altLang="zh-CN"/>
              <a:t>News Value</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blinds(horizontal)">
                                      <p:cBhvr>
                                        <p:cTn id="7" dur="500"/>
                                        <p:tgtEl>
                                          <p:spTgt spid="286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12" dur="500"/>
                                        <p:tgtEl>
                                          <p:spTgt spid="2867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8675">
                                            <p:txEl>
                                              <p:pRg st="1" end="1"/>
                                            </p:txEl>
                                          </p:spTgt>
                                        </p:tgtEl>
                                        <p:attrNameLst>
                                          <p:attrName>style.visibility</p:attrName>
                                        </p:attrNameLst>
                                      </p:cBhvr>
                                      <p:to>
                                        <p:strVal val="visible"/>
                                      </p:to>
                                    </p:set>
                                    <p:anim calcmode="lin" valueType="num">
                                      <p:cBhvr additive="base">
                                        <p:cTn id="17"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675">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8675">
                                            <p:txEl>
                                              <p:pRg st="2" end="2"/>
                                            </p:txEl>
                                          </p:spTgt>
                                        </p:tgtEl>
                                        <p:attrNameLst>
                                          <p:attrName>style.visibility</p:attrName>
                                        </p:attrNameLst>
                                      </p:cBhvr>
                                      <p:to>
                                        <p:strVal val="visible"/>
                                      </p:to>
                                    </p:set>
                                    <p:anim calcmode="lin" valueType="num">
                                      <p:cBhvr additive="base">
                                        <p:cTn id="21"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675">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additive="base">
                                        <p:cTn id="25"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8675">
                                            <p:txEl>
                                              <p:pRg st="4" end="4"/>
                                            </p:txEl>
                                          </p:spTgt>
                                        </p:tgtEl>
                                        <p:attrNameLst>
                                          <p:attrName>style.visibility</p:attrName>
                                        </p:attrNameLst>
                                      </p:cBhvr>
                                      <p:to>
                                        <p:strVal val="visible"/>
                                      </p:to>
                                    </p:set>
                                    <p:anim calcmode="lin" valueType="num">
                                      <p:cBhvr additive="base">
                                        <p:cTn id="29" dur="5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8675">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8675">
                                            <p:txEl>
                                              <p:pRg st="5" end="5"/>
                                            </p:txEl>
                                          </p:spTgt>
                                        </p:tgtEl>
                                        <p:attrNameLst>
                                          <p:attrName>style.visibility</p:attrName>
                                        </p:attrNameLst>
                                      </p:cBhvr>
                                      <p:to>
                                        <p:strVal val="visible"/>
                                      </p:to>
                                    </p:set>
                                    <p:anim calcmode="lin" valueType="num">
                                      <p:cBhvr additive="base">
                                        <p:cTn id="33" dur="5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86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1C4AEFC7-412F-C73C-1924-48C09D03BB85}"/>
              </a:ext>
            </a:extLst>
          </p:cNvPr>
          <p:cNvSpPr>
            <a:spLocks noGrp="1" noChangeArrowheads="1"/>
          </p:cNvSpPr>
          <p:nvPr>
            <p:ph idx="1"/>
          </p:nvPr>
        </p:nvSpPr>
        <p:spPr/>
        <p:txBody>
          <a:bodyPr/>
          <a:lstStyle/>
          <a:p>
            <a:r>
              <a:rPr lang="zh-CN" altLang="en-US"/>
              <a:t>新闻与新闻价值</a:t>
            </a:r>
          </a:p>
          <a:p>
            <a:pPr>
              <a:buClr>
                <a:schemeClr val="tx1"/>
              </a:buClr>
              <a:buFont typeface="Wingdings" panose="05000000000000000000" pitchFamily="2" charset="2"/>
              <a:buChar char="Ø"/>
            </a:pPr>
            <a:r>
              <a:rPr lang="zh-CN" altLang="en-US" sz="2800">
                <a:solidFill>
                  <a:srgbClr val="FF0066"/>
                </a:solidFill>
                <a:latin typeface="Times New Roman" panose="02020603050405020304" pitchFamily="18" charset="0"/>
              </a:rPr>
              <a:t>奇异性</a:t>
            </a:r>
            <a:r>
              <a:rPr lang="en-US" altLang="zh-CN" sz="2800">
                <a:latin typeface="Times New Roman" panose="02020603050405020304" pitchFamily="18" charset="0"/>
              </a:rPr>
              <a:t>unusualness, bizarreness, oddity or novelty ( when a dog bites a man, that’s not news; but when a man bites a dog, that’s news)</a:t>
            </a:r>
          </a:p>
          <a:p>
            <a:pPr>
              <a:buClr>
                <a:schemeClr val="tx1"/>
              </a:buClr>
              <a:buFont typeface="Wingdings" panose="05000000000000000000" pitchFamily="2" charset="2"/>
              <a:buChar char="Ø"/>
            </a:pPr>
            <a:r>
              <a:rPr lang="zh-CN" altLang="en-US" sz="2800">
                <a:solidFill>
                  <a:srgbClr val="FF0066"/>
                </a:solidFill>
                <a:latin typeface="Times New Roman" panose="02020603050405020304" pitchFamily="18" charset="0"/>
              </a:rPr>
              <a:t>趣味性</a:t>
            </a:r>
            <a:r>
              <a:rPr lang="zh-CN" altLang="en-US" sz="2800">
                <a:latin typeface="Times New Roman" panose="02020603050405020304" pitchFamily="18" charset="0"/>
              </a:rPr>
              <a:t> </a:t>
            </a:r>
            <a:r>
              <a:rPr lang="en-US" altLang="zh-CN" sz="2800">
                <a:latin typeface="Times New Roman" panose="02020603050405020304" pitchFamily="18" charset="0"/>
              </a:rPr>
              <a:t>interest, crime, morals and ethics, population, life, marriage, family, friendship, love and emotion, money, sex</a:t>
            </a:r>
            <a:r>
              <a:rPr lang="en-US" altLang="zh-CN"/>
              <a:t>.</a:t>
            </a:r>
          </a:p>
          <a:p>
            <a:endParaRPr lang="en-US" altLang="zh-CN"/>
          </a:p>
        </p:txBody>
      </p:sp>
      <p:sp>
        <p:nvSpPr>
          <p:cNvPr id="41987" name="标题 3">
            <a:extLst>
              <a:ext uri="{FF2B5EF4-FFF2-40B4-BE49-F238E27FC236}">
                <a16:creationId xmlns:a16="http://schemas.microsoft.com/office/drawing/2014/main" id="{C625B9F1-0E87-BAB2-AE93-2951919F1AAF}"/>
              </a:ext>
            </a:extLst>
          </p:cNvPr>
          <p:cNvSpPr>
            <a:spLocks noGrp="1" noChangeArrowheads="1"/>
          </p:cNvSpPr>
          <p:nvPr>
            <p:ph type="title"/>
          </p:nvPr>
        </p:nvSpPr>
        <p:spPr/>
        <p:txBody>
          <a:bodyPr/>
          <a:lstStyle/>
          <a:p>
            <a:endParaRPr lang="zh-CN"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a:extLst>
              <a:ext uri="{FF2B5EF4-FFF2-40B4-BE49-F238E27FC236}">
                <a16:creationId xmlns:a16="http://schemas.microsoft.com/office/drawing/2014/main" id="{4791AEC6-8465-3C15-31FD-E78B57CCC264}"/>
              </a:ext>
            </a:extLst>
          </p:cNvPr>
          <p:cNvSpPr>
            <a:spLocks noGrp="1" noChangeArrowheads="1"/>
          </p:cNvSpPr>
          <p:nvPr>
            <p:ph idx="1"/>
          </p:nvPr>
        </p:nvSpPr>
        <p:spPr/>
        <p:txBody>
          <a:bodyPr/>
          <a:lstStyle/>
          <a:p>
            <a:r>
              <a:rPr lang="en-US" altLang="zh-CN" sz="2800">
                <a:latin typeface="Times New Roman" panose="02020603050405020304" pitchFamily="18" charset="0"/>
              </a:rPr>
              <a:t>News- headline</a:t>
            </a:r>
          </a:p>
          <a:p>
            <a:r>
              <a:rPr lang="en-US" altLang="zh-CN" sz="2800">
                <a:latin typeface="Times New Roman" panose="02020603050405020304" pitchFamily="18" charset="0"/>
              </a:rPr>
              <a:t>Lead</a:t>
            </a:r>
          </a:p>
          <a:p>
            <a:r>
              <a:rPr lang="en-US" altLang="zh-CN" sz="2800">
                <a:latin typeface="Times New Roman" panose="02020603050405020304" pitchFamily="18" charset="0"/>
              </a:rPr>
              <a:t>Inverted Pyramid Style</a:t>
            </a:r>
          </a:p>
          <a:p>
            <a:r>
              <a:rPr lang="en-US" altLang="zh-CN" sz="2800">
                <a:latin typeface="Times New Roman" panose="02020603050405020304" pitchFamily="18" charset="0"/>
              </a:rPr>
              <a:t>body</a:t>
            </a:r>
          </a:p>
        </p:txBody>
      </p:sp>
      <p:sp>
        <p:nvSpPr>
          <p:cNvPr id="43011" name="Rectangle 2">
            <a:extLst>
              <a:ext uri="{FF2B5EF4-FFF2-40B4-BE49-F238E27FC236}">
                <a16:creationId xmlns:a16="http://schemas.microsoft.com/office/drawing/2014/main" id="{1A80731F-344A-E84B-20D8-B62253956915}"/>
              </a:ext>
            </a:extLst>
          </p:cNvPr>
          <p:cNvSpPr>
            <a:spLocks noGrp="1" noChangeArrowheads="1"/>
          </p:cNvSpPr>
          <p:nvPr>
            <p:ph type="title"/>
          </p:nvPr>
        </p:nvSpPr>
        <p:spPr/>
        <p:txBody>
          <a:bodyPr/>
          <a:lstStyle/>
          <a:p>
            <a:r>
              <a:rPr lang="zh-CN" altLang="en-US"/>
              <a:t>消息的基本结构</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a:extLst>
              <a:ext uri="{FF2B5EF4-FFF2-40B4-BE49-F238E27FC236}">
                <a16:creationId xmlns:a16="http://schemas.microsoft.com/office/drawing/2014/main" id="{571675E1-24EA-D8C5-47E0-F08AEACBB053}"/>
              </a:ext>
            </a:extLst>
          </p:cNvPr>
          <p:cNvSpPr>
            <a:spLocks noGrp="1" noChangeArrowheads="1"/>
          </p:cNvSpPr>
          <p:nvPr>
            <p:ph idx="1"/>
          </p:nvPr>
        </p:nvSpPr>
        <p:spPr/>
        <p:txBody>
          <a:bodyPr/>
          <a:lstStyle/>
          <a:p>
            <a:pPr marL="514350" indent="-514350">
              <a:buNone/>
            </a:pPr>
            <a:r>
              <a:rPr lang="en-US" altLang="zh-CN" sz="2400">
                <a:latin typeface="Times New Roman" panose="02020603050405020304" pitchFamily="18" charset="0"/>
                <a:cs typeface="Times New Roman" panose="02020603050405020304" pitchFamily="18" charset="0"/>
              </a:rPr>
              <a:t>1. They </a:t>
            </a:r>
            <a:r>
              <a:rPr lang="en-US" altLang="zh-CN" sz="2400">
                <a:solidFill>
                  <a:srgbClr val="FF0000"/>
                </a:solidFill>
                <a:latin typeface="Times New Roman" panose="02020603050405020304" pitchFamily="18" charset="0"/>
                <a:cs typeface="Times New Roman" panose="02020603050405020304" pitchFamily="18" charset="0"/>
              </a:rPr>
              <a:t>summarize the news, </a:t>
            </a:r>
            <a:r>
              <a:rPr lang="en-US" altLang="zh-CN" sz="2400">
                <a:latin typeface="Times New Roman" panose="02020603050405020304" pitchFamily="18" charset="0"/>
                <a:cs typeface="Times New Roman" panose="02020603050405020304" pitchFamily="18" charset="0"/>
              </a:rPr>
              <a:t>so that by taking a glance at the headline, the reader will know what the story is about</a:t>
            </a:r>
          </a:p>
          <a:p>
            <a:pPr marL="514350" indent="-514350">
              <a:buNone/>
            </a:pPr>
            <a:r>
              <a:rPr lang="en-US" altLang="zh-CN" sz="2400">
                <a:latin typeface="Times New Roman" panose="02020603050405020304" pitchFamily="18" charset="0"/>
                <a:cs typeface="Times New Roman" panose="02020603050405020304" pitchFamily="18" charset="0"/>
              </a:rPr>
              <a:t>2. They </a:t>
            </a:r>
            <a:r>
              <a:rPr lang="en-US" altLang="zh-CN" sz="2400">
                <a:solidFill>
                  <a:srgbClr val="FF0000"/>
                </a:solidFill>
                <a:latin typeface="Times New Roman" panose="02020603050405020304" pitchFamily="18" charset="0"/>
                <a:cs typeface="Times New Roman" panose="02020603050405020304" pitchFamily="18" charset="0"/>
              </a:rPr>
              <a:t>attract the reader’s attention </a:t>
            </a:r>
            <a:r>
              <a:rPr lang="en-US" altLang="zh-CN" sz="2400">
                <a:latin typeface="Times New Roman" panose="02020603050405020304" pitchFamily="18" charset="0"/>
                <a:cs typeface="Times New Roman" panose="02020603050405020304" pitchFamily="18" charset="0"/>
              </a:rPr>
              <a:t>with large print and sometimes with language of shocking or sensational effect;</a:t>
            </a:r>
          </a:p>
          <a:p>
            <a:pPr marL="514350" indent="-514350">
              <a:buNone/>
            </a:pPr>
            <a:r>
              <a:rPr lang="en-US" altLang="zh-CN" sz="2400">
                <a:latin typeface="Times New Roman" panose="02020603050405020304" pitchFamily="18" charset="0"/>
                <a:cs typeface="Times New Roman" panose="02020603050405020304" pitchFamily="18" charset="0"/>
              </a:rPr>
              <a:t>3. They </a:t>
            </a:r>
            <a:r>
              <a:rPr lang="en-US" altLang="zh-CN" sz="2400">
                <a:solidFill>
                  <a:srgbClr val="FF0000"/>
                </a:solidFill>
                <a:latin typeface="Times New Roman" panose="02020603050405020304" pitchFamily="18" charset="0"/>
                <a:cs typeface="Times New Roman" panose="02020603050405020304" pitchFamily="18" charset="0"/>
              </a:rPr>
              <a:t>index the news, i.e</a:t>
            </a:r>
            <a:r>
              <a:rPr lang="en-US" altLang="zh-CN" sz="2400">
                <a:latin typeface="Times New Roman" panose="02020603050405020304" pitchFamily="18" charset="0"/>
                <a:cs typeface="Times New Roman" panose="02020603050405020304" pitchFamily="18" charset="0"/>
              </a:rPr>
              <a:t>, rank the importance of stories by the size of the print and placement on the page</a:t>
            </a:r>
          </a:p>
          <a:p>
            <a:pPr marL="514350" indent="-514350">
              <a:buNone/>
            </a:pPr>
            <a:r>
              <a:rPr lang="en-US" altLang="zh-CN" sz="2400">
                <a:latin typeface="Times New Roman" panose="02020603050405020304" pitchFamily="18" charset="0"/>
                <a:cs typeface="Times New Roman" panose="02020603050405020304" pitchFamily="18" charset="0"/>
              </a:rPr>
              <a:t>4. They decorate the page;</a:t>
            </a:r>
          </a:p>
          <a:p>
            <a:pPr marL="514350" indent="-514350">
              <a:buNone/>
            </a:pPr>
            <a:r>
              <a:rPr lang="en-US" altLang="zh-CN" sz="2400">
                <a:latin typeface="Times New Roman" panose="02020603050405020304" pitchFamily="18" charset="0"/>
                <a:cs typeface="Times New Roman" panose="02020603050405020304" pitchFamily="18" charset="0"/>
              </a:rPr>
              <a:t>5. They </a:t>
            </a:r>
            <a:r>
              <a:rPr lang="en-US" altLang="zh-CN" sz="2400">
                <a:solidFill>
                  <a:srgbClr val="FF0000"/>
                </a:solidFill>
                <a:latin typeface="Times New Roman" panose="02020603050405020304" pitchFamily="18" charset="0"/>
                <a:cs typeface="Times New Roman" panose="02020603050405020304" pitchFamily="18" charset="0"/>
              </a:rPr>
              <a:t>fill the space</a:t>
            </a:r>
            <a:endParaRPr lang="zh-CN" altLang="en-US" sz="2400">
              <a:solidFill>
                <a:srgbClr val="FF0000"/>
              </a:solidFill>
              <a:latin typeface="Times New Roman" panose="02020603050405020304" pitchFamily="18" charset="0"/>
              <a:cs typeface="Times New Roman" panose="02020603050405020304" pitchFamily="18" charset="0"/>
            </a:endParaRPr>
          </a:p>
        </p:txBody>
      </p:sp>
      <p:sp>
        <p:nvSpPr>
          <p:cNvPr id="9218" name="标题 1">
            <a:extLst>
              <a:ext uri="{FF2B5EF4-FFF2-40B4-BE49-F238E27FC236}">
                <a16:creationId xmlns:a16="http://schemas.microsoft.com/office/drawing/2014/main" id="{D5AC9544-6288-C0C3-76C1-8139F66F9CB1}"/>
              </a:ext>
            </a:extLst>
          </p:cNvPr>
          <p:cNvSpPr>
            <a:spLocks noGrp="1" noChangeArrowheads="1"/>
          </p:cNvSpPr>
          <p:nvPr>
            <p:ph type="title"/>
          </p:nvPr>
        </p:nvSpPr>
        <p:spPr/>
        <p:txBody>
          <a:bodyPr/>
          <a:lstStyle/>
          <a:p>
            <a:r>
              <a:rPr lang="en-US" altLang="zh-CN"/>
              <a:t>The Importance of Headline</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ppt_x"/>
                                          </p:val>
                                        </p:tav>
                                        <p:tav tm="100000">
                                          <p:val>
                                            <p:strVal val="#ppt_x"/>
                                          </p:val>
                                        </p:tav>
                                      </p:tavLst>
                                    </p:anim>
                                    <p:anim calcmode="lin" valueType="num">
                                      <p:cBhvr additive="base">
                                        <p:cTn id="8" dur="500" fill="hold"/>
                                        <p:tgtEl>
                                          <p:spTgt spid="92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219">
                                            <p:txEl>
                                              <p:pRg st="0" end="0"/>
                                            </p:txEl>
                                          </p:spTgt>
                                        </p:tgtEl>
                                        <p:attrNameLst>
                                          <p:attrName>style.visibility</p:attrName>
                                        </p:attrNameLst>
                                      </p:cBhvr>
                                      <p:to>
                                        <p:strVal val="visible"/>
                                      </p:to>
                                    </p:set>
                                    <p:anim calcmode="lin" valueType="num">
                                      <p:cBhvr additive="base">
                                        <p:cTn id="13" dur="500" fill="hold"/>
                                        <p:tgtEl>
                                          <p:spTgt spid="921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219">
                                            <p:txEl>
                                              <p:pRg st="1" end="1"/>
                                            </p:txEl>
                                          </p:spTgt>
                                        </p:tgtEl>
                                        <p:attrNameLst>
                                          <p:attrName>style.visibility</p:attrName>
                                        </p:attrNameLst>
                                      </p:cBhvr>
                                      <p:to>
                                        <p:strVal val="visible"/>
                                      </p:to>
                                    </p:set>
                                    <p:anim calcmode="lin" valueType="num">
                                      <p:cBhvr additive="base">
                                        <p:cTn id="19"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9219">
                                            <p:txEl>
                                              <p:pRg st="2" end="2"/>
                                            </p:txEl>
                                          </p:spTgt>
                                        </p:tgtEl>
                                        <p:attrNameLst>
                                          <p:attrName>style.visibility</p:attrName>
                                        </p:attrNameLst>
                                      </p:cBhvr>
                                      <p:to>
                                        <p:strVal val="visible"/>
                                      </p:to>
                                    </p:set>
                                    <p:anim calcmode="lin" valueType="num">
                                      <p:cBhvr additive="base">
                                        <p:cTn id="25"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9219">
                                            <p:txEl>
                                              <p:pRg st="3" end="3"/>
                                            </p:txEl>
                                          </p:spTgt>
                                        </p:tgtEl>
                                        <p:attrNameLst>
                                          <p:attrName>style.visibility</p:attrName>
                                        </p:attrNameLst>
                                      </p:cBhvr>
                                      <p:to>
                                        <p:strVal val="visible"/>
                                      </p:to>
                                    </p:set>
                                    <p:anim calcmode="lin" valueType="num">
                                      <p:cBhvr additive="base">
                                        <p:cTn id="31"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9219">
                                            <p:txEl>
                                              <p:pRg st="4" end="4"/>
                                            </p:txEl>
                                          </p:spTgt>
                                        </p:tgtEl>
                                        <p:attrNameLst>
                                          <p:attrName>style.visibility</p:attrName>
                                        </p:attrNameLst>
                                      </p:cBhvr>
                                      <p:to>
                                        <p:strVal val="visible"/>
                                      </p:to>
                                    </p:set>
                                    <p:anim calcmode="lin" valueType="num">
                                      <p:cBhvr additive="base">
                                        <p:cTn id="37"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2">
            <a:extLst>
              <a:ext uri="{FF2B5EF4-FFF2-40B4-BE49-F238E27FC236}">
                <a16:creationId xmlns:a16="http://schemas.microsoft.com/office/drawing/2014/main" id="{80B64045-4CE7-C52E-9021-AD6D461A21A3}"/>
              </a:ext>
            </a:extLst>
          </p:cNvPr>
          <p:cNvSpPr>
            <a:spLocks noGrp="1"/>
          </p:cNvSpPr>
          <p:nvPr>
            <p:ph idx="1"/>
          </p:nvPr>
        </p:nvSpPr>
        <p:spPr>
          <a:xfrm>
            <a:off x="1847850" y="857250"/>
            <a:ext cx="8820150" cy="5949950"/>
          </a:xfrm>
        </p:spPr>
        <p:txBody>
          <a:bodyPr>
            <a:normAutofit/>
          </a:bodyPr>
          <a:lstStyle/>
          <a:p>
            <a:pPr marL="0" indent="0" fontAlgn="auto">
              <a:spcAft>
                <a:spcPts val="0"/>
              </a:spcAft>
              <a:buNone/>
              <a:defRPr/>
            </a:pPr>
            <a:r>
              <a:rPr lang="en-US" altLang="zh-CN" sz="2400" dirty="0">
                <a:latin typeface="Times New Roman" pitchFamily="18" charset="0"/>
                <a:cs typeface="Times New Roman" pitchFamily="18" charset="0"/>
              </a:rPr>
              <a:t>(1) Sentences are preferred to phrases. </a:t>
            </a:r>
          </a:p>
          <a:p>
            <a:pPr marL="514350" indent="-514350" fontAlgn="auto">
              <a:spcAft>
                <a:spcPts val="0"/>
              </a:spcAft>
              <a:buNone/>
              <a:defRPr/>
            </a:pPr>
            <a:r>
              <a:rPr lang="en-US" altLang="zh-CN" sz="2400" dirty="0">
                <a:latin typeface="Times New Roman" pitchFamily="18" charset="0"/>
                <a:cs typeface="Times New Roman" pitchFamily="18" charset="0"/>
              </a:rPr>
              <a:t>    A Fortunate Grandmother</a:t>
            </a:r>
          </a:p>
          <a:p>
            <a:pPr marL="514350" indent="-514350" fontAlgn="auto">
              <a:spcAft>
                <a:spcPts val="0"/>
              </a:spcAft>
              <a:buNone/>
              <a:defRPr/>
            </a:pPr>
            <a:r>
              <a:rPr lang="en-US" altLang="zh-CN" sz="2400" dirty="0">
                <a:latin typeface="Times New Roman" pitchFamily="18" charset="0"/>
                <a:cs typeface="Times New Roman" pitchFamily="18" charset="0"/>
              </a:rPr>
              <a:t>    Granny Hugs Daughter Lost for 30 Years</a:t>
            </a:r>
          </a:p>
          <a:p>
            <a:pPr marL="514350" indent="-514350" fontAlgn="auto">
              <a:spcAft>
                <a:spcPts val="0"/>
              </a:spcAft>
              <a:buNone/>
              <a:defRPr/>
            </a:pPr>
            <a:r>
              <a:rPr lang="en-US" altLang="zh-CN" sz="2400" dirty="0">
                <a:latin typeface="Times New Roman" pitchFamily="18" charset="0"/>
                <a:cs typeface="Times New Roman" pitchFamily="18" charset="0"/>
              </a:rPr>
              <a:t>(2) Nominal groups are condensed</a:t>
            </a:r>
          </a:p>
          <a:p>
            <a:pPr marL="514350" indent="-514350" fontAlgn="auto">
              <a:spcAft>
                <a:spcPts val="0"/>
              </a:spcAft>
              <a:buNone/>
              <a:defRPr/>
            </a:pPr>
            <a:r>
              <a:rPr lang="en-US" altLang="zh-CN" sz="2400" dirty="0">
                <a:latin typeface="Times New Roman" pitchFamily="18" charset="0"/>
                <a:cs typeface="Times New Roman" pitchFamily="18" charset="0"/>
              </a:rPr>
              <a:t>    Co-</a:t>
            </a:r>
            <a:r>
              <a:rPr lang="en-US" altLang="zh-CN" sz="2400" dirty="0" err="1">
                <a:latin typeface="Times New Roman" pitchFamily="18" charset="0"/>
                <a:cs typeface="Times New Roman" pitchFamily="18" charset="0"/>
              </a:rPr>
              <a:t>Hab</a:t>
            </a:r>
            <a:r>
              <a:rPr lang="en-US" altLang="zh-CN" sz="2400" dirty="0">
                <a:latin typeface="Times New Roman" pitchFamily="18" charset="0"/>
                <a:cs typeface="Times New Roman" pitchFamily="18" charset="0"/>
              </a:rPr>
              <a:t> off campus Triggers Arguments</a:t>
            </a:r>
          </a:p>
          <a:p>
            <a:pPr marL="514350" indent="-514350" fontAlgn="auto">
              <a:spcAft>
                <a:spcPts val="0"/>
              </a:spcAft>
              <a:buNone/>
              <a:defRPr/>
            </a:pPr>
            <a:r>
              <a:rPr lang="en-US" altLang="zh-CN" sz="2400" dirty="0">
                <a:latin typeface="Times New Roman" pitchFamily="18" charset="0"/>
                <a:cs typeface="Times New Roman" pitchFamily="18" charset="0"/>
              </a:rPr>
              <a:t> (3) The past tense verb form does not have “ed”</a:t>
            </a:r>
          </a:p>
          <a:p>
            <a:pPr marL="365760" indent="-256032" fontAlgn="auto">
              <a:spcAft>
                <a:spcPts val="0"/>
              </a:spcAft>
              <a:buNone/>
              <a:defRPr/>
            </a:pPr>
            <a:r>
              <a:rPr lang="en-US" altLang="zh-CN" sz="2400" dirty="0">
                <a:latin typeface="Times New Roman" pitchFamily="18" charset="0"/>
                <a:cs typeface="Times New Roman" pitchFamily="18" charset="0"/>
              </a:rPr>
              <a:t>Horse Bites Girl On Face</a:t>
            </a:r>
          </a:p>
          <a:p>
            <a:pPr marL="365760" indent="-256032" fontAlgn="auto">
              <a:spcAft>
                <a:spcPts val="0"/>
              </a:spcAft>
              <a:buNone/>
              <a:defRPr/>
            </a:pPr>
            <a:r>
              <a:rPr lang="en-US" altLang="zh-CN" sz="2400" dirty="0">
                <a:latin typeface="Times New Roman" pitchFamily="18" charset="0"/>
                <a:cs typeface="Times New Roman" pitchFamily="18" charset="0"/>
              </a:rPr>
              <a:t>Sexual Harassment Sparks Concern on Campus </a:t>
            </a:r>
          </a:p>
          <a:p>
            <a:pPr marL="365760" indent="-256032" fontAlgn="auto">
              <a:spcAft>
                <a:spcPts val="0"/>
              </a:spcAft>
              <a:buNone/>
              <a:defRPr/>
            </a:pPr>
            <a:r>
              <a:rPr lang="en-US" altLang="zh-CN" sz="2400" dirty="0">
                <a:latin typeface="Times New Roman" pitchFamily="18" charset="0"/>
                <a:cs typeface="Times New Roman" pitchFamily="18" charset="0"/>
              </a:rPr>
              <a:t>(4) When you headline future events, “will” or “shall” is replaced by “to”. </a:t>
            </a:r>
          </a:p>
          <a:p>
            <a:pPr marL="365760" indent="-256032" fontAlgn="auto">
              <a:spcAft>
                <a:spcPts val="0"/>
              </a:spcAft>
              <a:buNone/>
              <a:defRPr/>
            </a:pPr>
            <a:r>
              <a:rPr lang="en-US" altLang="zh-CN" sz="2400" dirty="0">
                <a:latin typeface="Times New Roman" pitchFamily="18" charset="0"/>
                <a:cs typeface="Times New Roman" pitchFamily="18" charset="0"/>
              </a:rPr>
              <a:t>French Major to Compete in Beijing</a:t>
            </a:r>
          </a:p>
          <a:p>
            <a:pPr marL="365760" indent="-256032" fontAlgn="auto">
              <a:spcAft>
                <a:spcPts val="0"/>
              </a:spcAft>
              <a:buNone/>
              <a:defRPr/>
            </a:pPr>
            <a:r>
              <a:rPr lang="en-US" altLang="zh-CN" sz="2400" dirty="0">
                <a:latin typeface="Times New Roman" pitchFamily="18" charset="0"/>
                <a:cs typeface="Times New Roman" pitchFamily="18" charset="0"/>
              </a:rPr>
              <a:t>President to Talk on Peace Pact</a:t>
            </a:r>
          </a:p>
        </p:txBody>
      </p:sp>
      <p:sp>
        <p:nvSpPr>
          <p:cNvPr id="10242" name="标题 1">
            <a:extLst>
              <a:ext uri="{FF2B5EF4-FFF2-40B4-BE49-F238E27FC236}">
                <a16:creationId xmlns:a16="http://schemas.microsoft.com/office/drawing/2014/main" id="{7EA6A3B0-CA0E-CDB2-C216-86DF6F934ED8}"/>
              </a:ext>
            </a:extLst>
          </p:cNvPr>
          <p:cNvSpPr>
            <a:spLocks noGrp="1" noChangeArrowheads="1"/>
          </p:cNvSpPr>
          <p:nvPr>
            <p:ph type="title"/>
          </p:nvPr>
        </p:nvSpPr>
        <p:spPr>
          <a:xfrm>
            <a:off x="1992313" y="0"/>
            <a:ext cx="8229600" cy="857250"/>
          </a:xfrm>
        </p:spPr>
        <p:txBody>
          <a:bodyPr/>
          <a:lstStyle/>
          <a:p>
            <a:r>
              <a:rPr lang="en-US" altLang="zh-CN" sz="3200">
                <a:latin typeface="Times New Roman" panose="02020603050405020304" pitchFamily="18" charset="0"/>
                <a:cs typeface="Times New Roman" panose="02020603050405020304" pitchFamily="18" charset="0"/>
              </a:rPr>
              <a:t>Headline Grammar Rule</a:t>
            </a:r>
            <a:endParaRPr lang="zh-CN" altLang="en-US" sz="320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ppt_x"/>
                                          </p:val>
                                        </p:tav>
                                        <p:tav tm="100000">
                                          <p:val>
                                            <p:strVal val="#ppt_x"/>
                                          </p:val>
                                        </p:tav>
                                      </p:tavLst>
                                    </p:anim>
                                    <p:anim calcmode="lin" valueType="num">
                                      <p:cBhvr additive="base">
                                        <p:cTn id="8"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43">
                                            <p:txEl>
                                              <p:pRg st="0" end="0"/>
                                            </p:txEl>
                                          </p:spTgt>
                                        </p:tgtEl>
                                        <p:attrNameLst>
                                          <p:attrName>style.visibility</p:attrName>
                                        </p:attrNameLst>
                                      </p:cBhvr>
                                      <p:to>
                                        <p:strVal val="visible"/>
                                      </p:to>
                                    </p:set>
                                    <p:anim calcmode="lin" valueType="num">
                                      <p:cBhvr additive="base">
                                        <p:cTn id="13"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243">
                                            <p:txEl>
                                              <p:pRg st="1" end="1"/>
                                            </p:txEl>
                                          </p:spTgt>
                                        </p:tgtEl>
                                        <p:attrNameLst>
                                          <p:attrName>style.visibility</p:attrName>
                                        </p:attrNameLst>
                                      </p:cBhvr>
                                      <p:to>
                                        <p:strVal val="visible"/>
                                      </p:to>
                                    </p:set>
                                    <p:anim calcmode="lin" valueType="num">
                                      <p:cBhvr additive="base">
                                        <p:cTn id="19"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243">
                                            <p:txEl>
                                              <p:pRg st="2" end="2"/>
                                            </p:txEl>
                                          </p:spTgt>
                                        </p:tgtEl>
                                        <p:attrNameLst>
                                          <p:attrName>style.visibility</p:attrName>
                                        </p:attrNameLst>
                                      </p:cBhvr>
                                      <p:to>
                                        <p:strVal val="visible"/>
                                      </p:to>
                                    </p:set>
                                    <p:anim calcmode="lin" valueType="num">
                                      <p:cBhvr additive="base">
                                        <p:cTn id="25"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243">
                                            <p:txEl>
                                              <p:pRg st="3" end="3"/>
                                            </p:txEl>
                                          </p:spTgt>
                                        </p:tgtEl>
                                        <p:attrNameLst>
                                          <p:attrName>style.visibility</p:attrName>
                                        </p:attrNameLst>
                                      </p:cBhvr>
                                      <p:to>
                                        <p:strVal val="visible"/>
                                      </p:to>
                                    </p:set>
                                    <p:anim calcmode="lin" valueType="num">
                                      <p:cBhvr additive="base">
                                        <p:cTn id="31" dur="5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0243">
                                            <p:txEl>
                                              <p:pRg st="4" end="4"/>
                                            </p:txEl>
                                          </p:spTgt>
                                        </p:tgtEl>
                                        <p:attrNameLst>
                                          <p:attrName>style.visibility</p:attrName>
                                        </p:attrNameLst>
                                      </p:cBhvr>
                                      <p:to>
                                        <p:strVal val="visible"/>
                                      </p:to>
                                    </p:set>
                                    <p:anim calcmode="lin" valueType="num">
                                      <p:cBhvr additive="base">
                                        <p:cTn id="37"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2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243">
                                            <p:txEl>
                                              <p:pRg st="5" end="5"/>
                                            </p:txEl>
                                          </p:spTgt>
                                        </p:tgtEl>
                                        <p:attrNameLst>
                                          <p:attrName>style.visibility</p:attrName>
                                        </p:attrNameLst>
                                      </p:cBhvr>
                                      <p:to>
                                        <p:strVal val="visible"/>
                                      </p:to>
                                    </p:set>
                                    <p:anim calcmode="lin" valueType="num">
                                      <p:cBhvr additive="base">
                                        <p:cTn id="43"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2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243">
                                            <p:txEl>
                                              <p:pRg st="6" end="6"/>
                                            </p:txEl>
                                          </p:spTgt>
                                        </p:tgtEl>
                                        <p:attrNameLst>
                                          <p:attrName>style.visibility</p:attrName>
                                        </p:attrNameLst>
                                      </p:cBhvr>
                                      <p:to>
                                        <p:strVal val="visible"/>
                                      </p:to>
                                    </p:set>
                                    <p:anim calcmode="lin" valueType="num">
                                      <p:cBhvr additive="base">
                                        <p:cTn id="49" dur="5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24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10243">
                                            <p:txEl>
                                              <p:pRg st="7" end="7"/>
                                            </p:txEl>
                                          </p:spTgt>
                                        </p:tgtEl>
                                        <p:attrNameLst>
                                          <p:attrName>style.visibility</p:attrName>
                                        </p:attrNameLst>
                                      </p:cBhvr>
                                      <p:to>
                                        <p:strVal val="visible"/>
                                      </p:to>
                                    </p:set>
                                    <p:anim calcmode="lin" valueType="num">
                                      <p:cBhvr additive="base">
                                        <p:cTn id="55" dur="500" fill="hold"/>
                                        <p:tgtEl>
                                          <p:spTgt spid="1024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24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10243">
                                            <p:txEl>
                                              <p:pRg st="8" end="8"/>
                                            </p:txEl>
                                          </p:spTgt>
                                        </p:tgtEl>
                                        <p:attrNameLst>
                                          <p:attrName>style.visibility</p:attrName>
                                        </p:attrNameLst>
                                      </p:cBhvr>
                                      <p:to>
                                        <p:strVal val="visible"/>
                                      </p:to>
                                    </p:set>
                                    <p:anim calcmode="lin" valueType="num">
                                      <p:cBhvr additive="base">
                                        <p:cTn id="61" dur="500" fill="hold"/>
                                        <p:tgtEl>
                                          <p:spTgt spid="1024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24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10243">
                                            <p:txEl>
                                              <p:pRg st="9" end="9"/>
                                            </p:txEl>
                                          </p:spTgt>
                                        </p:tgtEl>
                                        <p:attrNameLst>
                                          <p:attrName>style.visibility</p:attrName>
                                        </p:attrNameLst>
                                      </p:cBhvr>
                                      <p:to>
                                        <p:strVal val="visible"/>
                                      </p:to>
                                    </p:set>
                                    <p:anim calcmode="lin" valueType="num">
                                      <p:cBhvr additive="base">
                                        <p:cTn id="67" dur="500" fill="hold"/>
                                        <p:tgtEl>
                                          <p:spTgt spid="10243">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24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10243">
                                            <p:txEl>
                                              <p:pRg st="10" end="10"/>
                                            </p:txEl>
                                          </p:spTgt>
                                        </p:tgtEl>
                                        <p:attrNameLst>
                                          <p:attrName>style.visibility</p:attrName>
                                        </p:attrNameLst>
                                      </p:cBhvr>
                                      <p:to>
                                        <p:strVal val="visible"/>
                                      </p:to>
                                    </p:set>
                                    <p:anim calcmode="lin" valueType="num">
                                      <p:cBhvr additive="base">
                                        <p:cTn id="73" dur="500" fill="hold"/>
                                        <p:tgtEl>
                                          <p:spTgt spid="10243">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24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2">
            <a:extLst>
              <a:ext uri="{FF2B5EF4-FFF2-40B4-BE49-F238E27FC236}">
                <a16:creationId xmlns:a16="http://schemas.microsoft.com/office/drawing/2014/main" id="{A97C1DDC-4CF8-455D-B79E-626E05BEAFA9}"/>
              </a:ext>
            </a:extLst>
          </p:cNvPr>
          <p:cNvSpPr>
            <a:spLocks noGrp="1" noChangeArrowheads="1"/>
          </p:cNvSpPr>
          <p:nvPr>
            <p:ph idx="1"/>
          </p:nvPr>
        </p:nvSpPr>
        <p:spPr>
          <a:xfrm>
            <a:off x="1981200" y="642938"/>
            <a:ext cx="8229600" cy="5364162"/>
          </a:xfrm>
        </p:spPr>
        <p:txBody>
          <a:bodyPr/>
          <a:lstStyle/>
          <a:p>
            <a:pPr>
              <a:buFontTx/>
              <a:buNone/>
            </a:pPr>
            <a:r>
              <a:rPr lang="en-US" altLang="zh-CN" sz="2400">
                <a:latin typeface="Times New Roman" panose="02020603050405020304" pitchFamily="18" charset="0"/>
                <a:cs typeface="Times New Roman" panose="02020603050405020304" pitchFamily="18" charset="0"/>
              </a:rPr>
              <a:t>(5) In passive voice, the verb “to be” is omitted</a:t>
            </a:r>
          </a:p>
          <a:p>
            <a:pPr>
              <a:buFontTx/>
              <a:buNone/>
            </a:pPr>
            <a:r>
              <a:rPr lang="en-US" altLang="zh-CN" sz="2400">
                <a:latin typeface="Times New Roman" panose="02020603050405020304" pitchFamily="18" charset="0"/>
                <a:cs typeface="Times New Roman" panose="02020603050405020304" pitchFamily="18" charset="0"/>
              </a:rPr>
              <a:t>Boy Found Dead In Basement</a:t>
            </a:r>
          </a:p>
          <a:p>
            <a:pPr>
              <a:buFontTx/>
              <a:buNone/>
            </a:pPr>
            <a:r>
              <a:rPr lang="en-US" altLang="zh-CN" sz="2400">
                <a:latin typeface="Times New Roman" panose="02020603050405020304" pitchFamily="18" charset="0"/>
                <a:cs typeface="Times New Roman" panose="02020603050405020304" pitchFamily="18" charset="0"/>
              </a:rPr>
              <a:t>Cab-Driver Trapped in Fake Accident </a:t>
            </a:r>
          </a:p>
          <a:p>
            <a:pPr>
              <a:buFontTx/>
              <a:buNone/>
            </a:pPr>
            <a:r>
              <a:rPr lang="en-US" altLang="zh-CN" sz="2400">
                <a:latin typeface="Times New Roman" panose="02020603050405020304" pitchFamily="18" charset="0"/>
                <a:cs typeface="Times New Roman" panose="02020603050405020304" pitchFamily="18" charset="0"/>
              </a:rPr>
              <a:t>(6) Copular verbs(</a:t>
            </a:r>
            <a:r>
              <a:rPr lang="zh-CN" altLang="en-US" sz="2400">
                <a:latin typeface="Times New Roman" panose="02020603050405020304" pitchFamily="18" charset="0"/>
                <a:cs typeface="Times New Roman" panose="02020603050405020304" pitchFamily="18" charset="0"/>
              </a:rPr>
              <a:t>系动词）</a:t>
            </a:r>
            <a:r>
              <a:rPr lang="en-US" altLang="zh-CN" sz="2400">
                <a:latin typeface="Times New Roman" panose="02020603050405020304" pitchFamily="18" charset="0"/>
                <a:cs typeface="Times New Roman" panose="02020603050405020304" pitchFamily="18" charset="0"/>
              </a:rPr>
              <a:t> are often left out</a:t>
            </a:r>
          </a:p>
          <a:p>
            <a:pPr>
              <a:buFontTx/>
              <a:buNone/>
            </a:pPr>
            <a:r>
              <a:rPr lang="en-US" altLang="zh-CN" sz="2400">
                <a:latin typeface="Times New Roman" panose="02020603050405020304" pitchFamily="18" charset="0"/>
                <a:cs typeface="Times New Roman" panose="02020603050405020304" pitchFamily="18" charset="0"/>
              </a:rPr>
              <a:t>Prep Program Trendy Prior to Graduate Exams</a:t>
            </a:r>
          </a:p>
          <a:p>
            <a:pPr>
              <a:buFontTx/>
              <a:buNone/>
            </a:pPr>
            <a:r>
              <a:rPr lang="en-US" altLang="zh-CN" sz="2400">
                <a:latin typeface="Times New Roman" panose="02020603050405020304" pitchFamily="18" charset="0"/>
                <a:cs typeface="Times New Roman" panose="02020603050405020304" pitchFamily="18" charset="0"/>
              </a:rPr>
              <a:t>Peace Studies New in the West, Says Uk Professor </a:t>
            </a:r>
          </a:p>
          <a:p>
            <a:pPr>
              <a:buFont typeface="Wingdings 3" panose="05040102010807070707" pitchFamily="18" charset="2"/>
              <a:buNone/>
            </a:pPr>
            <a:r>
              <a:rPr lang="en-US" altLang="zh-CN" sz="2400">
                <a:latin typeface="Times New Roman" panose="02020603050405020304" pitchFamily="18" charset="0"/>
                <a:cs typeface="Times New Roman" panose="02020603050405020304" pitchFamily="18" charset="0"/>
              </a:rPr>
              <a:t>http://www.chinadaily.com.cn/world/2016-05/20/content_25378267.htm</a:t>
            </a:r>
          </a:p>
          <a:p>
            <a:pPr>
              <a:buFontTx/>
              <a:buNone/>
            </a:pPr>
            <a:r>
              <a:rPr lang="en-US" altLang="zh-CN" sz="2400">
                <a:latin typeface="Times New Roman" panose="02020603050405020304" pitchFamily="18" charset="0"/>
                <a:cs typeface="Times New Roman" panose="02020603050405020304" pitchFamily="18" charset="0"/>
              </a:rPr>
              <a:t>(7</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With the present progressive, the verb “to be” is often omitted.    </a:t>
            </a:r>
          </a:p>
          <a:p>
            <a:pPr>
              <a:buFontTx/>
              <a:buNone/>
            </a:pPr>
            <a:r>
              <a:rPr lang="en-US" altLang="zh-CN" sz="2400">
                <a:latin typeface="Times New Roman" panose="02020603050405020304" pitchFamily="18" charset="0"/>
                <a:cs typeface="Times New Roman" panose="02020603050405020304" pitchFamily="18" charset="0"/>
              </a:rPr>
              <a:t>Computer Lab Trying Out New Rules </a:t>
            </a:r>
          </a:p>
          <a:p>
            <a:pPr>
              <a:buFont typeface="Wingdings 3" panose="05040102010807070707" pitchFamily="18" charset="2"/>
              <a:buNone/>
            </a:pPr>
            <a:r>
              <a:rPr lang="en-US" altLang="zh-CN" sz="2400">
                <a:latin typeface="Times New Roman" panose="02020603050405020304" pitchFamily="18" charset="0"/>
                <a:cs typeface="Times New Roman" panose="02020603050405020304" pitchFamily="18" charset="0"/>
              </a:rPr>
              <a:t>http://www.chinadaily.com.cn/china/2016-05/20/content_25381014.htm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1267">
                                            <p:txEl>
                                              <p:pRg st="5" end="5"/>
                                            </p:txEl>
                                          </p:spTgt>
                                        </p:tgtEl>
                                        <p:attrNameLst>
                                          <p:attrName>style.visibility</p:attrName>
                                        </p:attrNameLst>
                                      </p:cBhvr>
                                      <p:to>
                                        <p:strVal val="visible"/>
                                      </p:to>
                                    </p:set>
                                    <p:anim calcmode="lin" valueType="num">
                                      <p:cBhvr additive="base">
                                        <p:cTn id="37" dur="5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2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1267">
                                            <p:txEl>
                                              <p:pRg st="6" end="6"/>
                                            </p:txEl>
                                          </p:spTgt>
                                        </p:tgtEl>
                                        <p:attrNameLst>
                                          <p:attrName>style.visibility</p:attrName>
                                        </p:attrNameLst>
                                      </p:cBhvr>
                                      <p:to>
                                        <p:strVal val="visible"/>
                                      </p:to>
                                    </p:set>
                                    <p:anim calcmode="lin" valueType="num">
                                      <p:cBhvr additive="base">
                                        <p:cTn id="43" dur="500" fill="hold"/>
                                        <p:tgtEl>
                                          <p:spTgt spid="1126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2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1267">
                                            <p:txEl>
                                              <p:pRg st="7" end="7"/>
                                            </p:txEl>
                                          </p:spTgt>
                                        </p:tgtEl>
                                        <p:attrNameLst>
                                          <p:attrName>style.visibility</p:attrName>
                                        </p:attrNameLst>
                                      </p:cBhvr>
                                      <p:to>
                                        <p:strVal val="visible"/>
                                      </p:to>
                                    </p:set>
                                    <p:anim calcmode="lin" valueType="num">
                                      <p:cBhvr additive="base">
                                        <p:cTn id="49" dur="500" fill="hold"/>
                                        <p:tgtEl>
                                          <p:spTgt spid="1126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2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11267">
                                            <p:txEl>
                                              <p:pRg st="8" end="8"/>
                                            </p:txEl>
                                          </p:spTgt>
                                        </p:tgtEl>
                                        <p:attrNameLst>
                                          <p:attrName>style.visibility</p:attrName>
                                        </p:attrNameLst>
                                      </p:cBhvr>
                                      <p:to>
                                        <p:strVal val="visible"/>
                                      </p:to>
                                    </p:set>
                                    <p:anim calcmode="lin" valueType="num">
                                      <p:cBhvr additive="base">
                                        <p:cTn id="55" dur="500" fill="hold"/>
                                        <p:tgtEl>
                                          <p:spTgt spid="1126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26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11267">
                                            <p:txEl>
                                              <p:pRg st="9" end="9"/>
                                            </p:txEl>
                                          </p:spTgt>
                                        </p:tgtEl>
                                        <p:attrNameLst>
                                          <p:attrName>style.visibility</p:attrName>
                                        </p:attrNameLst>
                                      </p:cBhvr>
                                      <p:to>
                                        <p:strVal val="visible"/>
                                      </p:to>
                                    </p:set>
                                    <p:anim calcmode="lin" valueType="num">
                                      <p:cBhvr additive="base">
                                        <p:cTn id="61" dur="500" fill="hold"/>
                                        <p:tgtEl>
                                          <p:spTgt spid="1126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126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8B3E8E8-3867-A125-FADD-4EE0446EBEC0}"/>
              </a:ext>
            </a:extLst>
          </p:cNvPr>
          <p:cNvSpPr>
            <a:spLocks noGrp="1"/>
          </p:cNvSpPr>
          <p:nvPr>
            <p:ph idx="1"/>
          </p:nvPr>
        </p:nvSpPr>
        <p:spPr/>
        <p:txBody>
          <a:bodyPr>
            <a:normAutofit/>
          </a:bodyPr>
          <a:lstStyle/>
          <a:p>
            <a:pPr marL="365760" indent="-256032" fontAlgn="auto">
              <a:spcAft>
                <a:spcPts val="0"/>
              </a:spcAft>
              <a:buNone/>
              <a:defRPr/>
            </a:pPr>
            <a:r>
              <a:rPr lang="en-US" altLang="zh-CN" dirty="0">
                <a:latin typeface="Times New Roman" pitchFamily="18" charset="0"/>
                <a:cs typeface="Times New Roman" pitchFamily="18" charset="0"/>
              </a:rPr>
              <a:t>Requirement: </a:t>
            </a:r>
          </a:p>
          <a:p>
            <a:pPr marL="514350" indent="-514350" fontAlgn="auto">
              <a:spcAft>
                <a:spcPts val="0"/>
              </a:spcAft>
              <a:buNone/>
              <a:defRPr/>
            </a:pPr>
            <a:r>
              <a:rPr lang="en-US" altLang="zh-CN" dirty="0">
                <a:latin typeface="Times New Roman" pitchFamily="18" charset="0"/>
                <a:cs typeface="Times New Roman" pitchFamily="18" charset="0"/>
              </a:rPr>
              <a:t>1. Usually one sentence</a:t>
            </a:r>
          </a:p>
          <a:p>
            <a:pPr marL="514350" indent="-514350" fontAlgn="auto">
              <a:spcAft>
                <a:spcPts val="0"/>
              </a:spcAft>
              <a:buNone/>
              <a:defRPr/>
            </a:pPr>
            <a:r>
              <a:rPr lang="en-US" altLang="zh-CN" dirty="0">
                <a:latin typeface="Times New Roman" pitchFamily="18" charset="0"/>
                <a:cs typeface="Times New Roman" pitchFamily="18" charset="0"/>
              </a:rPr>
              <a:t>2. Summarize the news</a:t>
            </a:r>
          </a:p>
          <a:p>
            <a:pPr marL="514350" indent="-514350" fontAlgn="auto">
              <a:spcAft>
                <a:spcPts val="0"/>
              </a:spcAft>
              <a:buNone/>
              <a:defRPr/>
            </a:pPr>
            <a:r>
              <a:rPr lang="en-US" altLang="zh-CN" dirty="0">
                <a:latin typeface="Times New Roman" pitchFamily="18" charset="0"/>
                <a:cs typeface="Times New Roman" pitchFamily="18" charset="0"/>
              </a:rPr>
              <a:t>3. Attract the reader’s attention </a:t>
            </a:r>
            <a:endParaRPr lang="zh-CN" altLang="en-US" dirty="0">
              <a:latin typeface="Times New Roman" pitchFamily="18" charset="0"/>
              <a:cs typeface="Times New Roman" pitchFamily="18" charset="0"/>
            </a:endParaRPr>
          </a:p>
        </p:txBody>
      </p:sp>
      <p:sp>
        <p:nvSpPr>
          <p:cNvPr id="47107" name="标题 1">
            <a:extLst>
              <a:ext uri="{FF2B5EF4-FFF2-40B4-BE49-F238E27FC236}">
                <a16:creationId xmlns:a16="http://schemas.microsoft.com/office/drawing/2014/main" id="{8D58E39C-F0E2-6533-CA31-D2CF5596485F}"/>
              </a:ext>
            </a:extLst>
          </p:cNvPr>
          <p:cNvSpPr>
            <a:spLocks noGrp="1" noChangeArrowheads="1"/>
          </p:cNvSpPr>
          <p:nvPr>
            <p:ph type="title"/>
          </p:nvPr>
        </p:nvSpPr>
        <p:spPr/>
        <p:txBody>
          <a:bodyPr/>
          <a:lstStyle/>
          <a:p>
            <a:r>
              <a:rPr lang="en-US" altLang="zh-CN">
                <a:latin typeface="Times New Roman" panose="02020603050405020304" pitchFamily="18" charset="0"/>
                <a:cs typeface="Times New Roman" panose="02020603050405020304" pitchFamily="18" charset="0"/>
              </a:rPr>
              <a:t>Writing a Lead </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a:extLst>
              <a:ext uri="{FF2B5EF4-FFF2-40B4-BE49-F238E27FC236}">
                <a16:creationId xmlns:a16="http://schemas.microsoft.com/office/drawing/2014/main" id="{24D9D0B9-09D3-36A1-46E5-9072A5D0E36B}"/>
              </a:ext>
            </a:extLst>
          </p:cNvPr>
          <p:cNvSpPr>
            <a:spLocks noGrp="1"/>
          </p:cNvSpPr>
          <p:nvPr>
            <p:ph idx="1"/>
          </p:nvPr>
        </p:nvSpPr>
        <p:spPr/>
        <p:txBody>
          <a:bodyPr/>
          <a:lstStyle/>
          <a:p>
            <a:pPr marL="0" indent="0">
              <a:buNone/>
              <a:defRPr/>
            </a:pPr>
            <a:r>
              <a:rPr lang="en-US" altLang="zh-CN" dirty="0">
                <a:latin typeface="Times New Roman" panose="02020603050405020304" pitchFamily="18" charset="0"/>
                <a:cs typeface="Times New Roman" panose="02020603050405020304" pitchFamily="18" charset="0"/>
              </a:rPr>
              <a:t>1.    A lead should contain the essence of the story. </a:t>
            </a:r>
          </a:p>
          <a:p>
            <a:pPr marL="0" indent="628650" algn="just">
              <a:buNone/>
              <a:defRPr/>
            </a:pPr>
            <a:r>
              <a:rPr lang="en-US" altLang="zh-CN" dirty="0">
                <a:latin typeface="Times New Roman" panose="02020603050405020304" pitchFamily="18" charset="0"/>
                <a:cs typeface="Times New Roman" panose="02020603050405020304" pitchFamily="18" charset="0"/>
              </a:rPr>
              <a:t>Noble Prize laureate Jim Hoffman went up to the stage and greeted the students of Nanjing University when they were gathered to celebrate the May Fourth Youth Day yesterday. </a:t>
            </a:r>
            <a:endParaRPr lang="zh-CN" altLang="en-US" dirty="0">
              <a:latin typeface="Times New Roman" panose="02020603050405020304" pitchFamily="18" charset="0"/>
              <a:cs typeface="Times New Roman" panose="02020603050405020304" pitchFamily="18" charset="0"/>
            </a:endParaRPr>
          </a:p>
        </p:txBody>
      </p:sp>
      <p:sp>
        <p:nvSpPr>
          <p:cNvPr id="15362" name="标题 1">
            <a:extLst>
              <a:ext uri="{FF2B5EF4-FFF2-40B4-BE49-F238E27FC236}">
                <a16:creationId xmlns:a16="http://schemas.microsoft.com/office/drawing/2014/main" id="{9246B505-08B4-4560-6837-47DABFDC94BC}"/>
              </a:ext>
            </a:extLst>
          </p:cNvPr>
          <p:cNvSpPr>
            <a:spLocks noGrp="1" noChangeArrowheads="1"/>
          </p:cNvSpPr>
          <p:nvPr>
            <p:ph type="title"/>
          </p:nvPr>
        </p:nvSpPr>
        <p:spPr/>
        <p:txBody>
          <a:bodyPr/>
          <a:lstStyle/>
          <a:p>
            <a:r>
              <a:rPr lang="en-US" altLang="zh-CN" sz="3200">
                <a:latin typeface="Times New Roman" panose="02020603050405020304" pitchFamily="18" charset="0"/>
                <a:cs typeface="Times New Roman" panose="02020603050405020304" pitchFamily="18" charset="0"/>
              </a:rPr>
              <a:t>Tips for Writing a Lead</a:t>
            </a:r>
            <a:endParaRPr lang="zh-CN" altLang="en-US" sz="32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ppt_x"/>
                                          </p:val>
                                        </p:tav>
                                        <p:tav tm="100000">
                                          <p:val>
                                            <p:strVal val="#ppt_x"/>
                                          </p:val>
                                        </p:tav>
                                      </p:tavLst>
                                    </p:anim>
                                    <p:anim calcmode="lin" valueType="num">
                                      <p:cBhvr additive="base">
                                        <p:cTn id="8"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363">
                                            <p:txEl>
                                              <p:pRg st="0" end="0"/>
                                            </p:txEl>
                                          </p:spTgt>
                                        </p:tgtEl>
                                        <p:attrNameLst>
                                          <p:attrName>style.visibility</p:attrName>
                                        </p:attrNameLst>
                                      </p:cBhvr>
                                      <p:to>
                                        <p:strVal val="visible"/>
                                      </p:to>
                                    </p:set>
                                    <p:anim calcmode="lin" valueType="num">
                                      <p:cBhvr additive="base">
                                        <p:cTn id="13"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363">
                                            <p:txEl>
                                              <p:pRg st="1" end="1"/>
                                            </p:txEl>
                                          </p:spTgt>
                                        </p:tgtEl>
                                        <p:attrNameLst>
                                          <p:attrName>style.visibility</p:attrName>
                                        </p:attrNameLst>
                                      </p:cBhvr>
                                      <p:to>
                                        <p:strVal val="visible"/>
                                      </p:to>
                                    </p:set>
                                    <p:anim calcmode="lin" valueType="num">
                                      <p:cBhvr additive="base">
                                        <p:cTn id="19"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2">
            <a:extLst>
              <a:ext uri="{FF2B5EF4-FFF2-40B4-BE49-F238E27FC236}">
                <a16:creationId xmlns:a16="http://schemas.microsoft.com/office/drawing/2014/main" id="{99418A06-2078-3DBA-4155-5E58FDFACBF2}"/>
              </a:ext>
            </a:extLst>
          </p:cNvPr>
          <p:cNvSpPr>
            <a:spLocks noGrp="1" noChangeArrowheads="1"/>
          </p:cNvSpPr>
          <p:nvPr>
            <p:ph idx="1"/>
          </p:nvPr>
        </p:nvSpPr>
        <p:spPr/>
        <p:txBody>
          <a:bodyPr/>
          <a:lstStyle/>
          <a:p>
            <a:pPr>
              <a:buFontTx/>
              <a:buNone/>
            </a:pPr>
            <a:r>
              <a:rPr lang="en-US" altLang="zh-CN" sz="2800">
                <a:latin typeface="Times New Roman" panose="02020603050405020304" pitchFamily="18" charset="0"/>
                <a:cs typeface="Times New Roman" panose="02020603050405020304" pitchFamily="18" charset="0"/>
              </a:rPr>
              <a:t>2.  A lead should begin with the most important elements of information.</a:t>
            </a:r>
          </a:p>
          <a:p>
            <a:pPr>
              <a:buFontTx/>
              <a:buNone/>
            </a:pPr>
            <a:r>
              <a:rPr lang="en-US" altLang="zh-CN" sz="2800">
                <a:latin typeface="Times New Roman" panose="02020603050405020304" pitchFamily="18" charset="0"/>
                <a:cs typeface="Times New Roman" panose="02020603050405020304" pitchFamily="18" charset="0"/>
              </a:rPr>
              <a:t> The death toll soar to 750 as a devastating </a:t>
            </a:r>
            <a:r>
              <a:rPr lang="en-US" altLang="zh-CN" sz="2800" b="1">
                <a:latin typeface="Times New Roman" panose="02020603050405020304" pitchFamily="18" charset="0"/>
                <a:cs typeface="Times New Roman" panose="02020603050405020304" pitchFamily="18" charset="0"/>
              </a:rPr>
              <a:t>8.8-magnitude </a:t>
            </a:r>
            <a:r>
              <a:rPr lang="en-US" altLang="zh-CN" sz="2800">
                <a:latin typeface="Times New Roman" panose="02020603050405020304" pitchFamily="18" charset="0"/>
                <a:cs typeface="Times New Roman" panose="02020603050405020304" pitchFamily="18" charset="0"/>
              </a:rPr>
              <a:t>earthquake hit Chile on early Saturday. </a:t>
            </a:r>
          </a:p>
          <a:p>
            <a:pPr>
              <a:buFontTx/>
              <a:buNone/>
            </a:pPr>
            <a:endParaRPr lang="en-US" altLang="zh-CN"/>
          </a:p>
          <a:p>
            <a:pPr>
              <a:buFontTx/>
              <a:buNone/>
            </a:pPr>
            <a:endParaRPr lang="zh-CN" altLang="en-US"/>
          </a:p>
        </p:txBody>
      </p:sp>
      <p:sp>
        <p:nvSpPr>
          <p:cNvPr id="49155" name="标题 1">
            <a:extLst>
              <a:ext uri="{FF2B5EF4-FFF2-40B4-BE49-F238E27FC236}">
                <a16:creationId xmlns:a16="http://schemas.microsoft.com/office/drawing/2014/main" id="{1D8DBC1A-9004-B83D-AFBC-C6E1605DBDAB}"/>
              </a:ext>
            </a:extLst>
          </p:cNvPr>
          <p:cNvSpPr>
            <a:spLocks noGrp="1" noChangeArrowheads="1"/>
          </p:cNvSpPr>
          <p:nvPr>
            <p:ph type="title"/>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2">
            <a:extLst>
              <a:ext uri="{FF2B5EF4-FFF2-40B4-BE49-F238E27FC236}">
                <a16:creationId xmlns:a16="http://schemas.microsoft.com/office/drawing/2014/main" id="{FEAFDC04-09BE-65D8-D0F2-56347B13DB12}"/>
              </a:ext>
            </a:extLst>
          </p:cNvPr>
          <p:cNvSpPr>
            <a:spLocks noGrp="1" noChangeArrowheads="1"/>
          </p:cNvSpPr>
          <p:nvPr>
            <p:ph idx="1"/>
          </p:nvPr>
        </p:nvSpPr>
        <p:spPr/>
        <p:txBody>
          <a:bodyPr/>
          <a:lstStyle/>
          <a:p>
            <a:pPr>
              <a:buFontTx/>
              <a:buNone/>
            </a:pPr>
            <a:r>
              <a:rPr lang="en-US" altLang="zh-CN">
                <a:latin typeface="Times New Roman" panose="02020603050405020304" pitchFamily="18" charset="0"/>
                <a:cs typeface="Times New Roman" panose="02020603050405020304" pitchFamily="18" charset="0"/>
              </a:rPr>
              <a:t>3. A lead writer should use active voice if possible</a:t>
            </a:r>
          </a:p>
          <a:p>
            <a:pPr>
              <a:buFontTx/>
              <a:buNone/>
            </a:pPr>
            <a:r>
              <a:rPr lang="en-US" altLang="zh-CN">
                <a:latin typeface="Times New Roman" panose="02020603050405020304" pitchFamily="18" charset="0"/>
                <a:cs typeface="Times New Roman" panose="02020603050405020304" pitchFamily="18" charset="0"/>
              </a:rPr>
              <a:t>A power outrage last night was caused by a fuse blowout in Dormitory No.12. </a:t>
            </a:r>
          </a:p>
          <a:p>
            <a:pPr>
              <a:buFontTx/>
              <a:buNone/>
            </a:pPr>
            <a:r>
              <a:rPr lang="en-US" altLang="zh-CN">
                <a:latin typeface="Times New Roman" panose="02020603050405020304" pitchFamily="18" charset="0"/>
                <a:cs typeface="Times New Roman" panose="02020603050405020304" pitchFamily="18" charset="0"/>
              </a:rPr>
              <a:t> A power outrage last night angered dozens of students in Dormitory No.12 who lost files in their computers. </a:t>
            </a:r>
            <a:endParaRPr lang="zh-CN" altLang="en-US">
              <a:latin typeface="Times New Roman" panose="02020603050405020304" pitchFamily="18" charset="0"/>
              <a:cs typeface="Times New Roman" panose="02020603050405020304" pitchFamily="18" charset="0"/>
            </a:endParaRPr>
          </a:p>
        </p:txBody>
      </p:sp>
      <p:sp>
        <p:nvSpPr>
          <p:cNvPr id="50179" name="标题 1">
            <a:extLst>
              <a:ext uri="{FF2B5EF4-FFF2-40B4-BE49-F238E27FC236}">
                <a16:creationId xmlns:a16="http://schemas.microsoft.com/office/drawing/2014/main" id="{812E49F5-3DB2-C901-B252-4B90B8FC6386}"/>
              </a:ext>
            </a:extLst>
          </p:cNvPr>
          <p:cNvSpPr>
            <a:spLocks noGrp="1" noChangeArrowheads="1"/>
          </p:cNvSpPr>
          <p:nvPr>
            <p:ph type="title"/>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2">
            <a:extLst>
              <a:ext uri="{FF2B5EF4-FFF2-40B4-BE49-F238E27FC236}">
                <a16:creationId xmlns:a16="http://schemas.microsoft.com/office/drawing/2014/main" id="{1386181B-70F0-406F-168E-E349F91CCBD8}"/>
              </a:ext>
            </a:extLst>
          </p:cNvPr>
          <p:cNvSpPr>
            <a:spLocks noGrp="1"/>
          </p:cNvSpPr>
          <p:nvPr>
            <p:ph idx="1"/>
          </p:nvPr>
        </p:nvSpPr>
        <p:spPr/>
        <p:txBody>
          <a:bodyPr>
            <a:normAutofit/>
          </a:bodyPr>
          <a:lstStyle/>
          <a:p>
            <a:pPr marL="365760" indent="-256032" fontAlgn="auto">
              <a:spcAft>
                <a:spcPts val="0"/>
              </a:spcAft>
              <a:buNone/>
              <a:defRPr/>
            </a:pPr>
            <a:r>
              <a:rPr lang="en-US" altLang="zh-CN" dirty="0">
                <a:latin typeface="Times New Roman" pitchFamily="18" charset="0"/>
                <a:cs typeface="Times New Roman" pitchFamily="18" charset="0"/>
              </a:rPr>
              <a:t>4.  A lead writer should try not to overwhelm the reader with too much detail</a:t>
            </a:r>
          </a:p>
          <a:p>
            <a:pPr marL="624078" indent="-514350" fontAlgn="auto">
              <a:spcAft>
                <a:spcPts val="0"/>
              </a:spcAft>
              <a:buNone/>
              <a:defRPr/>
            </a:pPr>
            <a:r>
              <a:rPr lang="en-US" altLang="zh-CN" dirty="0">
                <a:latin typeface="Times New Roman" pitchFamily="18" charset="0"/>
                <a:cs typeface="Times New Roman" pitchFamily="18" charset="0"/>
              </a:rPr>
              <a:t>5. A leader writer should weed out anything indicative of your own opinion </a:t>
            </a:r>
          </a:p>
          <a:p>
            <a:pPr marL="624078" indent="-514350" fontAlgn="auto">
              <a:spcAft>
                <a:spcPts val="0"/>
              </a:spcAft>
              <a:buFontTx/>
              <a:buAutoNum type="arabicPeriod" startAt="5"/>
              <a:defRPr/>
            </a:pPr>
            <a:endParaRPr lang="en-US" altLang="zh-CN" dirty="0">
              <a:latin typeface="Times New Roman" pitchFamily="18" charset="0"/>
              <a:cs typeface="Times New Roman" pitchFamily="18" charset="0"/>
            </a:endParaRPr>
          </a:p>
          <a:p>
            <a:pPr marL="624078" indent="-514350" fontAlgn="auto">
              <a:spcAft>
                <a:spcPts val="0"/>
              </a:spcAft>
              <a:buFontTx/>
              <a:buAutoNum type="arabicPeriod" startAt="5"/>
              <a:defRPr/>
            </a:pPr>
            <a:endParaRPr lang="en-US" altLang="zh-CN" dirty="0">
              <a:latin typeface="Times New Roman" pitchFamily="18" charset="0"/>
              <a:cs typeface="Times New Roman" pitchFamily="18" charset="0"/>
            </a:endParaRPr>
          </a:p>
          <a:p>
            <a:pPr marL="624078" indent="-514350" fontAlgn="auto">
              <a:spcAft>
                <a:spcPts val="0"/>
              </a:spcAft>
              <a:buNone/>
              <a:defRPr/>
            </a:pPr>
            <a:r>
              <a:rPr lang="en-US" altLang="zh-CN" dirty="0">
                <a:latin typeface="Times New Roman" pitchFamily="18" charset="0"/>
                <a:cs typeface="Times New Roman" pitchFamily="18" charset="0"/>
              </a:rPr>
              <a:t>http://www.chinadaily.com.cn/</a:t>
            </a:r>
            <a:endParaRPr lang="zh-CN" altLang="en-US" dirty="0">
              <a:latin typeface="Times New Roman" pitchFamily="18" charset="0"/>
              <a:cs typeface="Times New Roman" pitchFamily="18" charset="0"/>
            </a:endParaRPr>
          </a:p>
        </p:txBody>
      </p:sp>
      <p:sp>
        <p:nvSpPr>
          <p:cNvPr id="51203" name="标题 1">
            <a:extLst>
              <a:ext uri="{FF2B5EF4-FFF2-40B4-BE49-F238E27FC236}">
                <a16:creationId xmlns:a16="http://schemas.microsoft.com/office/drawing/2014/main" id="{FC800E45-6E3C-6EC5-9E97-29C1806000F3}"/>
              </a:ext>
            </a:extLst>
          </p:cNvPr>
          <p:cNvSpPr>
            <a:spLocks noGrp="1" noChangeArrowheads="1"/>
          </p:cNvSpPr>
          <p:nvPr>
            <p:ph type="title"/>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anim calcmode="lin" valueType="num">
                                      <p:cBhvr additive="base">
                                        <p:cTn id="19" dur="5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a:extLst>
              <a:ext uri="{FF2B5EF4-FFF2-40B4-BE49-F238E27FC236}">
                <a16:creationId xmlns:a16="http://schemas.microsoft.com/office/drawing/2014/main" id="{CC025A0D-47C0-8425-7E68-851F01BF8BF1}"/>
              </a:ext>
            </a:extLst>
          </p:cNvPr>
          <p:cNvSpPr>
            <a:spLocks noGrp="1" noChangeArrowheads="1"/>
          </p:cNvSpPr>
          <p:nvPr>
            <p:ph idx="1"/>
          </p:nvPr>
        </p:nvSpPr>
        <p:spPr>
          <a:xfrm>
            <a:off x="1852613" y="765176"/>
            <a:ext cx="7988300" cy="5643563"/>
          </a:xfrm>
        </p:spPr>
        <p:txBody>
          <a:bodyPr/>
          <a:lstStyle/>
          <a:p>
            <a:pPr marL="609600" indent="-609600"/>
            <a:r>
              <a:rPr lang="en-US" altLang="zh-CN" sz="2400">
                <a:latin typeface="Times New Roman" panose="02020603050405020304" pitchFamily="18" charset="0"/>
                <a:cs typeface="Times New Roman" panose="02020603050405020304" pitchFamily="18" charset="0"/>
              </a:rPr>
              <a:t>6. </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A good lead is one that gets the most readers to the next paragraph.”</a:t>
            </a:r>
          </a:p>
          <a:p>
            <a:pPr marL="609600" indent="-609600"/>
            <a:r>
              <a:rPr lang="en-US" altLang="zh-CN" sz="2400">
                <a:latin typeface="Times New Roman" panose="02020603050405020304" pitchFamily="18" charset="0"/>
                <a:cs typeface="Times New Roman" panose="02020603050405020304" pitchFamily="18" charset="0"/>
              </a:rPr>
              <a:t>A good lead should </a:t>
            </a:r>
            <a:r>
              <a:rPr lang="en-US" altLang="zh-CN" sz="2400" i="1">
                <a:latin typeface="Times New Roman" panose="02020603050405020304" pitchFamily="18" charset="0"/>
                <a:cs typeface="Times New Roman" panose="02020603050405020304" pitchFamily="18" charset="0"/>
              </a:rPr>
              <a:t>inform</a:t>
            </a:r>
            <a:r>
              <a:rPr lang="en-US" altLang="zh-CN" sz="2400">
                <a:latin typeface="Times New Roman" panose="02020603050405020304" pitchFamily="18" charset="0"/>
                <a:cs typeface="Times New Roman" panose="02020603050405020304" pitchFamily="18" charset="0"/>
              </a:rPr>
              <a:t>, </a:t>
            </a:r>
            <a:r>
              <a:rPr lang="en-US" altLang="zh-CN" sz="2400" i="1">
                <a:latin typeface="Times New Roman" panose="02020603050405020304" pitchFamily="18" charset="0"/>
                <a:cs typeface="Times New Roman" panose="02020603050405020304" pitchFamily="18" charset="0"/>
              </a:rPr>
              <a:t>underline</a:t>
            </a:r>
            <a:r>
              <a:rPr lang="en-US" altLang="zh-CN" sz="2400">
                <a:latin typeface="Times New Roman" panose="02020603050405020304" pitchFamily="18" charset="0"/>
                <a:cs typeface="Times New Roman" panose="02020603050405020304" pitchFamily="18" charset="0"/>
              </a:rPr>
              <a:t>, and </a:t>
            </a:r>
            <a:r>
              <a:rPr lang="en-US" altLang="zh-CN" sz="2400" i="1">
                <a:latin typeface="Times New Roman" panose="02020603050405020304" pitchFamily="18" charset="0"/>
                <a:cs typeface="Times New Roman" panose="02020603050405020304" pitchFamily="18" charset="0"/>
              </a:rPr>
              <a:t>stimulate</a:t>
            </a:r>
            <a:r>
              <a:rPr lang="en-US" altLang="zh-CN" sz="2400">
                <a:latin typeface="Times New Roman" panose="02020603050405020304" pitchFamily="18" charset="0"/>
                <a:cs typeface="Times New Roman" panose="02020603050405020304" pitchFamily="18" charset="0"/>
              </a:rPr>
              <a:t> in a way the best conveys a story’s </a:t>
            </a:r>
            <a:r>
              <a:rPr lang="en-US" altLang="zh-CN" sz="2400" i="1">
                <a:latin typeface="Times New Roman" panose="02020603050405020304" pitchFamily="18" charset="0"/>
                <a:cs typeface="Times New Roman" panose="02020603050405020304" pitchFamily="18" charset="0"/>
              </a:rPr>
              <a:t>meaning</a:t>
            </a:r>
            <a:r>
              <a:rPr lang="en-US" altLang="zh-CN" sz="2400">
                <a:latin typeface="Times New Roman" panose="02020603050405020304" pitchFamily="18" charset="0"/>
                <a:cs typeface="Times New Roman" panose="02020603050405020304" pitchFamily="18" charset="0"/>
              </a:rPr>
              <a:t>. </a:t>
            </a:r>
          </a:p>
          <a:p>
            <a:pPr marL="609600" indent="-609600">
              <a:buNone/>
            </a:pPr>
            <a:r>
              <a:rPr lang="en-US" altLang="zh-CN" sz="2400">
                <a:latin typeface="Times New Roman" panose="02020603050405020304" pitchFamily="18" charset="0"/>
                <a:cs typeface="Times New Roman" panose="02020603050405020304" pitchFamily="18" charset="0"/>
              </a:rPr>
              <a:t>       e.g., Dental surgeons said yesterday they had discovered why snoring can kill sometimes: it can damage the arteries.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blinds(horizontal)">
                                      <p:cBhvr>
                                        <p:cTn id="7" dur="500"/>
                                        <p:tgtEl>
                                          <p:spTgt spid="839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3971">
                                            <p:txEl>
                                              <p:pRg st="1" end="1"/>
                                            </p:txEl>
                                          </p:spTgt>
                                        </p:tgtEl>
                                        <p:attrNameLst>
                                          <p:attrName>style.visibility</p:attrName>
                                        </p:attrNameLst>
                                      </p:cBhvr>
                                      <p:to>
                                        <p:strVal val="visible"/>
                                      </p:to>
                                    </p:set>
                                    <p:animEffect transition="in" filter="blinds(horizontal)">
                                      <p:cBhvr>
                                        <p:cTn id="12" dur="500"/>
                                        <p:tgtEl>
                                          <p:spTgt spid="839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3971">
                                            <p:txEl>
                                              <p:pRg st="2" end="2"/>
                                            </p:txEl>
                                          </p:spTgt>
                                        </p:tgtEl>
                                        <p:attrNameLst>
                                          <p:attrName>style.visibility</p:attrName>
                                        </p:attrNameLst>
                                      </p:cBhvr>
                                      <p:to>
                                        <p:strVal val="visible"/>
                                      </p:to>
                                    </p:set>
                                    <p:animEffect transition="in" filter="blinds(horizontal)">
                                      <p:cBhvr>
                                        <p:cTn id="17" dur="500"/>
                                        <p:tgtEl>
                                          <p:spTgt spid="839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a:extLst>
              <a:ext uri="{FF2B5EF4-FFF2-40B4-BE49-F238E27FC236}">
                <a16:creationId xmlns:a16="http://schemas.microsoft.com/office/drawing/2014/main" id="{78307952-C6F4-77E9-8714-56466E40A90B}"/>
              </a:ext>
            </a:extLst>
          </p:cNvPr>
          <p:cNvSpPr>
            <a:spLocks noGrp="1" noChangeArrowheads="1"/>
          </p:cNvSpPr>
          <p:nvPr>
            <p:ph idx="1"/>
          </p:nvPr>
        </p:nvSpPr>
        <p:spPr>
          <a:xfrm>
            <a:off x="1992313" y="692150"/>
            <a:ext cx="8229600" cy="5329238"/>
          </a:xfrm>
        </p:spPr>
        <p:txBody>
          <a:bodyPr/>
          <a:lstStyle/>
          <a:p>
            <a:pPr algn="just">
              <a:buFontTx/>
              <a:buNone/>
            </a:pPr>
            <a:r>
              <a:rPr lang="en-US" altLang="zh-CN" sz="2400">
                <a:latin typeface="Times New Roman" panose="02020603050405020304" pitchFamily="18" charset="0"/>
                <a:cs typeface="Times New Roman" panose="02020603050405020304" pitchFamily="18" charset="0"/>
              </a:rPr>
              <a:t>         Li Jun and Wang Hao are fourth-year computer major sharing the same dormitory. Due to a severe case of polio in childhood, Wang Hao has to walk with two crutches. For more than three years since they entered the University, Li Jun has been helping his roommate climb stairs, carry things, and get meals and hot water regardless of how bad the weather is. Last semester when the class had an outing, Li Jun borrowed a wheelchair so that Wang Hao could go hiking with others. Li and other students pushed the wheelchair all the way to the top of the mountain. Because of what Li Jun has done for Wang Hao over the years, the student union of the University decided at a recent meeting to award Li Jun the title of “ Model Student in Learning from Lei Feng” when they hold the May Fourth Youth Day student meeting next week. </a:t>
            </a:r>
            <a:endParaRPr lang="zh-CN" altLang="zh-CN" sz="2400">
              <a:latin typeface="Times New Roman" panose="02020603050405020304" pitchFamily="18" charset="0"/>
              <a:cs typeface="Times New Roman" panose="02020603050405020304" pitchFamily="18" charset="0"/>
            </a:endParaRPr>
          </a:p>
          <a:p>
            <a:pPr algn="just">
              <a:buFontTx/>
              <a:buNone/>
            </a:pP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a:extLst>
              <a:ext uri="{FF2B5EF4-FFF2-40B4-BE49-F238E27FC236}">
                <a16:creationId xmlns:a16="http://schemas.microsoft.com/office/drawing/2014/main" id="{610EEC06-2356-E62C-B39C-DE2A2F3A3636}"/>
              </a:ext>
            </a:extLst>
          </p:cNvPr>
          <p:cNvSpPr>
            <a:spLocks noGrp="1" noChangeArrowheads="1"/>
          </p:cNvSpPr>
          <p:nvPr>
            <p:ph idx="1"/>
          </p:nvPr>
        </p:nvSpPr>
        <p:spPr/>
        <p:txBody>
          <a:bodyPr/>
          <a:lstStyle/>
          <a:p>
            <a:pPr>
              <a:buFontTx/>
              <a:buNone/>
            </a:pPr>
            <a:r>
              <a:rPr lang="en-US" altLang="zh-CN" sz="2400">
                <a:latin typeface="Times New Roman" panose="02020603050405020304" pitchFamily="18" charset="0"/>
                <a:cs typeface="Times New Roman" panose="02020603050405020304" pitchFamily="18" charset="0"/>
              </a:rPr>
              <a:t>           </a:t>
            </a:r>
            <a:r>
              <a:rPr lang="en-US" altLang="zh-CN" sz="2800">
                <a:latin typeface="Times New Roman" panose="02020603050405020304" pitchFamily="18" charset="0"/>
                <a:cs typeface="Times New Roman" panose="02020603050405020304" pitchFamily="18" charset="0"/>
              </a:rPr>
              <a:t>The student union next week will award the title of “Model Student in Learning from Lei Feng” to a fourth-year computer major who has been, for more than three years, helping a disabled roommate climb stairs, carry books , and get meals and hot water. </a:t>
            </a:r>
            <a:endParaRPr lang="zh-CN" altLang="en-US" sz="2800">
              <a:latin typeface="Times New Roman" panose="02020603050405020304" pitchFamily="18" charset="0"/>
              <a:cs typeface="Times New Roman" panose="02020603050405020304" pitchFamily="18" charset="0"/>
            </a:endParaRPr>
          </a:p>
        </p:txBody>
      </p:sp>
      <p:sp>
        <p:nvSpPr>
          <p:cNvPr id="55299" name="标题 1">
            <a:extLst>
              <a:ext uri="{FF2B5EF4-FFF2-40B4-BE49-F238E27FC236}">
                <a16:creationId xmlns:a16="http://schemas.microsoft.com/office/drawing/2014/main" id="{5B3E237C-2675-4119-9532-04AF62661729}"/>
              </a:ext>
            </a:extLst>
          </p:cNvPr>
          <p:cNvSpPr>
            <a:spLocks noGrp="1" noChangeArrowheads="1"/>
          </p:cNvSpPr>
          <p:nvPr>
            <p:ph type="title"/>
          </p:nvPr>
        </p:nvSpPr>
        <p:spPr/>
        <p:txBody>
          <a:bodyPr/>
          <a:lstStyle/>
          <a:p>
            <a:r>
              <a:rPr lang="en-US" altLang="zh-CN"/>
              <a:t>Sample lead</a:t>
            </a: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a:extLst>
              <a:ext uri="{FF2B5EF4-FFF2-40B4-BE49-F238E27FC236}">
                <a16:creationId xmlns:a16="http://schemas.microsoft.com/office/drawing/2014/main" id="{03268964-6607-6C2A-1043-3B1B79C540E0}"/>
              </a:ext>
            </a:extLst>
          </p:cNvPr>
          <p:cNvSpPr>
            <a:spLocks noGrp="1" noChangeArrowheads="1"/>
          </p:cNvSpPr>
          <p:nvPr>
            <p:ph idx="1"/>
          </p:nvPr>
        </p:nvSpPr>
        <p:spPr>
          <a:xfrm>
            <a:off x="2279650" y="260350"/>
            <a:ext cx="7848600" cy="6337300"/>
          </a:xfrm>
        </p:spPr>
        <p:txBody>
          <a:bodyPr/>
          <a:lstStyle/>
          <a:p>
            <a:pPr marL="609600" indent="-609600">
              <a:buNone/>
            </a:pPr>
            <a:r>
              <a:rPr lang="en-US" altLang="zh-CN" sz="2800" i="1">
                <a:latin typeface="Times New Roman" panose="02020603050405020304" pitchFamily="18" charset="0"/>
                <a:cs typeface="Times New Roman" panose="02020603050405020304" pitchFamily="18" charset="0"/>
              </a:rPr>
              <a:t>Write up a lead based on the following facts. You don’t have to include all details.</a:t>
            </a:r>
            <a:endParaRPr lang="en-US" altLang="zh-CN" sz="2800">
              <a:latin typeface="Times New Roman" panose="02020603050405020304" pitchFamily="18" charset="0"/>
              <a:cs typeface="Times New Roman" panose="02020603050405020304" pitchFamily="18" charset="0"/>
            </a:endParaRPr>
          </a:p>
          <a:p>
            <a:pPr marL="609600" indent="-609600"/>
            <a:r>
              <a:rPr lang="en-US" altLang="zh-CN" sz="2800">
                <a:latin typeface="Times New Roman" panose="02020603050405020304" pitchFamily="18" charset="0"/>
                <a:cs typeface="Times New Roman" panose="02020603050405020304" pitchFamily="18" charset="0"/>
              </a:rPr>
              <a:t>Who: A boy student and a girl student, Professor Tang, all from the Chinese Department of Nanjing University </a:t>
            </a:r>
          </a:p>
          <a:p>
            <a:pPr marL="609600" indent="-609600"/>
            <a:r>
              <a:rPr lang="en-US" altLang="zh-CN" sz="2800">
                <a:latin typeface="Times New Roman" panose="02020603050405020304" pitchFamily="18" charset="0"/>
                <a:cs typeface="Times New Roman" panose="02020603050405020304" pitchFamily="18" charset="0"/>
              </a:rPr>
              <a:t>What: The boy confessed his love to the girl in front of their classmates and took her away with the professor’s consent; the story spread rapidly and created a stir on the Internet</a:t>
            </a:r>
          </a:p>
          <a:p>
            <a:pPr marL="609600" indent="-609600"/>
            <a:r>
              <a:rPr lang="en-US" altLang="zh-CN" sz="2800">
                <a:latin typeface="Times New Roman" panose="02020603050405020304" pitchFamily="18" charset="0"/>
                <a:cs typeface="Times New Roman" panose="02020603050405020304" pitchFamily="18" charset="0"/>
              </a:rPr>
              <a:t>When: Tuesday, right before the Foreign Literature class started</a:t>
            </a:r>
          </a:p>
          <a:p>
            <a:pPr marL="609600" indent="-609600"/>
            <a:r>
              <a:rPr lang="en-US" altLang="zh-CN" sz="2800">
                <a:latin typeface="Times New Roman" panose="02020603050405020304" pitchFamily="18" charset="0"/>
                <a:cs typeface="Times New Roman" panose="02020603050405020304" pitchFamily="18" charset="0"/>
              </a:rPr>
              <a:t>Where: in a classroom on Xianlin campus</a:t>
            </a:r>
            <a:endParaRPr lang="zh-CN" altLang="en-US"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blinds(horizontal)">
                                      <p:cBhvr>
                                        <p:cTn id="7" dur="500"/>
                                        <p:tgtEl>
                                          <p:spTgt spid="89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9091">
                                            <p:txEl>
                                              <p:pRg st="1" end="1"/>
                                            </p:txEl>
                                          </p:spTgt>
                                        </p:tgtEl>
                                        <p:attrNameLst>
                                          <p:attrName>style.visibility</p:attrName>
                                        </p:attrNameLst>
                                      </p:cBhvr>
                                      <p:to>
                                        <p:strVal val="visible"/>
                                      </p:to>
                                    </p:set>
                                    <p:animEffect transition="in" filter="blinds(horizontal)">
                                      <p:cBhvr>
                                        <p:cTn id="12" dur="500"/>
                                        <p:tgtEl>
                                          <p:spTgt spid="89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9091">
                                            <p:txEl>
                                              <p:pRg st="2" end="2"/>
                                            </p:txEl>
                                          </p:spTgt>
                                        </p:tgtEl>
                                        <p:attrNameLst>
                                          <p:attrName>style.visibility</p:attrName>
                                        </p:attrNameLst>
                                      </p:cBhvr>
                                      <p:to>
                                        <p:strVal val="visible"/>
                                      </p:to>
                                    </p:set>
                                    <p:animEffect transition="in" filter="blinds(horizontal)">
                                      <p:cBhvr>
                                        <p:cTn id="17" dur="500"/>
                                        <p:tgtEl>
                                          <p:spTgt spid="890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9091">
                                            <p:txEl>
                                              <p:pRg st="3" end="3"/>
                                            </p:txEl>
                                          </p:spTgt>
                                        </p:tgtEl>
                                        <p:attrNameLst>
                                          <p:attrName>style.visibility</p:attrName>
                                        </p:attrNameLst>
                                      </p:cBhvr>
                                      <p:to>
                                        <p:strVal val="visible"/>
                                      </p:to>
                                    </p:set>
                                    <p:animEffect transition="in" filter="blinds(horizontal)">
                                      <p:cBhvr>
                                        <p:cTn id="22" dur="500"/>
                                        <p:tgtEl>
                                          <p:spTgt spid="890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9091">
                                            <p:txEl>
                                              <p:pRg st="4" end="4"/>
                                            </p:txEl>
                                          </p:spTgt>
                                        </p:tgtEl>
                                        <p:attrNameLst>
                                          <p:attrName>style.visibility</p:attrName>
                                        </p:attrNameLst>
                                      </p:cBhvr>
                                      <p:to>
                                        <p:strVal val="visible"/>
                                      </p:to>
                                    </p:set>
                                    <p:animEffect transition="in" filter="blinds(horizontal)">
                                      <p:cBhvr>
                                        <p:cTn id="27" dur="500"/>
                                        <p:tgtEl>
                                          <p:spTgt spid="890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a:extLst>
              <a:ext uri="{FF2B5EF4-FFF2-40B4-BE49-F238E27FC236}">
                <a16:creationId xmlns:a16="http://schemas.microsoft.com/office/drawing/2014/main" id="{C0472BCF-CAD6-63E4-BB75-DBA656AC1326}"/>
              </a:ext>
            </a:extLst>
          </p:cNvPr>
          <p:cNvSpPr>
            <a:spLocks noGrp="1" noChangeArrowheads="1"/>
          </p:cNvSpPr>
          <p:nvPr>
            <p:ph idx="1"/>
          </p:nvPr>
        </p:nvSpPr>
        <p:spPr>
          <a:xfrm>
            <a:off x="5232400" y="1628776"/>
            <a:ext cx="1868488" cy="493713"/>
          </a:xfrm>
        </p:spPr>
        <p:txBody>
          <a:bodyPr/>
          <a:lstStyle/>
          <a:p>
            <a:pPr marL="609600" indent="-609600">
              <a:lnSpc>
                <a:spcPct val="80000"/>
              </a:lnSpc>
              <a:buNone/>
            </a:pPr>
            <a:endParaRPr lang="zh-CN" altLang="en-US" sz="2600"/>
          </a:p>
        </p:txBody>
      </p:sp>
      <p:sp>
        <p:nvSpPr>
          <p:cNvPr id="58371" name="Rectangle 20">
            <a:extLst>
              <a:ext uri="{FF2B5EF4-FFF2-40B4-BE49-F238E27FC236}">
                <a16:creationId xmlns:a16="http://schemas.microsoft.com/office/drawing/2014/main" id="{A534849E-D173-EE56-96F7-60C844BEB455}"/>
              </a:ext>
            </a:extLst>
          </p:cNvPr>
          <p:cNvSpPr>
            <a:spLocks noGrp="1" noChangeArrowheads="1"/>
          </p:cNvSpPr>
          <p:nvPr>
            <p:ph type="title"/>
          </p:nvPr>
        </p:nvSpPr>
        <p:spPr>
          <a:xfrm>
            <a:off x="2895600" y="188913"/>
            <a:ext cx="7772400" cy="1143000"/>
          </a:xfrm>
        </p:spPr>
        <p:txBody>
          <a:bodyPr/>
          <a:lstStyle/>
          <a:p>
            <a:pPr marL="1117600" indent="-1117600"/>
            <a:r>
              <a:rPr lang="en-US" altLang="zh-CN" sz="4000">
                <a:solidFill>
                  <a:srgbClr val="0066CC"/>
                </a:solidFill>
              </a:rPr>
              <a:t>The Inverted Pyramid</a:t>
            </a:r>
            <a:r>
              <a:rPr lang="en-US" altLang="zh-CN"/>
              <a:t> </a:t>
            </a:r>
            <a:endParaRPr lang="zh-CN" altLang="en-US"/>
          </a:p>
        </p:txBody>
      </p:sp>
      <p:sp>
        <p:nvSpPr>
          <p:cNvPr id="58372" name="AutoShape 4">
            <a:extLst>
              <a:ext uri="{FF2B5EF4-FFF2-40B4-BE49-F238E27FC236}">
                <a16:creationId xmlns:a16="http://schemas.microsoft.com/office/drawing/2014/main" id="{E5AA0ACC-294C-9378-6437-F676723C78F0}"/>
              </a:ext>
            </a:extLst>
          </p:cNvPr>
          <p:cNvSpPr>
            <a:spLocks noChangeArrowheads="1"/>
          </p:cNvSpPr>
          <p:nvPr/>
        </p:nvSpPr>
        <p:spPr bwMode="auto">
          <a:xfrm rot="10800000">
            <a:off x="3503614" y="1341439"/>
            <a:ext cx="5329237" cy="4321175"/>
          </a:xfrm>
          <a:prstGeom prst="triangle">
            <a:avLst>
              <a:gd name="adj" fmla="val 50000"/>
            </a:avLst>
          </a:prstGeom>
          <a:solidFill>
            <a:srgbClr val="FFFFCC"/>
          </a:solidFill>
          <a:ln w="9525" algn="ctr">
            <a:solidFill>
              <a:srgbClr val="000000"/>
            </a:solidFill>
            <a:miter lim="800000"/>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endParaRPr lang="zh-CN" altLang="en-US" sz="1800">
              <a:solidFill>
                <a:srgbClr val="0066CC"/>
              </a:solidFill>
            </a:endParaRPr>
          </a:p>
        </p:txBody>
      </p:sp>
      <p:sp>
        <p:nvSpPr>
          <p:cNvPr id="58373" name="Line 12">
            <a:extLst>
              <a:ext uri="{FF2B5EF4-FFF2-40B4-BE49-F238E27FC236}">
                <a16:creationId xmlns:a16="http://schemas.microsoft.com/office/drawing/2014/main" id="{C70FD95B-15A7-CFB5-3CC1-D91AED9386B0}"/>
              </a:ext>
            </a:extLst>
          </p:cNvPr>
          <p:cNvSpPr>
            <a:spLocks noChangeShapeType="1"/>
          </p:cNvSpPr>
          <p:nvPr/>
        </p:nvSpPr>
        <p:spPr bwMode="auto">
          <a:xfrm>
            <a:off x="5303839" y="4221163"/>
            <a:ext cx="1728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58374" name="Line 13">
            <a:extLst>
              <a:ext uri="{FF2B5EF4-FFF2-40B4-BE49-F238E27FC236}">
                <a16:creationId xmlns:a16="http://schemas.microsoft.com/office/drawing/2014/main" id="{7C53BCF0-4E68-5500-2210-63A587066CEE}"/>
              </a:ext>
            </a:extLst>
          </p:cNvPr>
          <p:cNvSpPr>
            <a:spLocks noChangeShapeType="1"/>
          </p:cNvSpPr>
          <p:nvPr/>
        </p:nvSpPr>
        <p:spPr bwMode="auto">
          <a:xfrm>
            <a:off x="4079876" y="2205038"/>
            <a:ext cx="4176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58375" name="Line 15">
            <a:extLst>
              <a:ext uri="{FF2B5EF4-FFF2-40B4-BE49-F238E27FC236}">
                <a16:creationId xmlns:a16="http://schemas.microsoft.com/office/drawing/2014/main" id="{66EE1E81-7F0D-661E-C1EF-D4ED2949BB1E}"/>
              </a:ext>
            </a:extLst>
          </p:cNvPr>
          <p:cNvSpPr>
            <a:spLocks noChangeShapeType="1"/>
          </p:cNvSpPr>
          <p:nvPr/>
        </p:nvSpPr>
        <p:spPr bwMode="auto">
          <a:xfrm>
            <a:off x="4727575" y="3213100"/>
            <a:ext cx="2952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58376" name="Text Box 16">
            <a:extLst>
              <a:ext uri="{FF2B5EF4-FFF2-40B4-BE49-F238E27FC236}">
                <a16:creationId xmlns:a16="http://schemas.microsoft.com/office/drawing/2014/main" id="{2783B1AD-37A0-5EA3-DE50-98A68CF1C5A3}"/>
              </a:ext>
            </a:extLst>
          </p:cNvPr>
          <p:cNvSpPr txBox="1">
            <a:spLocks noChangeArrowheads="1"/>
          </p:cNvSpPr>
          <p:nvPr/>
        </p:nvSpPr>
        <p:spPr bwMode="auto">
          <a:xfrm>
            <a:off x="5087938" y="1844676"/>
            <a:ext cx="23034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None/>
            </a:pPr>
            <a:r>
              <a:rPr lang="en-US" altLang="zh-CN" sz="1800">
                <a:solidFill>
                  <a:srgbClr val="000000"/>
                </a:solidFill>
              </a:rPr>
              <a:t>Summary lead</a:t>
            </a:r>
          </a:p>
        </p:txBody>
      </p:sp>
      <p:sp>
        <p:nvSpPr>
          <p:cNvPr id="58377" name="Text Box 17">
            <a:extLst>
              <a:ext uri="{FF2B5EF4-FFF2-40B4-BE49-F238E27FC236}">
                <a16:creationId xmlns:a16="http://schemas.microsoft.com/office/drawing/2014/main" id="{4F549781-2FD2-453C-0005-D06C6A581BA6}"/>
              </a:ext>
            </a:extLst>
          </p:cNvPr>
          <p:cNvSpPr txBox="1">
            <a:spLocks noChangeArrowheads="1"/>
          </p:cNvSpPr>
          <p:nvPr/>
        </p:nvSpPr>
        <p:spPr bwMode="auto">
          <a:xfrm>
            <a:off x="5089526" y="2403476"/>
            <a:ext cx="2303463"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None/>
            </a:pPr>
            <a:r>
              <a:rPr lang="en-US" altLang="zh-CN" sz="1800">
                <a:solidFill>
                  <a:srgbClr val="000000"/>
                </a:solidFill>
              </a:rPr>
              <a:t>Backup</a:t>
            </a:r>
          </a:p>
          <a:p>
            <a:pPr fontAlgn="base">
              <a:spcBef>
                <a:spcPct val="50000"/>
              </a:spcBef>
              <a:spcAft>
                <a:spcPct val="0"/>
              </a:spcAft>
              <a:buNone/>
            </a:pPr>
            <a:r>
              <a:rPr lang="en-US" altLang="zh-CN" sz="1800">
                <a:solidFill>
                  <a:srgbClr val="000000"/>
                </a:solidFill>
              </a:rPr>
              <a:t>(quotes or facts)</a:t>
            </a:r>
          </a:p>
        </p:txBody>
      </p:sp>
      <p:sp>
        <p:nvSpPr>
          <p:cNvPr id="58378" name="Text Box 18">
            <a:extLst>
              <a:ext uri="{FF2B5EF4-FFF2-40B4-BE49-F238E27FC236}">
                <a16:creationId xmlns:a16="http://schemas.microsoft.com/office/drawing/2014/main" id="{C8724887-F8A2-624B-548F-6C3D20A3D578}"/>
              </a:ext>
            </a:extLst>
          </p:cNvPr>
          <p:cNvSpPr txBox="1">
            <a:spLocks noChangeArrowheads="1"/>
          </p:cNvSpPr>
          <p:nvPr/>
        </p:nvSpPr>
        <p:spPr bwMode="auto">
          <a:xfrm>
            <a:off x="5232401" y="3619501"/>
            <a:ext cx="2303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None/>
            </a:pPr>
            <a:r>
              <a:rPr lang="en-US" altLang="zh-CN" sz="1800">
                <a:solidFill>
                  <a:srgbClr val="000000"/>
                </a:solidFill>
              </a:rPr>
              <a:t>Supporting points</a:t>
            </a:r>
          </a:p>
        </p:txBody>
      </p:sp>
      <p:sp>
        <p:nvSpPr>
          <p:cNvPr id="58379" name="Text Box 19">
            <a:extLst>
              <a:ext uri="{FF2B5EF4-FFF2-40B4-BE49-F238E27FC236}">
                <a16:creationId xmlns:a16="http://schemas.microsoft.com/office/drawing/2014/main" id="{7211C15B-2E4D-60EA-FABA-EEA2F2A3742F}"/>
              </a:ext>
            </a:extLst>
          </p:cNvPr>
          <p:cNvSpPr txBox="1">
            <a:spLocks noChangeArrowheads="1"/>
          </p:cNvSpPr>
          <p:nvPr/>
        </p:nvSpPr>
        <p:spPr bwMode="auto">
          <a:xfrm>
            <a:off x="5629276" y="4392613"/>
            <a:ext cx="23034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None/>
            </a:pPr>
            <a:r>
              <a:rPr lang="en-US" altLang="zh-CN" sz="1800">
                <a:solidFill>
                  <a:srgbClr val="000000"/>
                </a:solidFill>
              </a:rPr>
              <a:t>Ending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linds(horizontal)">
                                      <p:cBhvr>
                                        <p:cTn id="7" dur="500"/>
                                        <p:tgtEl>
                                          <p:spTgt spid="798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a:extLst>
              <a:ext uri="{FF2B5EF4-FFF2-40B4-BE49-F238E27FC236}">
                <a16:creationId xmlns:a16="http://schemas.microsoft.com/office/drawing/2014/main" id="{A2442730-1BE7-FFA5-3A39-4A7268AC6FA4}"/>
              </a:ext>
            </a:extLst>
          </p:cNvPr>
          <p:cNvSpPr>
            <a:spLocks noGrp="1" noChangeArrowheads="1"/>
          </p:cNvSpPr>
          <p:nvPr>
            <p:ph idx="1"/>
          </p:nvPr>
        </p:nvSpPr>
        <p:spPr>
          <a:xfrm>
            <a:off x="2351088" y="981076"/>
            <a:ext cx="7772400" cy="5389563"/>
          </a:xfrm>
        </p:spPr>
        <p:txBody>
          <a:bodyPr/>
          <a:lstStyle/>
          <a:p>
            <a:pPr marL="609600" indent="-609600">
              <a:lnSpc>
                <a:spcPct val="80000"/>
              </a:lnSpc>
              <a:buNone/>
            </a:pPr>
            <a:r>
              <a:rPr lang="en-US" altLang="zh-CN" sz="2800">
                <a:latin typeface="Times New Roman" panose="02020603050405020304" pitchFamily="18" charset="0"/>
                <a:cs typeface="Times New Roman" panose="02020603050405020304" pitchFamily="18" charset="0"/>
              </a:rPr>
              <a:t>1. The inverted pyramid form comes from the American Civil War </a:t>
            </a:r>
          </a:p>
          <a:p>
            <a:pPr marL="609600" indent="-609600">
              <a:lnSpc>
                <a:spcPct val="80000"/>
              </a:lnSpc>
              <a:buNone/>
            </a:pPr>
            <a:r>
              <a:rPr lang="en-US" altLang="zh-CN" sz="2800">
                <a:latin typeface="Times New Roman" panose="02020603050405020304" pitchFamily="18" charset="0"/>
                <a:cs typeface="Times New Roman" panose="02020603050405020304" pitchFamily="18" charset="0"/>
              </a:rPr>
              <a:t>2. The inverted pyramid lead is presented as </a:t>
            </a:r>
            <a:r>
              <a:rPr lang="en-US" altLang="zh-CN" sz="2800">
                <a:solidFill>
                  <a:srgbClr val="FF0000"/>
                </a:solidFill>
                <a:latin typeface="Times New Roman" panose="02020603050405020304" pitchFamily="18" charset="0"/>
                <a:cs typeface="Times New Roman" panose="02020603050405020304" pitchFamily="18" charset="0"/>
              </a:rPr>
              <a:t>simply and clearly </a:t>
            </a:r>
            <a:r>
              <a:rPr lang="en-US" altLang="zh-CN" sz="2800">
                <a:latin typeface="Times New Roman" panose="02020603050405020304" pitchFamily="18" charset="0"/>
                <a:cs typeface="Times New Roman" panose="02020603050405020304" pitchFamily="18" charset="0"/>
              </a:rPr>
              <a:t>as possible </a:t>
            </a:r>
          </a:p>
          <a:p>
            <a:pPr marL="609600" indent="-609600">
              <a:lnSpc>
                <a:spcPct val="80000"/>
              </a:lnSpc>
              <a:buNone/>
            </a:pPr>
            <a:r>
              <a:rPr lang="en-US" altLang="zh-CN" sz="2800">
                <a:latin typeface="Times New Roman" panose="02020603050405020304" pitchFamily="18" charset="0"/>
                <a:cs typeface="Times New Roman" panose="02020603050405020304" pitchFamily="18" charset="0"/>
              </a:rPr>
              <a:t>3. decide what is most important and what should follow in descending order of importance </a:t>
            </a:r>
          </a:p>
          <a:p>
            <a:pPr marL="609600" indent="-609600">
              <a:lnSpc>
                <a:spcPct val="80000"/>
              </a:lnSpc>
              <a:buNone/>
            </a:pPr>
            <a:r>
              <a:rPr lang="en-US" altLang="zh-CN" sz="2800">
                <a:latin typeface="Times New Roman" panose="02020603050405020304" pitchFamily="18" charset="0"/>
                <a:cs typeface="Times New Roman" panose="02020603050405020304" pitchFamily="18" charset="0"/>
              </a:rPr>
              <a:t>4. The inverted pyramid saves readers time and editors space</a:t>
            </a:r>
          </a:p>
          <a:p>
            <a:pPr marL="609600" indent="-609600">
              <a:lnSpc>
                <a:spcPct val="80000"/>
              </a:lnSpc>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Effect transition="in" filter="blinds(horizontal)">
                                      <p:cBhvr>
                                        <p:cTn id="7" dur="500"/>
                                        <p:tgtEl>
                                          <p:spTgt spid="80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0899">
                                            <p:txEl>
                                              <p:pRg st="1" end="1"/>
                                            </p:txEl>
                                          </p:spTgt>
                                        </p:tgtEl>
                                        <p:attrNameLst>
                                          <p:attrName>style.visibility</p:attrName>
                                        </p:attrNameLst>
                                      </p:cBhvr>
                                      <p:to>
                                        <p:strVal val="visible"/>
                                      </p:to>
                                    </p:set>
                                    <p:animEffect transition="in" filter="blinds(horizontal)">
                                      <p:cBhvr>
                                        <p:cTn id="12" dur="500"/>
                                        <p:tgtEl>
                                          <p:spTgt spid="808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0899">
                                            <p:txEl>
                                              <p:pRg st="2" end="2"/>
                                            </p:txEl>
                                          </p:spTgt>
                                        </p:tgtEl>
                                        <p:attrNameLst>
                                          <p:attrName>style.visibility</p:attrName>
                                        </p:attrNameLst>
                                      </p:cBhvr>
                                      <p:to>
                                        <p:strVal val="visible"/>
                                      </p:to>
                                    </p:set>
                                    <p:animEffect transition="in" filter="blinds(horizontal)">
                                      <p:cBhvr>
                                        <p:cTn id="17" dur="500"/>
                                        <p:tgtEl>
                                          <p:spTgt spid="808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0899">
                                            <p:txEl>
                                              <p:pRg st="3" end="3"/>
                                            </p:txEl>
                                          </p:spTgt>
                                        </p:tgtEl>
                                        <p:attrNameLst>
                                          <p:attrName>style.visibility</p:attrName>
                                        </p:attrNameLst>
                                      </p:cBhvr>
                                      <p:to>
                                        <p:strVal val="visible"/>
                                      </p:to>
                                    </p:set>
                                    <p:animEffect transition="in" filter="blinds(horizontal)">
                                      <p:cBhvr>
                                        <p:cTn id="22" dur="500"/>
                                        <p:tgtEl>
                                          <p:spTgt spid="80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1EA2620B-ABD8-9005-B03E-A238233DACB8}"/>
              </a:ext>
            </a:extLst>
          </p:cNvPr>
          <p:cNvSpPr>
            <a:spLocks noGrp="1" noChangeArrowheads="1"/>
          </p:cNvSpPr>
          <p:nvPr>
            <p:ph idx="1"/>
          </p:nvPr>
        </p:nvSpPr>
        <p:spPr>
          <a:xfrm>
            <a:off x="1919288" y="1268414"/>
            <a:ext cx="8229600" cy="5330825"/>
          </a:xfrm>
        </p:spPr>
        <p:txBody>
          <a:bodyPr/>
          <a:lstStyle/>
          <a:p>
            <a:pPr>
              <a:lnSpc>
                <a:spcPct val="90000"/>
              </a:lnSpc>
            </a:pPr>
            <a:r>
              <a:rPr lang="en-US" altLang="zh-CN" sz="2800">
                <a:latin typeface="Times New Roman" panose="02020603050405020304" pitchFamily="18" charset="0"/>
              </a:rPr>
              <a:t>NANJING-A Yak-42 airliner carrying 116 passengers and 10 crew members crashed on takeoff from the Nanjing Airport in East China yesterday at 15:06 (Beijing time). So far, 100 people on board are dead and 26 injured.</a:t>
            </a:r>
          </a:p>
          <a:p>
            <a:pPr>
              <a:lnSpc>
                <a:spcPct val="90000"/>
              </a:lnSpc>
            </a:pPr>
            <a:r>
              <a:rPr lang="en-US" altLang="zh-CN" sz="2800">
                <a:latin typeface="Times New Roman" panose="02020603050405020304" pitchFamily="18" charset="0"/>
              </a:rPr>
              <a:t>A full-scale rescue attempt for the injured is still underway.</a:t>
            </a:r>
          </a:p>
          <a:p>
            <a:pPr>
              <a:lnSpc>
                <a:spcPct val="90000"/>
              </a:lnSpc>
            </a:pPr>
            <a:r>
              <a:rPr lang="en-US" altLang="zh-CN" sz="2800">
                <a:latin typeface="Times New Roman" panose="02020603050405020304" pitchFamily="18" charset="0"/>
              </a:rPr>
              <a:t>The aircraft of GP 7552 flight failed to lift off and burst into a ball of flames about meters from the runway. The plane, operated by China-General-Purpose Airline Company in Xi’an, was used on the route from Nanjing City in Jiangsu Province to Xiamen City in Southeast China’s Fujian Province. </a:t>
            </a:r>
          </a:p>
        </p:txBody>
      </p:sp>
      <p:sp>
        <p:nvSpPr>
          <p:cNvPr id="28674" name="Rectangle 2">
            <a:extLst>
              <a:ext uri="{FF2B5EF4-FFF2-40B4-BE49-F238E27FC236}">
                <a16:creationId xmlns:a16="http://schemas.microsoft.com/office/drawing/2014/main" id="{2A5AB221-BFFE-4F4C-370C-BC0DDFD19C44}"/>
              </a:ext>
            </a:extLst>
          </p:cNvPr>
          <p:cNvSpPr>
            <a:spLocks noGrp="1" noChangeArrowheads="1"/>
          </p:cNvSpPr>
          <p:nvPr>
            <p:ph type="title"/>
          </p:nvPr>
        </p:nvSpPr>
        <p:spPr>
          <a:xfrm>
            <a:off x="1919288" y="188913"/>
            <a:ext cx="8229600" cy="1143000"/>
          </a:xfrm>
        </p:spPr>
        <p:txBody>
          <a:bodyPr>
            <a:normAutofit fontScale="90000"/>
          </a:bodyPr>
          <a:lstStyle/>
          <a:p>
            <a:pPr fontAlgn="auto">
              <a:spcAft>
                <a:spcPts val="0"/>
              </a:spcAft>
              <a:defRPr/>
            </a:pPr>
            <a:r>
              <a:rPr lang="en-US" altLang="zh-CN"/>
              <a:t>Nanjing air crash kills at least 100</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DE1FBB6-6E8A-BD2F-EB7A-B4C74CCA75A7}"/>
              </a:ext>
            </a:extLst>
          </p:cNvPr>
          <p:cNvSpPr>
            <a:spLocks noGrp="1" noChangeArrowheads="1"/>
          </p:cNvSpPr>
          <p:nvPr>
            <p:ph idx="1"/>
          </p:nvPr>
        </p:nvSpPr>
        <p:spPr>
          <a:xfrm>
            <a:off x="1992313" y="692150"/>
            <a:ext cx="8229600" cy="5462588"/>
          </a:xfrm>
        </p:spPr>
        <p:txBody>
          <a:bodyPr>
            <a:normAutofit lnSpcReduction="10000"/>
          </a:bodyPr>
          <a:lstStyle/>
          <a:p>
            <a:pPr marL="365760" indent="-256032" fontAlgn="auto">
              <a:spcAft>
                <a:spcPts val="0"/>
              </a:spcAft>
              <a:buFont typeface="Wingdings 3"/>
              <a:buChar char=""/>
              <a:defRPr/>
            </a:pPr>
            <a:r>
              <a:rPr lang="en-US" altLang="zh-CN" sz="2800">
                <a:latin typeface="Times New Roman" pitchFamily="18" charset="0"/>
              </a:rPr>
              <a:t>After the accident, Zhu Rongji, Vice-Premier of State Council, and leading members of some departments concerned flew to Nanjing at 20:00 (Beijing time) to inspect the scene of the accident, lament the dead and express condolences to the families of the dead. They also went to the hospital to express sympathy to the injured.</a:t>
            </a:r>
          </a:p>
          <a:p>
            <a:pPr marL="365760" indent="-256032" fontAlgn="auto">
              <a:spcAft>
                <a:spcPts val="0"/>
              </a:spcAft>
              <a:buFont typeface="Wingdings 3"/>
              <a:buChar char=""/>
              <a:defRPr/>
            </a:pPr>
            <a:r>
              <a:rPr lang="en-US" altLang="zh-CN" sz="2800">
                <a:latin typeface="Times New Roman" pitchFamily="18" charset="0"/>
              </a:rPr>
              <a:t>Upon the accident, a fire-brigade working near the airport rushed to the site immediately, while medical teams and police reinforcements arrived a short time later </a:t>
            </a:r>
          </a:p>
          <a:p>
            <a:pPr marL="365760" indent="-256032" fontAlgn="auto">
              <a:spcAft>
                <a:spcPts val="0"/>
              </a:spcAft>
              <a:buFont typeface="Wingdings 3"/>
              <a:buChar char=""/>
              <a:defRPr/>
            </a:pPr>
            <a:r>
              <a:rPr lang="en-US" altLang="zh-CN" sz="2800">
                <a:latin typeface="Times New Roman" pitchFamily="18" charset="0"/>
              </a:rPr>
              <a:t>The cause of the tragedy is still under investigation.</a:t>
            </a:r>
          </a:p>
          <a:p>
            <a:pPr marL="365760" indent="-256032" fontAlgn="auto">
              <a:spcAft>
                <a:spcPts val="0"/>
              </a:spcAft>
              <a:buFont typeface="Wingdings 3"/>
              <a:buChar char=""/>
              <a:defRPr/>
            </a:pPr>
            <a:r>
              <a:rPr lang="en-US" altLang="zh-CN" sz="2800">
                <a:latin typeface="Times New Roman" pitchFamily="18" charset="0"/>
              </a:rPr>
              <a:t>The Nanjing Airport has resumed normal operation.</a:t>
            </a:r>
          </a:p>
        </p:txBody>
      </p:sp>
    </p:spTree>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5.jpeg"/></Relationships>
</file>

<file path=ppt/theme/_rels/theme5.xml.rels><?xml version="1.0" encoding="UTF-8" standalone="yes"?>
<Relationships xmlns="http://schemas.openxmlformats.org/package/2006/relationships"><Relationship Id="rId1" Type="http://schemas.openxmlformats.org/officeDocument/2006/relationships/image" Target="../media/image5.jpeg"/></Relationships>
</file>

<file path=ppt/theme/_rels/theme6.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4.xml><?xml version="1.0" encoding="utf-8"?>
<a:theme xmlns:a="http://schemas.openxmlformats.org/drawingml/2006/main" name="Harmony">
  <a:themeElements>
    <a:clrScheme name="Harmony">
      <a:dk1>
        <a:srgbClr val="5E5E5E"/>
      </a:dk1>
      <a:lt1>
        <a:srgbClr val="5E0033"/>
      </a:lt1>
      <a:dk2>
        <a:srgbClr val="565F5F"/>
      </a:dk2>
      <a:lt2>
        <a:srgbClr val="C2CBCA"/>
      </a:lt2>
      <a:accent1>
        <a:srgbClr val="87AEC1"/>
      </a:accent1>
      <a:accent2>
        <a:srgbClr val="D6BB9E"/>
      </a:accent2>
      <a:accent3>
        <a:srgbClr val="CC7A69"/>
      </a:accent3>
      <a:accent4>
        <a:srgbClr val="EAAB5C"/>
      </a:accent4>
      <a:accent5>
        <a:srgbClr val="98C8C6"/>
      </a:accent5>
      <a:accent6>
        <a:srgbClr val="C3CD8B"/>
      </a:accent6>
      <a:hlink>
        <a:srgbClr val="0000FF"/>
      </a:hlink>
      <a:folHlink>
        <a:srgbClr val="FF00FF"/>
      </a:folHlink>
    </a:clrScheme>
    <a:fontScheme name="Harmony">
      <a:majorFont>
        <a:latin typeface="Baskerville"/>
        <a:ea typeface="Baskerville"/>
        <a:cs typeface="Baskerville"/>
      </a:majorFont>
      <a:minorFont>
        <a:latin typeface="Baskerville"/>
        <a:ea typeface="Baskerville"/>
        <a:cs typeface="Baskerville"/>
      </a:minorFont>
    </a:fontScheme>
    <a:fmtScheme name="Harmon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FFFFFF"/>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38100" cap="flat">
          <a:solidFill>
            <a:schemeClr val="accent5">
              <a:hueOff val="85969"/>
              <a:satOff val="-7810"/>
              <a:lumOff val="-38954"/>
            </a:schemeClr>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Harmony">
  <a:themeElements>
    <a:clrScheme name="Harmony">
      <a:dk1>
        <a:srgbClr val="5E5E5E"/>
      </a:dk1>
      <a:lt1>
        <a:srgbClr val="5E0033"/>
      </a:lt1>
      <a:dk2>
        <a:srgbClr val="565F5F"/>
      </a:dk2>
      <a:lt2>
        <a:srgbClr val="C2CBCA"/>
      </a:lt2>
      <a:accent1>
        <a:srgbClr val="87AEC1"/>
      </a:accent1>
      <a:accent2>
        <a:srgbClr val="D6BB9E"/>
      </a:accent2>
      <a:accent3>
        <a:srgbClr val="CC7A69"/>
      </a:accent3>
      <a:accent4>
        <a:srgbClr val="EAAB5C"/>
      </a:accent4>
      <a:accent5>
        <a:srgbClr val="98C8C6"/>
      </a:accent5>
      <a:accent6>
        <a:srgbClr val="C3CD8B"/>
      </a:accent6>
      <a:hlink>
        <a:srgbClr val="0000FF"/>
      </a:hlink>
      <a:folHlink>
        <a:srgbClr val="FF00FF"/>
      </a:folHlink>
    </a:clrScheme>
    <a:fontScheme name="Harmony">
      <a:majorFont>
        <a:latin typeface="Baskerville"/>
        <a:ea typeface="Baskerville"/>
        <a:cs typeface="Baskerville"/>
      </a:majorFont>
      <a:minorFont>
        <a:latin typeface="Baskerville"/>
        <a:ea typeface="Baskerville"/>
        <a:cs typeface="Baskerville"/>
      </a:minorFont>
    </a:fontScheme>
    <a:fmtScheme name="Harmon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FFFFFF"/>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38100" cap="flat">
          <a:solidFill>
            <a:schemeClr val="accent5">
              <a:hueOff val="85969"/>
              <a:satOff val="-7809"/>
              <a:lumOff val="-38953"/>
            </a:schemeClr>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Harmony">
  <a:themeElements>
    <a:clrScheme name="Harmony">
      <a:dk1>
        <a:srgbClr val="5E5E5E"/>
      </a:dk1>
      <a:lt1>
        <a:srgbClr val="5E0033"/>
      </a:lt1>
      <a:dk2>
        <a:srgbClr val="565F5F"/>
      </a:dk2>
      <a:lt2>
        <a:srgbClr val="C2CBCA"/>
      </a:lt2>
      <a:accent1>
        <a:srgbClr val="87AEC1"/>
      </a:accent1>
      <a:accent2>
        <a:srgbClr val="D6BB9E"/>
      </a:accent2>
      <a:accent3>
        <a:srgbClr val="CC7A69"/>
      </a:accent3>
      <a:accent4>
        <a:srgbClr val="EAAB5C"/>
      </a:accent4>
      <a:accent5>
        <a:srgbClr val="98C8C6"/>
      </a:accent5>
      <a:accent6>
        <a:srgbClr val="C3CD8B"/>
      </a:accent6>
      <a:hlink>
        <a:srgbClr val="0000FF"/>
      </a:hlink>
      <a:folHlink>
        <a:srgbClr val="FF00FF"/>
      </a:folHlink>
    </a:clrScheme>
    <a:fontScheme name="Harmony">
      <a:majorFont>
        <a:latin typeface="Baskerville"/>
        <a:ea typeface="Baskerville"/>
        <a:cs typeface="Baskerville"/>
      </a:majorFont>
      <a:minorFont>
        <a:latin typeface="Baskerville"/>
        <a:ea typeface="Baskerville"/>
        <a:cs typeface="Baskerville"/>
      </a:minorFont>
    </a:fontScheme>
    <a:fmtScheme name="Harmon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FFFFFF"/>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38100" cap="flat">
          <a:solidFill>
            <a:schemeClr val="accent5">
              <a:hueOff val="85969"/>
              <a:satOff val="-7808"/>
              <a:lumOff val="-38952"/>
            </a:schemeClr>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10</TotalTime>
  <Words>4682</Words>
  <Application>Microsoft Office PowerPoint</Application>
  <PresentationFormat>宽屏</PresentationFormat>
  <Paragraphs>445</Paragraphs>
  <Slides>73</Slides>
  <Notes>13</Notes>
  <HiddenSlides>0</HiddenSlides>
  <MMClips>0</MMClips>
  <ScaleCrop>false</ScaleCrop>
  <HeadingPairs>
    <vt:vector size="6" baseType="variant">
      <vt:variant>
        <vt:lpstr>已用的字体</vt:lpstr>
      </vt:variant>
      <vt:variant>
        <vt:i4>17</vt:i4>
      </vt:variant>
      <vt:variant>
        <vt:lpstr>主题</vt:lpstr>
      </vt:variant>
      <vt:variant>
        <vt:i4>7</vt:i4>
      </vt:variant>
      <vt:variant>
        <vt:lpstr>幻灯片标题</vt:lpstr>
      </vt:variant>
      <vt:variant>
        <vt:i4>73</vt:i4>
      </vt:variant>
    </vt:vector>
  </HeadingPairs>
  <TitlesOfParts>
    <vt:vector size="97" baseType="lpstr">
      <vt:lpstr>Baskerville</vt:lpstr>
      <vt:lpstr>Helvetica Neue</vt:lpstr>
      <vt:lpstr>Hoefler Text</vt:lpstr>
      <vt:lpstr>等线</vt:lpstr>
      <vt:lpstr>华文新魏</vt:lpstr>
      <vt:lpstr>宋体</vt:lpstr>
      <vt:lpstr>Arial</vt:lpstr>
      <vt:lpstr>Calibri</vt:lpstr>
      <vt:lpstr>Cambria</vt:lpstr>
      <vt:lpstr>Helvetica</vt:lpstr>
      <vt:lpstr>Maiandra GD</vt:lpstr>
      <vt:lpstr>Times New Roman</vt:lpstr>
      <vt:lpstr>Times Roman</vt:lpstr>
      <vt:lpstr>Verdana</vt:lpstr>
      <vt:lpstr>Wingdings</vt:lpstr>
      <vt:lpstr>Wingdings 2</vt:lpstr>
      <vt:lpstr>Wingdings 3</vt:lpstr>
      <vt:lpstr>1_默认设计模板</vt:lpstr>
      <vt:lpstr>2_默认设计模板</vt:lpstr>
      <vt:lpstr>龙腾四海</vt:lpstr>
      <vt:lpstr>Harmony</vt:lpstr>
      <vt:lpstr>1_Harmony</vt:lpstr>
      <vt:lpstr>2_Harmony</vt:lpstr>
      <vt:lpstr>3_默认设计模板</vt:lpstr>
      <vt:lpstr>Language features of news (Grammar) </vt:lpstr>
      <vt:lpstr>Tense</vt:lpstr>
      <vt:lpstr>Tense</vt:lpstr>
      <vt:lpstr>Voice</vt:lpstr>
      <vt:lpstr>PowerPoint 演示文稿</vt:lpstr>
      <vt:lpstr>premodifiers</vt:lpstr>
      <vt:lpstr>PowerPoint 演示文稿</vt:lpstr>
      <vt:lpstr>PowerPoint 演示文稿</vt:lpstr>
      <vt:lpstr>Exercise</vt:lpstr>
      <vt:lpstr>Source attribution(出处)</vt:lpstr>
      <vt:lpstr>Language features of news</vt:lpstr>
      <vt:lpstr>Language of news: compound word</vt:lpstr>
      <vt:lpstr>Three forms of compound words</vt:lpstr>
      <vt:lpstr>Noun compounds</vt:lpstr>
      <vt:lpstr>Adjective compounds  </vt:lpstr>
      <vt:lpstr>Verb compounds </vt:lpstr>
      <vt:lpstr>Compounds with hyphens</vt:lpstr>
      <vt:lpstr>Features of News Headlines </vt:lpstr>
      <vt:lpstr>Grammatical Features</vt:lpstr>
      <vt:lpstr>Grammatical Features</vt:lpstr>
      <vt:lpstr>Grammatical Features</vt:lpstr>
      <vt:lpstr>Grammatical Features</vt:lpstr>
      <vt:lpstr>Grammatical Features</vt:lpstr>
      <vt:lpstr>Grammatical Features</vt:lpstr>
      <vt:lpstr>Grammatical Features</vt:lpstr>
      <vt:lpstr>Lexical Features</vt:lpstr>
      <vt:lpstr>Lexical Features</vt:lpstr>
      <vt:lpstr>Exercise</vt:lpstr>
      <vt:lpstr>Exercise</vt:lpstr>
      <vt:lpstr>Exercise</vt:lpstr>
      <vt:lpstr>Language features of news (structure) </vt:lpstr>
      <vt:lpstr>PowerPoint 演示文稿</vt:lpstr>
      <vt:lpstr>PowerPoint 演示文稿</vt:lpstr>
      <vt:lpstr>PowerPoint 演示文稿</vt:lpstr>
      <vt:lpstr>PowerPoint 演示文稿</vt:lpstr>
      <vt:lpstr>Exercise-analysis of the news structure</vt:lpstr>
      <vt:lpstr>What is a Feature?</vt:lpstr>
      <vt:lpstr>Types of Features </vt:lpstr>
      <vt:lpstr>Types of Features </vt:lpstr>
      <vt:lpstr>Definitions of Features </vt:lpstr>
      <vt:lpstr>Definitions of Features </vt:lpstr>
      <vt:lpstr>Definitions of Features </vt:lpstr>
      <vt:lpstr>Difference between a News story and  a Feature </vt:lpstr>
      <vt:lpstr>Difference between a News story and  a Feature </vt:lpstr>
      <vt:lpstr>Structure of a Feature </vt:lpstr>
      <vt:lpstr>Structure of a Feature - Intro or Lead</vt:lpstr>
      <vt:lpstr>Structure of a Feature - Transtion </vt:lpstr>
      <vt:lpstr>Structure of a Feature - Body</vt:lpstr>
      <vt:lpstr>Structure of a Feature - Body</vt:lpstr>
      <vt:lpstr>Structure of a Feature - Body</vt:lpstr>
      <vt:lpstr>Structure of a Feature - Conclusion</vt:lpstr>
      <vt:lpstr>Structure of a Feature - Length</vt:lpstr>
      <vt:lpstr>英语新闻写作 English news writing</vt:lpstr>
      <vt:lpstr>Classifications</vt:lpstr>
      <vt:lpstr>News Value</vt:lpstr>
      <vt:lpstr>PowerPoint 演示文稿</vt:lpstr>
      <vt:lpstr>消息的基本结构</vt:lpstr>
      <vt:lpstr>The Importance of Headline</vt:lpstr>
      <vt:lpstr>Headline Grammar Rule</vt:lpstr>
      <vt:lpstr>PowerPoint 演示文稿</vt:lpstr>
      <vt:lpstr>Writing a Lead </vt:lpstr>
      <vt:lpstr>Tips for Writing a Lead</vt:lpstr>
      <vt:lpstr>PowerPoint 演示文稿</vt:lpstr>
      <vt:lpstr>PowerPoint 演示文稿</vt:lpstr>
      <vt:lpstr>PowerPoint 演示文稿</vt:lpstr>
      <vt:lpstr>PowerPoint 演示文稿</vt:lpstr>
      <vt:lpstr>PowerPoint 演示文稿</vt:lpstr>
      <vt:lpstr>Sample lead</vt:lpstr>
      <vt:lpstr>PowerPoint 演示文稿</vt:lpstr>
      <vt:lpstr>The Inverted Pyramid </vt:lpstr>
      <vt:lpstr>PowerPoint 演示文稿</vt:lpstr>
      <vt:lpstr>Nanjing air crash kills at least 100</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features of news (Grammar)</dc:title>
  <dc:creator>ding xiaolei</dc:creator>
  <cp:lastModifiedBy>ding xiaolei</cp:lastModifiedBy>
  <cp:revision>1</cp:revision>
  <dcterms:created xsi:type="dcterms:W3CDTF">2023-04-13T15:21:51Z</dcterms:created>
  <dcterms:modified xsi:type="dcterms:W3CDTF">2023-04-13T15:32:28Z</dcterms:modified>
</cp:coreProperties>
</file>