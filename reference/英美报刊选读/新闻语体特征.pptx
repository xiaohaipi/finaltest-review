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9"/>
  </p:handoutMasterIdLst>
  <p:sldIdLst>
    <p:sldId id="256" r:id="rId3"/>
    <p:sldId id="257" r:id="rId5"/>
    <p:sldId id="258" r:id="rId6"/>
    <p:sldId id="261" r:id="rId7"/>
    <p:sldId id="265" r:id="rId8"/>
    <p:sldId id="267" r:id="rId9"/>
    <p:sldId id="268" r:id="rId10"/>
    <p:sldId id="269" r:id="rId11"/>
    <p:sldId id="271" r:id="rId12"/>
    <p:sldId id="272" r:id="rId13"/>
    <p:sldId id="273" r:id="rId14"/>
    <p:sldId id="274" r:id="rId15"/>
    <p:sldId id="275" r:id="rId16"/>
    <p:sldId id="276" r:id="rId17"/>
    <p:sldId id="277" r:id="rId18"/>
    <p:sldId id="278" r:id="rId19"/>
    <p:sldId id="279" r:id="rId20"/>
    <p:sldId id="280" r:id="rId21"/>
    <p:sldId id="287" r:id="rId22"/>
    <p:sldId id="288" r:id="rId23"/>
    <p:sldId id="289" r:id="rId24"/>
    <p:sldId id="290" r:id="rId25"/>
    <p:sldId id="291" r:id="rId26"/>
    <p:sldId id="293" r:id="rId27"/>
    <p:sldId id="294" r:id="rId28"/>
    <p:sldId id="295" r:id="rId29"/>
    <p:sldId id="296" r:id="rId30"/>
    <p:sldId id="297" r:id="rId31"/>
    <p:sldId id="298" r:id="rId32"/>
    <p:sldId id="301" r:id="rId33"/>
    <p:sldId id="302" r:id="rId34"/>
    <p:sldId id="304" r:id="rId35"/>
    <p:sldId id="305" r:id="rId36"/>
    <p:sldId id="306" r:id="rId37"/>
    <p:sldId id="307" r:id="rId38"/>
    <p:sldId id="311" r:id="rId39"/>
    <p:sldId id="312" r:id="rId40"/>
    <p:sldId id="349" r:id="rId41"/>
    <p:sldId id="350" r:id="rId42"/>
    <p:sldId id="351" r:id="rId43"/>
    <p:sldId id="352" r:id="rId44"/>
    <p:sldId id="353" r:id="rId45"/>
    <p:sldId id="319" r:id="rId46"/>
    <p:sldId id="320" r:id="rId47"/>
    <p:sldId id="321" r:id="rId48"/>
    <p:sldId id="322" r:id="rId49"/>
    <p:sldId id="323" r:id="rId50"/>
    <p:sldId id="341" r:id="rId51"/>
    <p:sldId id="327" r:id="rId52"/>
    <p:sldId id="328" r:id="rId53"/>
    <p:sldId id="330" r:id="rId54"/>
    <p:sldId id="331" r:id="rId55"/>
    <p:sldId id="334" r:id="rId56"/>
    <p:sldId id="342" r:id="rId57"/>
    <p:sldId id="340" r:id="rId58"/>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3.xml"/><Relationship Id="rId59" Type="http://schemas.openxmlformats.org/officeDocument/2006/relationships/handoutMaster" Target="handoutMasters/handoutMaster1.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Grp="1" noRot="1" noChangeAspect="1" noTextEdit="1"/>
          </p:cNvSpPr>
          <p:nvPr>
            <p:ph type="sldImg"/>
          </p:nvPr>
        </p:nvSpPr>
        <p:spPr>
          <a:ln>
            <a:solidFill>
              <a:srgbClr val="000000"/>
            </a:solidFill>
            <a:miter/>
          </a:ln>
        </p:spPr>
      </p:sp>
      <p:sp>
        <p:nvSpPr>
          <p:cNvPr id="23554"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35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幻灯片图像占位符 1"/>
          <p:cNvSpPr>
            <a:spLocks noGrp="1" noRot="1" noChangeAspect="1" noTextEdit="1"/>
          </p:cNvSpPr>
          <p:nvPr>
            <p:ph type="sldImg"/>
          </p:nvPr>
        </p:nvSpPr>
        <p:spPr>
          <a:ln>
            <a:solidFill>
              <a:srgbClr val="000000"/>
            </a:solidFill>
            <a:miter/>
          </a:ln>
        </p:spPr>
      </p:sp>
      <p:sp>
        <p:nvSpPr>
          <p:cNvPr id="25602"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560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p:cNvSpPr>
            <a:spLocks noGrp="1" noRot="1" noChangeAspect="1" noTextEdit="1"/>
          </p:cNvSpPr>
          <p:nvPr>
            <p:ph type="sldImg"/>
          </p:nvPr>
        </p:nvSpPr>
        <p:spPr>
          <a:ln>
            <a:solidFill>
              <a:srgbClr val="000000"/>
            </a:solidFill>
            <a:miter/>
          </a:ln>
        </p:spPr>
      </p:sp>
      <p:sp>
        <p:nvSpPr>
          <p:cNvPr id="1741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17411"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幻灯片图像占位符 1"/>
          <p:cNvSpPr>
            <a:spLocks noGrp="1" noRot="1" noChangeAspect="1" noTextEdit="1"/>
          </p:cNvSpPr>
          <p:nvPr>
            <p:ph type="sldImg"/>
          </p:nvPr>
        </p:nvSpPr>
        <p:spPr>
          <a:ln>
            <a:solidFill>
              <a:srgbClr val="000000"/>
            </a:solidFill>
            <a:miter/>
          </a:ln>
        </p:spPr>
      </p:sp>
      <p:sp>
        <p:nvSpPr>
          <p:cNvPr id="35842"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3584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幻灯片图像占位符 1"/>
          <p:cNvSpPr>
            <a:spLocks noGrp="1" noRot="1" noChangeAspect="1" noTextEdit="1"/>
          </p:cNvSpPr>
          <p:nvPr>
            <p:ph type="sldImg"/>
          </p:nvPr>
        </p:nvSpPr>
        <p:spPr>
          <a:ln>
            <a:solidFill>
              <a:srgbClr val="000000"/>
            </a:solidFill>
            <a:miter/>
          </a:ln>
        </p:spPr>
      </p:sp>
      <p:sp>
        <p:nvSpPr>
          <p:cNvPr id="37890"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3789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幻灯片图像占位符 1"/>
          <p:cNvSpPr>
            <a:spLocks noGrp="1" noRot="1" noChangeAspect="1" noTextEdit="1"/>
          </p:cNvSpPr>
          <p:nvPr>
            <p:ph type="sldImg"/>
          </p:nvPr>
        </p:nvSpPr>
        <p:spPr>
          <a:ln>
            <a:solidFill>
              <a:srgbClr val="000000"/>
            </a:solidFill>
            <a:miter/>
          </a:ln>
        </p:spPr>
      </p:sp>
      <p:sp>
        <p:nvSpPr>
          <p:cNvPr id="37890"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3789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幻灯片图像占位符 1"/>
          <p:cNvSpPr>
            <a:spLocks noGrp="1" noRot="1" noChangeAspect="1" noTextEdit="1"/>
          </p:cNvSpPr>
          <p:nvPr>
            <p:ph type="sldImg"/>
          </p:nvPr>
        </p:nvSpPr>
        <p:spPr>
          <a:ln>
            <a:solidFill>
              <a:srgbClr val="000000"/>
            </a:solidFill>
            <a:miter/>
          </a:ln>
        </p:spPr>
      </p:sp>
      <p:sp>
        <p:nvSpPr>
          <p:cNvPr id="37890"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3789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幻灯片图像占位符 1"/>
          <p:cNvSpPr>
            <a:spLocks noGrp="1" noRot="1" noChangeAspect="1" noTextEdit="1"/>
          </p:cNvSpPr>
          <p:nvPr>
            <p:ph type="sldImg"/>
          </p:nvPr>
        </p:nvSpPr>
        <p:spPr>
          <a:ln>
            <a:solidFill>
              <a:srgbClr val="000000"/>
            </a:solidFill>
            <a:miter/>
          </a:ln>
        </p:spPr>
      </p:sp>
      <p:sp>
        <p:nvSpPr>
          <p:cNvPr id="39938"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3993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幻灯片图像占位符 1"/>
          <p:cNvSpPr>
            <a:spLocks noGrp="1" noRot="1" noChangeAspect="1" noTextEdit="1"/>
          </p:cNvSpPr>
          <p:nvPr>
            <p:ph type="sldImg"/>
          </p:nvPr>
        </p:nvSpPr>
        <p:spPr>
          <a:ln>
            <a:solidFill>
              <a:srgbClr val="000000"/>
            </a:solidFill>
            <a:miter/>
          </a:ln>
        </p:spPr>
      </p:sp>
      <p:sp>
        <p:nvSpPr>
          <p:cNvPr id="41986"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4198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Grp="1" noRot="1" noChangeAspect="1" noTextEdit="1"/>
          </p:cNvSpPr>
          <p:nvPr>
            <p:ph type="sldImg"/>
          </p:nvPr>
        </p:nvSpPr>
        <p:spPr>
          <a:ln>
            <a:solidFill>
              <a:srgbClr val="000000"/>
            </a:solidFill>
            <a:miter/>
          </a:ln>
        </p:spPr>
      </p:sp>
      <p:sp>
        <p:nvSpPr>
          <p:cNvPr id="23554"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35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Grp="1" noRot="1" noChangeAspect="1" noTextEdit="1"/>
          </p:cNvSpPr>
          <p:nvPr>
            <p:ph type="sldImg"/>
          </p:nvPr>
        </p:nvSpPr>
        <p:spPr>
          <a:ln>
            <a:solidFill>
              <a:srgbClr val="000000"/>
            </a:solidFill>
            <a:miter/>
          </a:ln>
        </p:spPr>
      </p:sp>
      <p:sp>
        <p:nvSpPr>
          <p:cNvPr id="23554"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35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Grp="1" noRot="1" noChangeAspect="1" noTextEdit="1"/>
          </p:cNvSpPr>
          <p:nvPr>
            <p:ph type="sldImg"/>
          </p:nvPr>
        </p:nvSpPr>
        <p:spPr>
          <a:ln>
            <a:solidFill>
              <a:srgbClr val="000000"/>
            </a:solidFill>
            <a:miter/>
          </a:ln>
        </p:spPr>
      </p:sp>
      <p:sp>
        <p:nvSpPr>
          <p:cNvPr id="23554"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35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Grp="1" noRot="1" noChangeAspect="1" noTextEdit="1"/>
          </p:cNvSpPr>
          <p:nvPr>
            <p:ph type="sldImg"/>
          </p:nvPr>
        </p:nvSpPr>
        <p:spPr>
          <a:ln>
            <a:solidFill>
              <a:srgbClr val="000000"/>
            </a:solidFill>
            <a:miter/>
          </a:ln>
        </p:spPr>
      </p:sp>
      <p:sp>
        <p:nvSpPr>
          <p:cNvPr id="23554"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35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Grp="1" noRot="1" noChangeAspect="1" noTextEdit="1"/>
          </p:cNvSpPr>
          <p:nvPr>
            <p:ph type="sldImg"/>
          </p:nvPr>
        </p:nvSpPr>
        <p:spPr>
          <a:ln>
            <a:solidFill>
              <a:srgbClr val="000000"/>
            </a:solidFill>
            <a:miter/>
          </a:ln>
        </p:spPr>
      </p:sp>
      <p:sp>
        <p:nvSpPr>
          <p:cNvPr id="23554"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35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Grp="1" noRot="1" noChangeAspect="1" noTextEdit="1"/>
          </p:cNvSpPr>
          <p:nvPr>
            <p:ph type="sldImg"/>
          </p:nvPr>
        </p:nvSpPr>
        <p:spPr>
          <a:ln>
            <a:solidFill>
              <a:srgbClr val="000000"/>
            </a:solidFill>
            <a:miter/>
          </a:ln>
        </p:spPr>
      </p:sp>
      <p:sp>
        <p:nvSpPr>
          <p:cNvPr id="23554"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35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indent="0" algn="r"/>
            <a:r>
              <a:rPr lang="zh-CN" altLang="en-US" sz="1200" dirty="0">
                <a:latin typeface="Arial" panose="020B0604020202020204" pitchFamily="34" charset="0"/>
                <a:ea typeface="宋体" panose="02010600030101010101" pitchFamily="2" charset="-122"/>
              </a:rPr>
              <a:t>*</a:t>
            </a:r>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p:nvPr>
            <p:ph type="title" hasCustomPrompt="1"/>
          </p:nvPr>
        </p:nvSpPr>
        <p:spPr>
          <a:prstGeom prst="rect">
            <a:avLst/>
          </a:prstGeom>
        </p:spPr>
        <p:txBody>
          <a:bodyPr/>
          <a:lstStyle/>
          <a:p>
            <a:r>
              <a:t>标题文本</a:t>
            </a:r>
          </a:p>
        </p:txBody>
      </p:sp>
      <p:sp>
        <p:nvSpPr>
          <p:cNvPr id="57" name="正文级别 1…"/>
          <p:cNvSpPr txBox="1"/>
          <p:nvPr>
            <p:ph type="body" idx="1" hasCustomPrompt="1"/>
          </p:nvPr>
        </p:nvSpPr>
        <p:spPr>
          <a:xfrm>
            <a:off x="736600" y="1949450"/>
            <a:ext cx="10718800" cy="4019550"/>
          </a:xfrm>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6.xml"/><Relationship Id="rId2" Type="http://schemas.openxmlformats.org/officeDocument/2006/relationships/image" Target="../media/image2.jpeg"/><Relationship Id="rId1" Type="http://schemas.openxmlformats.org/officeDocument/2006/relationships/slide" Target="slide21.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chinadaily.com.cn/china/2015-06/01/content_20871762.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effectLst/>
              </a:rPr>
              <a:t>新闻语体</a:t>
            </a:r>
            <a:r>
              <a:rPr lang="zh-CN" altLang="en-US" dirty="0">
                <a:effectLst/>
              </a:rPr>
              <a:t>特征</a:t>
            </a:r>
            <a:endParaRPr lang="zh-CN" altLang="en-US" dirty="0">
              <a:effectLst/>
            </a:endParaRPr>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1440" tIns="45720" rIns="91440" bIns="45720" anchor="ctr" anchorCtr="0"/>
          <a:p>
            <a:pPr eaLnBrk="1" hangingPunct="1"/>
            <a:r>
              <a:rPr lang="en-US" altLang="zh-CN" dirty="0"/>
              <a:t>Features of News Headlines </a:t>
            </a:r>
            <a:endParaRPr lang="zh-CN" altLang="en-US" dirty="0"/>
          </a:p>
        </p:txBody>
      </p:sp>
      <p:sp>
        <p:nvSpPr>
          <p:cNvPr id="22531" name="内容占位符 2"/>
          <p:cNvSpPr>
            <a:spLocks noGrp="1"/>
          </p:cNvSpPr>
          <p:nvPr>
            <p:ph idx="1"/>
          </p:nvPr>
        </p:nvSpPr>
        <p:spPr/>
        <p:txBody>
          <a:bodyPr vert="horz" wrap="square" lIns="91440" tIns="45720" rIns="91440" bIns="45720" anchor="t" anchorCtr="0">
            <a:normAutofit/>
          </a:bodyPr>
          <a:p>
            <a:pPr eaLnBrk="1" hangingPunct="1"/>
            <a:r>
              <a:rPr lang="en-US" altLang="zh-CN" dirty="0">
                <a:highlight>
                  <a:srgbClr val="FFFF00"/>
                </a:highlight>
              </a:rPr>
              <a:t>Grammatical features</a:t>
            </a:r>
            <a:endParaRPr lang="en-US" altLang="zh-CN" dirty="0">
              <a:highlight>
                <a:srgbClr val="FFFF00"/>
              </a:highlight>
            </a:endParaRPr>
          </a:p>
          <a:p>
            <a:pPr eaLnBrk="1" hangingPunct="1"/>
            <a:r>
              <a:rPr lang="en-US" altLang="zh-CN" dirty="0"/>
              <a:t>1. Ommission</a:t>
            </a:r>
            <a:endParaRPr lang="en-US" altLang="zh-CN" dirty="0"/>
          </a:p>
          <a:p>
            <a:pPr eaLnBrk="1" hangingPunct="1"/>
            <a:r>
              <a:rPr lang="en-US" altLang="zh-CN" dirty="0"/>
              <a:t>2. Tense</a:t>
            </a:r>
            <a:endParaRPr lang="en-US" altLang="zh-CN" dirty="0"/>
          </a:p>
          <a:p>
            <a:pPr eaLnBrk="1" hangingPunct="1"/>
            <a:r>
              <a:rPr lang="en-US" altLang="zh-CN" dirty="0"/>
              <a:t>3. Voice</a:t>
            </a:r>
            <a:endParaRPr lang="en-US" altLang="zh-CN" dirty="0"/>
          </a:p>
          <a:p>
            <a:pPr eaLnBrk="1" hangingPunct="1"/>
            <a:r>
              <a:rPr lang="en-US" altLang="zh-CN" dirty="0"/>
              <a:t>4. Punctuations</a:t>
            </a:r>
            <a:endParaRPr lang="en-US" altLang="zh-CN" dirty="0"/>
          </a:p>
          <a:p>
            <a:pPr eaLnBrk="1" hangingPunct="1">
              <a:buNone/>
            </a:pPr>
            <a:endParaRPr lang="zh-CN" altLang="en-US" dirty="0"/>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
          <p:cNvSpPr>
            <a:spLocks noGrp="1"/>
          </p:cNvSpPr>
          <p:nvPr>
            <p:ph type="title"/>
          </p:nvPr>
        </p:nvSpPr>
        <p:spPr/>
        <p:txBody>
          <a:bodyPr vert="horz" wrap="square" lIns="91440" tIns="45720" rIns="91440" bIns="45720" anchor="ctr" anchorCtr="0"/>
          <a:p>
            <a:pPr eaLnBrk="1" hangingPunct="1"/>
            <a:r>
              <a:rPr lang="en-US" altLang="zh-CN" sz="3200" dirty="0">
                <a:highlight>
                  <a:srgbClr val="FFFF00"/>
                </a:highlight>
                <a:sym typeface="+mn-ea"/>
              </a:rPr>
              <a:t>1.Omission</a:t>
            </a:r>
            <a:endParaRPr lang="en-US" altLang="zh-CN" sz="3200" dirty="0">
              <a:solidFill>
                <a:srgbClr val="FF0000"/>
              </a:solidFill>
            </a:endParaRPr>
          </a:p>
        </p:txBody>
      </p:sp>
      <p:sp>
        <p:nvSpPr>
          <p:cNvPr id="24578" name="内容占位符 2"/>
          <p:cNvSpPr>
            <a:spLocks noGrp="1"/>
          </p:cNvSpPr>
          <p:nvPr>
            <p:ph idx="1"/>
          </p:nvPr>
        </p:nvSpPr>
        <p:spPr/>
        <p:txBody>
          <a:bodyPr vert="horz" wrap="square" lIns="91440" tIns="45720" rIns="91440" bIns="45720" anchor="t" anchorCtr="0"/>
          <a:p>
            <a:pPr eaLnBrk="1" hangingPunct="1">
              <a:buNone/>
            </a:pPr>
            <a:r>
              <a:rPr lang="en-US" altLang="zh-CN" dirty="0"/>
              <a:t>1) Omission of  indefinite articles</a:t>
            </a:r>
            <a:endParaRPr lang="en-US" altLang="zh-CN" dirty="0"/>
          </a:p>
          <a:p>
            <a:pPr eaLnBrk="1" hangingPunct="1">
              <a:buNone/>
            </a:pPr>
            <a:r>
              <a:rPr lang="en-US" altLang="zh-CN" dirty="0"/>
              <a:t>   Firm Provides Clinical Training for Rural Areas </a:t>
            </a:r>
            <a:endParaRPr lang="en-US" altLang="zh-CN" dirty="0"/>
          </a:p>
          <a:p>
            <a:pPr eaLnBrk="1" hangingPunct="1">
              <a:buNone/>
            </a:pPr>
            <a:r>
              <a:rPr lang="en-US" altLang="zh-CN" dirty="0"/>
              <a:t>(= </a:t>
            </a:r>
            <a:r>
              <a:rPr lang="en-US" altLang="zh-CN" dirty="0">
                <a:solidFill>
                  <a:srgbClr val="FF0000"/>
                </a:solidFill>
              </a:rPr>
              <a:t>A </a:t>
            </a:r>
            <a:r>
              <a:rPr lang="en-US" altLang="zh-CN" dirty="0"/>
              <a:t>firm Provides Clinical Training for Rural Areas </a:t>
            </a:r>
            <a:r>
              <a:rPr lang="zh-CN" altLang="en-US" dirty="0"/>
              <a:t>）</a:t>
            </a:r>
            <a:endParaRPr lang="zh-CN" altLang="en-US" dirty="0"/>
          </a:p>
          <a:p>
            <a:pPr eaLnBrk="1" hangingPunct="1">
              <a:buNone/>
            </a:pPr>
            <a:r>
              <a:rPr lang="en-US" altLang="zh-CN" dirty="0"/>
              <a:t> </a:t>
            </a:r>
            <a:r>
              <a:rPr lang="en-US" altLang="zh-CN" dirty="0">
                <a:sym typeface="+mn-ea"/>
              </a:rPr>
              <a:t>2) Omission of conjunctions and pronouns</a:t>
            </a:r>
            <a:endParaRPr lang="en-US" altLang="zh-CN" dirty="0"/>
          </a:p>
          <a:p>
            <a:pPr eaLnBrk="1" hangingPunct="1">
              <a:buNone/>
            </a:pPr>
            <a:r>
              <a:rPr lang="en-US" altLang="zh-CN" dirty="0">
                <a:sym typeface="+mn-ea"/>
              </a:rPr>
              <a:t>   Laurel, Aquino Cut Ties</a:t>
            </a:r>
            <a:endParaRPr lang="en-US" altLang="zh-CN" dirty="0"/>
          </a:p>
          <a:p>
            <a:pPr eaLnBrk="1" hangingPunct="1">
              <a:buNone/>
            </a:pPr>
            <a:r>
              <a:rPr lang="en-US" altLang="zh-CN" dirty="0">
                <a:sym typeface="+mn-ea"/>
              </a:rPr>
              <a:t> (=Laurel </a:t>
            </a:r>
            <a:r>
              <a:rPr lang="en-US" altLang="zh-CN" dirty="0">
                <a:solidFill>
                  <a:srgbClr val="FF0000"/>
                </a:solidFill>
                <a:sym typeface="+mn-ea"/>
              </a:rPr>
              <a:t>and </a:t>
            </a:r>
            <a:r>
              <a:rPr lang="en-US" altLang="zh-CN" dirty="0">
                <a:sym typeface="+mn-ea"/>
              </a:rPr>
              <a:t>Aquino Cut Ties) </a:t>
            </a:r>
            <a:r>
              <a:rPr lang="zh-CN" altLang="en-US" dirty="0">
                <a:sym typeface="+mn-ea"/>
              </a:rPr>
              <a:t>劳雷尔与阿基诺夫人分道扬镳</a:t>
            </a:r>
            <a:endParaRPr lang="en-US" altLang="zh-CN" dirty="0"/>
          </a:p>
          <a:p>
            <a:pPr eaLnBrk="1" fontAlgn="base" hangingPunct="1">
              <a:buNone/>
            </a:pPr>
            <a:r>
              <a:rPr lang="en-US" altLang="zh-CN" dirty="0">
                <a:sym typeface="+mn-ea"/>
              </a:rPr>
              <a:t>3) Omission of “be”,  no matter what forms it acts as.</a:t>
            </a:r>
            <a:endParaRPr lang="en-US" altLang="zh-CN" strike="noStrike" noProof="1" dirty="0"/>
          </a:p>
          <a:p>
            <a:pPr eaLnBrk="1" fontAlgn="base" hangingPunct="1">
              <a:buNone/>
            </a:pPr>
            <a:r>
              <a:rPr lang="en-US" altLang="zh-CN" dirty="0">
                <a:sym typeface="+mn-ea"/>
              </a:rPr>
              <a:t>  Pope to visit Japan in February </a:t>
            </a:r>
            <a:endParaRPr lang="en-US" altLang="zh-CN" dirty="0">
              <a:sym typeface="+mn-ea"/>
            </a:endParaRPr>
          </a:p>
          <a:p>
            <a:pPr eaLnBrk="1" fontAlgn="base" hangingPunct="1">
              <a:buNone/>
            </a:pPr>
            <a:r>
              <a:rPr lang="en-US" altLang="zh-CN" dirty="0">
                <a:sym typeface="+mn-ea"/>
              </a:rPr>
              <a:t>(=Pope </a:t>
            </a:r>
            <a:r>
              <a:rPr lang="en-US" altLang="zh-CN" dirty="0">
                <a:solidFill>
                  <a:srgbClr val="FF0000"/>
                </a:solidFill>
                <a:sym typeface="+mn-ea"/>
              </a:rPr>
              <a:t>is</a:t>
            </a:r>
            <a:r>
              <a:rPr lang="en-US" altLang="zh-CN" dirty="0">
                <a:sym typeface="+mn-ea"/>
              </a:rPr>
              <a:t> to visit Japan in February</a:t>
            </a:r>
            <a:r>
              <a:rPr lang="zh-CN" altLang="en-US" dirty="0">
                <a:sym typeface="+mn-ea"/>
              </a:rPr>
              <a:t>）</a:t>
            </a:r>
            <a:endParaRPr lang="zh-CN" altLang="en-US" strike="noStrike" noProof="1" dirty="0"/>
          </a:p>
          <a:p>
            <a:pPr eaLnBrk="1" fontAlgn="base" hangingPunct="1">
              <a:buNone/>
            </a:pPr>
            <a:r>
              <a:rPr lang="zh-CN" altLang="en-US" dirty="0">
                <a:sym typeface="+mn-ea"/>
              </a:rPr>
              <a:t>主教将于二月访日</a:t>
            </a:r>
            <a:endParaRPr lang="en-US" strike="noStrike" noProof="0" dirty="0">
              <a:ln>
                <a:noFill/>
              </a:ln>
              <a:effectLst/>
              <a:uLnTx/>
              <a:uFillTx/>
              <a:sym typeface="+mn-ea"/>
            </a:endParaRPr>
          </a:p>
          <a:p>
            <a:pPr eaLnBrk="1" hangingPunct="1">
              <a:buNone/>
            </a:pPr>
            <a:endParaRPr lang="en-US" altLang="zh-CN" dirty="0"/>
          </a:p>
          <a:p>
            <a:pPr eaLnBrk="1" hangingPunct="1">
              <a:buNone/>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lstStyle/>
          <a:p>
            <a:pPr eaLnBrk="1" hangingPunct="1"/>
            <a:r>
              <a:rPr lang="en-US" altLang="zh-CN">
                <a:solidFill>
                  <a:srgbClr val="FF0000"/>
                </a:solidFill>
                <a:highlight>
                  <a:srgbClr val="FFFF00"/>
                </a:highlight>
                <a:sym typeface="+mn-ea"/>
              </a:rPr>
              <a:t>2. Tense </a:t>
            </a:r>
            <a:endParaRPr lang="zh-CN" altLang="en-US" dirty="0"/>
          </a:p>
        </p:txBody>
      </p:sp>
      <p:sp>
        <p:nvSpPr>
          <p:cNvPr id="20483" name="内容占位符 2"/>
          <p:cNvSpPr>
            <a:spLocks noGrp="1"/>
          </p:cNvSpPr>
          <p:nvPr>
            <p:ph idx="1"/>
          </p:nvPr>
        </p:nvSpPr>
        <p:spPr/>
        <p:txBody>
          <a:bodyPr vert="horz" wrap="square" lIns="91440" tIns="45720" rIns="91440" bIns="45720" anchor="t">
            <a:normAutofit fontScale="60000"/>
          </a:bodyPr>
          <a:lstStyle/>
          <a:p>
            <a:pPr eaLnBrk="1" hangingPunct="1"/>
            <a:r>
              <a:rPr lang="en-US" altLang="zh-CN" dirty="0">
                <a:sym typeface="+mn-ea"/>
              </a:rPr>
              <a:t>Wide use of present tense to describe something happening in the past as well as in the present  </a:t>
            </a:r>
            <a:endParaRPr lang="en-US" altLang="zh-CN" dirty="0">
              <a:sym typeface="+mn-ea"/>
            </a:endParaRPr>
          </a:p>
          <a:p>
            <a:pPr eaLnBrk="1" hangingPunct="1"/>
            <a:r>
              <a:rPr lang="en-US" altLang="zh-CN" err="1"/>
              <a:t>Gunston</a:t>
            </a:r>
            <a:r>
              <a:rPr lang="en-US" altLang="zh-CN"/>
              <a:t> Gets His Gong </a:t>
            </a:r>
            <a:endParaRPr lang="en-US" altLang="zh-CN"/>
          </a:p>
          <a:p>
            <a:pPr eaLnBrk="1" hangingPunct="1"/>
            <a:r>
              <a:rPr lang="en-US" altLang="zh-CN"/>
              <a:t>(=</a:t>
            </a:r>
            <a:r>
              <a:rPr lang="en-US" altLang="zh-CN" err="1"/>
              <a:t>Gunston</a:t>
            </a:r>
            <a:r>
              <a:rPr lang="en-US" altLang="zh-CN"/>
              <a:t> Got His Gong) </a:t>
            </a:r>
            <a:r>
              <a:rPr lang="en-US" altLang="zh-CN" err="1"/>
              <a:t>Gunston</a:t>
            </a:r>
            <a:r>
              <a:rPr lang="zh-CN" altLang="zh-CN" dirty="0"/>
              <a:t>获得奖章</a:t>
            </a:r>
            <a:endParaRPr lang="en-US" altLang="zh-CN"/>
          </a:p>
          <a:p>
            <a:pPr eaLnBrk="1" hangingPunct="1">
              <a:buNone/>
            </a:pPr>
            <a:r>
              <a:rPr lang="zh-CN" altLang="zh-CN" dirty="0"/>
              <a:t>英语新闻标题常用一般现在时，从形式上增强报道的新鲜感、现实感和直接感。</a:t>
            </a:r>
            <a:r>
              <a:rPr lang="en-US" altLang="zh-CN" dirty="0">
                <a:sym typeface="+mn-ea"/>
              </a:rPr>
              <a:t>2) Future tense</a:t>
            </a:r>
            <a:endParaRPr lang="en-US" altLang="zh-CN" dirty="0"/>
          </a:p>
          <a:p>
            <a:pPr eaLnBrk="1" hangingPunct="1">
              <a:buNone/>
            </a:pPr>
            <a:r>
              <a:rPr lang="en-US" altLang="zh-CN" dirty="0">
                <a:sym typeface="+mn-ea"/>
              </a:rPr>
              <a:t>   Linking verb + infinitive phrase</a:t>
            </a:r>
            <a:endParaRPr lang="en-US" altLang="zh-CN" dirty="0">
              <a:sym typeface="+mn-ea"/>
            </a:endParaRPr>
          </a:p>
          <a:p>
            <a:pPr eaLnBrk="1" hangingPunct="1">
              <a:buNone/>
            </a:pPr>
            <a:r>
              <a:rPr lang="zh-CN" altLang="zh-CN" dirty="0">
                <a:sym typeface="+mn-ea"/>
              </a:rPr>
              <a:t>“</a:t>
            </a:r>
            <a:r>
              <a:rPr lang="zh-CN" altLang="zh-CN" dirty="0">
                <a:highlight>
                  <a:srgbClr val="FFFF00"/>
                </a:highlight>
                <a:sym typeface="+mn-ea"/>
              </a:rPr>
              <a:t>系动词</a:t>
            </a:r>
            <a:r>
              <a:rPr lang="en-US" altLang="zh-CN">
                <a:highlight>
                  <a:srgbClr val="FFFF00"/>
                </a:highlight>
                <a:sym typeface="+mn-ea"/>
              </a:rPr>
              <a:t>+</a:t>
            </a:r>
            <a:r>
              <a:rPr lang="zh-CN" altLang="zh-CN" dirty="0">
                <a:highlight>
                  <a:srgbClr val="FFFF00"/>
                </a:highlight>
                <a:sym typeface="+mn-ea"/>
              </a:rPr>
              <a:t>动词不定式”结构，其中系动词通常省略，以节省标题字数</a:t>
            </a:r>
            <a:r>
              <a:rPr lang="en-US" altLang="zh-CN" dirty="0">
                <a:highlight>
                  <a:srgbClr val="FFFF00"/>
                </a:highlight>
                <a:sym typeface="+mn-ea"/>
              </a:rPr>
              <a:t>, often used to indicate the future tense</a:t>
            </a:r>
            <a:endParaRPr lang="en-US" altLang="zh-CN" dirty="0"/>
          </a:p>
          <a:p>
            <a:pPr eaLnBrk="1" hangingPunct="1">
              <a:buNone/>
            </a:pPr>
            <a:r>
              <a:rPr lang="en-US" altLang="zh-CN" dirty="0">
                <a:sym typeface="+mn-ea"/>
              </a:rPr>
              <a:t>  Largest Chinese Trade Delegation to Visit US in Nov.</a:t>
            </a:r>
            <a:endParaRPr lang="zh-CN" altLang="en-US" dirty="0"/>
          </a:p>
          <a:p>
            <a:pPr>
              <a:buNone/>
            </a:pPr>
            <a:r>
              <a:rPr lang="en-US" altLang="zh-CN" dirty="0">
                <a:sym typeface="+mn-ea"/>
              </a:rPr>
              <a:t> (=The Largest Chinese Trade Delegation is to Visit US in Nov.)</a:t>
            </a:r>
            <a:endParaRPr lang="zh-CN" altLang="en-US" dirty="0"/>
          </a:p>
          <a:p>
            <a:pPr eaLnBrk="1" hangingPunct="1"/>
            <a:r>
              <a:rPr lang="en-US" altLang="zh-CN">
                <a:sym typeface="+mn-ea"/>
              </a:rPr>
              <a:t>US Troops Conducting War Games In Mideast </a:t>
            </a:r>
            <a:endParaRPr lang="en-US" altLang="zh-CN"/>
          </a:p>
          <a:p>
            <a:pPr eaLnBrk="1" hangingPunct="1"/>
            <a:r>
              <a:rPr lang="en-US" altLang="zh-CN">
                <a:sym typeface="+mn-ea"/>
              </a:rPr>
              <a:t>(=US Troops are Conducting War Games In Mideast) </a:t>
            </a:r>
            <a:r>
              <a:rPr lang="zh-CN" altLang="zh-CN" dirty="0">
                <a:sym typeface="+mn-ea"/>
              </a:rPr>
              <a:t>美国军队在中东进行演习</a:t>
            </a:r>
            <a:endParaRPr lang="en-US" altLang="zh-CN"/>
          </a:p>
          <a:p>
            <a:pPr eaLnBrk="1" hangingPunct="1"/>
            <a:r>
              <a:rPr lang="zh-CN" altLang="zh-CN" dirty="0">
                <a:highlight>
                  <a:srgbClr val="FFFF00"/>
                </a:highlight>
                <a:sym typeface="+mn-ea"/>
              </a:rPr>
              <a:t>现在分词直接表示正在进行的动作或事件</a:t>
            </a:r>
            <a:endParaRPr lang="zh-CN" altLang="zh-CN" dirty="0">
              <a:highlight>
                <a:srgbClr val="FFFF00"/>
              </a:highlight>
            </a:endParaRPr>
          </a:p>
          <a:p>
            <a:pPr eaLnBrk="1" hangingPunct="1"/>
            <a:endParaRPr lang="en-US" altLang="zh-CN"/>
          </a:p>
          <a:p>
            <a:pPr eaLnBrk="1" hangingPunct="1">
              <a:buNone/>
            </a:pPr>
            <a:endParaRPr lang="en-US" altLang="zh-CN" dirty="0"/>
          </a:p>
          <a:p>
            <a:pPr eaLnBrk="1" hangingPunct="1">
              <a:buNone/>
            </a:pPr>
            <a:br>
              <a:rPr lang="en-US" altLang="zh-CN" dirty="0">
                <a:sym typeface="+mn-ea"/>
              </a:rPr>
            </a:br>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4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48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48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48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48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48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1"/>
          <p:cNvSpPr>
            <a:spLocks noGrp="1"/>
          </p:cNvSpPr>
          <p:nvPr>
            <p:ph type="title"/>
          </p:nvPr>
        </p:nvSpPr>
        <p:spPr/>
        <p:txBody>
          <a:bodyPr vert="horz" wrap="square" lIns="91440" tIns="45720" rIns="91440" bIns="45720" anchor="ctr" anchorCtr="0"/>
          <a:p>
            <a:pPr eaLnBrk="1" hangingPunct="1"/>
            <a:r>
              <a:rPr lang="en-US" altLang="zh-CN" sz="3200" dirty="0">
                <a:solidFill>
                  <a:srgbClr val="FF0000"/>
                </a:solidFill>
                <a:sym typeface="+mn-ea"/>
              </a:rPr>
              <a:t> 3. Voice</a:t>
            </a:r>
            <a:endParaRPr lang="en-US" altLang="zh-CN" sz="3200" dirty="0">
              <a:solidFill>
                <a:srgbClr val="FF0000"/>
              </a:solidFill>
              <a:sym typeface="+mn-ea"/>
            </a:endParaRPr>
          </a:p>
        </p:txBody>
      </p:sp>
      <p:sp>
        <p:nvSpPr>
          <p:cNvPr id="34818" name="内容占位符 2"/>
          <p:cNvSpPr>
            <a:spLocks noGrp="1"/>
          </p:cNvSpPr>
          <p:nvPr>
            <p:ph idx="1"/>
          </p:nvPr>
        </p:nvSpPr>
        <p:spPr/>
        <p:txBody>
          <a:bodyPr vert="horz" wrap="square" lIns="91440" tIns="45720" rIns="91440" bIns="45720" anchor="t" anchorCtr="0"/>
          <a:p>
            <a:pPr eaLnBrk="1" hangingPunct="1">
              <a:buNone/>
            </a:pPr>
            <a:r>
              <a:rPr lang="en-US" altLang="zh-CN" dirty="0"/>
              <a:t>1)  Passive voice used when the receiver of the event or action is more important than the executor</a:t>
            </a:r>
            <a:r>
              <a:rPr lang="zh-CN" altLang="en-US" dirty="0">
                <a:highlight>
                  <a:srgbClr val="FFFF00"/>
                </a:highlight>
                <a:sym typeface="+mn-ea"/>
              </a:rPr>
              <a:t>使用被动语态时常省略</a:t>
            </a:r>
            <a:r>
              <a:rPr lang="en-US" altLang="zh-CN">
                <a:highlight>
                  <a:srgbClr val="FFFF00"/>
                </a:highlight>
                <a:sym typeface="+mn-ea"/>
              </a:rPr>
              <a:t>be</a:t>
            </a:r>
            <a:endParaRPr lang="en-US" altLang="zh-CN" dirty="0"/>
          </a:p>
          <a:p>
            <a:pPr eaLnBrk="1" hangingPunct="1">
              <a:buFont typeface="Wingdings" panose="05000000000000000000" charset="0"/>
              <a:buChar char=""/>
            </a:pPr>
            <a:r>
              <a:rPr lang="en-US" altLang="zh-CN" dirty="0"/>
              <a:t> </a:t>
            </a:r>
            <a:r>
              <a:rPr lang="en-US" altLang="zh-CN" sz="2800" dirty="0"/>
              <a:t> Journalist Fired in Spy Debate </a:t>
            </a:r>
            <a:endParaRPr lang="en-US" altLang="zh-CN" sz="2800" dirty="0"/>
          </a:p>
          <a:p>
            <a:pPr marL="0" indent="0" eaLnBrk="1" hangingPunct="1">
              <a:buFont typeface="Wingdings" panose="05000000000000000000" charset="0"/>
              <a:buNone/>
            </a:pPr>
            <a:r>
              <a:rPr lang="en-US" altLang="zh-CN" sz="2800" dirty="0"/>
              <a:t> (=A Journalist Is Fired in a Spy Debate)</a:t>
            </a:r>
            <a:endParaRPr lang="en-US" altLang="zh-CN" sz="2800" dirty="0"/>
          </a:p>
          <a:p>
            <a:pPr marL="0" indent="0" eaLnBrk="1" hangingPunct="1">
              <a:buFont typeface="Wingdings" panose="05000000000000000000" charset="0"/>
              <a:buNone/>
            </a:pPr>
            <a:r>
              <a:rPr lang="zh-CN" altLang="en-US" sz="2800" dirty="0"/>
              <a:t>涉嫌间谍案纠纷，一</a:t>
            </a:r>
            <a:r>
              <a:rPr lang="en-US" altLang="zh-CN" sz="2800" dirty="0"/>
              <a:t>记者被</a:t>
            </a:r>
            <a:r>
              <a:rPr lang="zh-CN" altLang="en-US" sz="2800" dirty="0"/>
              <a:t>炒鱿鱼</a:t>
            </a:r>
            <a:r>
              <a:rPr lang="en-US" altLang="zh-CN" sz="2800" dirty="0"/>
              <a:t> </a:t>
            </a:r>
            <a:endParaRPr lang="en-US" altLang="zh-CN" sz="2800" dirty="0"/>
          </a:p>
          <a:p>
            <a:pPr eaLnBrk="1" hangingPunct="1">
              <a:buNone/>
            </a:pPr>
            <a:r>
              <a:rPr lang="en-US" altLang="zh-CN" dirty="0">
                <a:sym typeface="+mn-ea"/>
              </a:rPr>
              <a:t>2) Active voice more widely used to make headlines  more colorful and appealing.</a:t>
            </a:r>
            <a:endParaRPr lang="en-US" altLang="zh-CN" dirty="0"/>
          </a:p>
          <a:p>
            <a:pPr eaLnBrk="1" hangingPunct="1">
              <a:buNone/>
            </a:pPr>
            <a:r>
              <a:rPr lang="en-US" altLang="zh-CN" i="1" dirty="0">
                <a:sym typeface="+mn-ea"/>
              </a:rPr>
              <a:t>  Fed waits for job market to perk up </a:t>
            </a:r>
            <a:endParaRPr lang="en-US" altLang="zh-CN" i="1" dirty="0"/>
          </a:p>
          <a:p>
            <a:pPr eaLnBrk="1" hangingPunct="1">
              <a:buNone/>
            </a:pPr>
            <a:r>
              <a:rPr lang="zh-CN" altLang="en-US" dirty="0">
                <a:sym typeface="+mn-ea"/>
              </a:rPr>
              <a:t>美联储等待就业市场回暖 </a:t>
            </a:r>
            <a:r>
              <a:rPr lang="en-US" altLang="zh-CN" dirty="0">
                <a:sym typeface="+mn-ea"/>
              </a:rPr>
              <a:t>(Fed- Federal Reserves)</a:t>
            </a:r>
            <a:endParaRPr lang="en-US" altLang="zh-CN" dirty="0"/>
          </a:p>
          <a:p>
            <a:pPr marL="0" indent="0" eaLnBrk="1" hangingPunct="1">
              <a:buFont typeface="Wingdings" panose="05000000000000000000" charset="0"/>
              <a:buNone/>
            </a:pP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p:txBody>
          <a:bodyPr vert="horz" wrap="square" lIns="91440" tIns="45720" rIns="91440" bIns="45720" anchor="ctr" anchorCtr="0"/>
          <a:p>
            <a:pPr eaLnBrk="1" hangingPunct="1"/>
            <a:r>
              <a:rPr lang="en-US" altLang="zh-CN" sz="3200" dirty="0">
                <a:solidFill>
                  <a:srgbClr val="FF0000"/>
                </a:solidFill>
                <a:sym typeface="+mn-ea"/>
              </a:rPr>
              <a:t>4. Punctuations</a:t>
            </a:r>
            <a:endParaRPr lang="en-US" altLang="zh-CN" sz="3200" dirty="0"/>
          </a:p>
        </p:txBody>
      </p:sp>
      <p:sp>
        <p:nvSpPr>
          <p:cNvPr id="36866" name="内容占位符 2"/>
          <p:cNvSpPr>
            <a:spLocks noGrp="1"/>
          </p:cNvSpPr>
          <p:nvPr>
            <p:ph idx="1"/>
          </p:nvPr>
        </p:nvSpPr>
        <p:spPr/>
        <p:txBody>
          <a:bodyPr vert="horz" wrap="square" lIns="91440" tIns="45720" rIns="91440" bIns="45720" anchor="t" anchorCtr="0"/>
          <a:p>
            <a:pPr eaLnBrk="1" hangingPunct="1">
              <a:buNone/>
            </a:pPr>
            <a:r>
              <a:rPr lang="en-US" dirty="0"/>
              <a:t>Punctuations are usually ommitted in most headlines for conciseness. Eg. no full stops </a:t>
            </a:r>
            <a:r>
              <a:rPr lang="en-US" dirty="0"/>
              <a:t>for a statement in the headlines. </a:t>
            </a:r>
            <a:endParaRPr lang="en-US" dirty="0"/>
          </a:p>
          <a:p>
            <a:pPr eaLnBrk="1" hangingPunct="1">
              <a:buNone/>
            </a:pPr>
            <a:r>
              <a:rPr lang="en-US" dirty="0"/>
              <a:t>Used for </a:t>
            </a:r>
            <a:r>
              <a:rPr lang="en-US" dirty="0"/>
              <a:t>two purposes:</a:t>
            </a:r>
            <a:endParaRPr lang="en-US" dirty="0"/>
          </a:p>
          <a:p>
            <a:pPr eaLnBrk="1" hangingPunct="1">
              <a:buNone/>
            </a:pPr>
            <a:r>
              <a:rPr lang="en-US" dirty="0"/>
              <a:t>1) To distinguish the elements or chunks in a sent</a:t>
            </a:r>
            <a:r>
              <a:rPr lang="en-US" dirty="0"/>
              <a:t>ence</a:t>
            </a:r>
            <a:endParaRPr lang="en-US" dirty="0"/>
          </a:p>
          <a:p>
            <a:pPr eaLnBrk="1" hangingPunct="1">
              <a:buNone/>
            </a:pPr>
            <a:r>
              <a:rPr lang="en-US" dirty="0"/>
              <a:t>2) To save the space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p:txBody>
          <a:bodyPr vert="horz" wrap="square" lIns="91440" tIns="45720" rIns="91440" bIns="45720" anchor="ctr" anchorCtr="0"/>
          <a:p>
            <a:pPr eaLnBrk="1" hangingPunct="1"/>
            <a:r>
              <a:rPr lang="en-US" altLang="zh-CN" sz="3200" dirty="0">
                <a:solidFill>
                  <a:srgbClr val="FF0000"/>
                </a:solidFill>
                <a:sym typeface="+mn-ea"/>
              </a:rPr>
              <a:t>4. Punctuations</a:t>
            </a:r>
            <a:endParaRPr lang="en-US" altLang="zh-CN" sz="3200" dirty="0"/>
          </a:p>
        </p:txBody>
      </p:sp>
      <p:sp>
        <p:nvSpPr>
          <p:cNvPr id="36866" name="内容占位符 2"/>
          <p:cNvSpPr>
            <a:spLocks noGrp="1"/>
          </p:cNvSpPr>
          <p:nvPr>
            <p:ph idx="1"/>
          </p:nvPr>
        </p:nvSpPr>
        <p:spPr/>
        <p:txBody>
          <a:bodyPr vert="horz" wrap="square" lIns="91440" tIns="45720" rIns="91440" bIns="45720" anchor="t" anchorCtr="0"/>
          <a:p>
            <a:pPr eaLnBrk="1" hangingPunct="1">
              <a:buNone/>
            </a:pPr>
            <a:r>
              <a:rPr lang="en-US" dirty="0">
                <a:highlight>
                  <a:srgbClr val="FFFF00"/>
                </a:highlight>
              </a:rPr>
              <a:t>1) Comma, to replace “and”</a:t>
            </a:r>
            <a:endParaRPr lang="en-US" dirty="0">
              <a:highlight>
                <a:srgbClr val="FFFF00"/>
              </a:highlight>
            </a:endParaRPr>
          </a:p>
          <a:p>
            <a:pPr eaLnBrk="1" hangingPunct="1">
              <a:buFont typeface="Arial" panose="020B0604020202020204" pitchFamily="34" charset="0"/>
              <a:buChar char="•"/>
            </a:pPr>
            <a:r>
              <a:rPr lang="en-US" dirty="0"/>
              <a:t>Guangzhou Fair Closes, Trade Booms </a:t>
            </a:r>
            <a:endParaRPr lang="en-US" dirty="0"/>
          </a:p>
          <a:p>
            <a:pPr eaLnBrk="1" hangingPunct="1">
              <a:buFont typeface="Arial" panose="020B0604020202020204" pitchFamily="34" charset="0"/>
              <a:buChar char="•"/>
            </a:pPr>
            <a:r>
              <a:rPr lang="en-US" dirty="0"/>
              <a:t>(=The Guanzhou Fair closes and trade booms)</a:t>
            </a:r>
            <a:r>
              <a:rPr lang="zh-CN" altLang="en-US" dirty="0"/>
              <a:t>广交会落幕，交易火爆</a:t>
            </a:r>
            <a:endParaRPr lang="en-US" dirty="0"/>
          </a:p>
          <a:p>
            <a:pPr marL="0" indent="0" eaLnBrk="1" hangingPunct="1">
              <a:buFont typeface="Wingdings" panose="05000000000000000000" charset="0"/>
              <a:buNone/>
            </a:pPr>
            <a:r>
              <a:rPr lang="en-US" dirty="0"/>
              <a:t>2) </a:t>
            </a:r>
            <a:r>
              <a:rPr lang="en-US" dirty="0">
                <a:highlight>
                  <a:srgbClr val="FFFF00"/>
                </a:highlight>
              </a:rPr>
              <a:t>Dash --, to introduce the speaker when quoting his/her words. (</a:t>
            </a:r>
            <a:r>
              <a:rPr lang="zh-CN" altLang="en-US" dirty="0">
                <a:highlight>
                  <a:srgbClr val="FFFF00"/>
                </a:highlight>
              </a:rPr>
              <a:t>既可以表示引语本身可能比说话人更重要，又使标题内容更直接真实）</a:t>
            </a:r>
            <a:endParaRPr lang="zh-CN" altLang="en-US" dirty="0">
              <a:highlight>
                <a:srgbClr val="FFFF00"/>
              </a:highlight>
            </a:endParaRPr>
          </a:p>
          <a:p>
            <a:pPr eaLnBrk="1" hangingPunct="1"/>
            <a:r>
              <a:rPr lang="en-US" altLang="zh-CN" dirty="0"/>
              <a:t>World Unity Against Terrorism Needed -- Brown</a:t>
            </a:r>
            <a:endParaRPr lang="en-US" altLang="zh-CN" dirty="0"/>
          </a:p>
          <a:p>
            <a:pPr marL="0" indent="0" eaLnBrk="1" hangingPunct="1">
              <a:buFont typeface="Wingdings" panose="05000000000000000000" charset="0"/>
              <a:buNone/>
            </a:pPr>
            <a:r>
              <a:rPr lang="en-US" altLang="zh-CN" dirty="0"/>
              <a:t>(= Brown </a:t>
            </a:r>
            <a:r>
              <a:rPr lang="en-US" altLang="zh-CN" u="sng" dirty="0"/>
              <a:t>Says</a:t>
            </a:r>
            <a:r>
              <a:rPr lang="en-US" altLang="zh-CN" dirty="0"/>
              <a:t> That </a:t>
            </a:r>
            <a:r>
              <a:rPr lang="en-US" altLang="zh-CN" dirty="0">
                <a:sym typeface="+mn-ea"/>
              </a:rPr>
              <a:t>World Unity Against Terrorism is Needed)</a:t>
            </a:r>
            <a:r>
              <a:rPr lang="zh-CN" altLang="en-US" dirty="0">
                <a:sym typeface="+mn-ea"/>
              </a:rPr>
              <a:t>布朗：全世界需联手反恐</a:t>
            </a:r>
            <a:endParaRPr lang="en-US" dirty="0"/>
          </a:p>
          <a:p>
            <a:pPr eaLnBrk="1" hangingPunct="1">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p:txBody>
          <a:bodyPr vert="horz" wrap="square" lIns="91440" tIns="45720" rIns="91440" bIns="45720" anchor="ctr" anchorCtr="0"/>
          <a:p>
            <a:pPr eaLnBrk="1" hangingPunct="1"/>
            <a:r>
              <a:rPr lang="en-US" altLang="zh-CN" sz="3200" dirty="0">
                <a:solidFill>
                  <a:srgbClr val="FF0000"/>
                </a:solidFill>
                <a:sym typeface="+mn-ea"/>
              </a:rPr>
              <a:t>4. Punctuations</a:t>
            </a:r>
            <a:endParaRPr lang="en-US" altLang="zh-CN" sz="3200" dirty="0"/>
          </a:p>
        </p:txBody>
      </p:sp>
      <p:sp>
        <p:nvSpPr>
          <p:cNvPr id="36866" name="内容占位符 2"/>
          <p:cNvSpPr>
            <a:spLocks noGrp="1"/>
          </p:cNvSpPr>
          <p:nvPr>
            <p:ph idx="1"/>
          </p:nvPr>
        </p:nvSpPr>
        <p:spPr/>
        <p:txBody>
          <a:bodyPr vert="horz" wrap="square" lIns="91440" tIns="45720" rIns="91440" bIns="45720" anchor="t" anchorCtr="0"/>
          <a:p>
            <a:pPr eaLnBrk="1" hangingPunct="1">
              <a:buNone/>
            </a:pPr>
            <a:r>
              <a:rPr lang="en-US" dirty="0">
                <a:highlight>
                  <a:srgbClr val="FFFF00"/>
                </a:highlight>
              </a:rPr>
              <a:t>3) Colon, to suggest the words of explanations</a:t>
            </a:r>
            <a:endParaRPr lang="en-US" dirty="0">
              <a:highlight>
                <a:srgbClr val="FFFF00"/>
              </a:highlight>
            </a:endParaRPr>
          </a:p>
          <a:p>
            <a:pPr eaLnBrk="1" hangingPunct="1"/>
            <a:r>
              <a:rPr lang="en-US" dirty="0"/>
              <a:t>Putin: Muslin Nations Call for End to Tension in Bosnia - Herzegovina </a:t>
            </a:r>
            <a:endParaRPr lang="en-US" dirty="0"/>
          </a:p>
          <a:p>
            <a:pPr eaLnBrk="1" hangingPunct="1"/>
            <a:r>
              <a:rPr lang="en-US" dirty="0"/>
              <a:t> (=Putin Says: </a:t>
            </a:r>
            <a:r>
              <a:rPr lang="en-US" dirty="0">
                <a:sym typeface="+mn-ea"/>
              </a:rPr>
              <a:t>Muslin Nations Call for an End to the Tension in Bosnia - Herzegovina </a:t>
            </a:r>
            <a:r>
              <a:rPr lang="en-US" dirty="0"/>
              <a:t>) </a:t>
            </a:r>
            <a:r>
              <a:rPr lang="zh-CN" altLang="en-US" dirty="0"/>
              <a:t>普京：伊斯兰国家呼吁尽快结束波黑紧张</a:t>
            </a:r>
            <a:r>
              <a:rPr lang="zh-CN" altLang="en-US" dirty="0"/>
              <a:t>局势</a:t>
            </a:r>
            <a:endParaRPr lang="zh-CN" altLang="en-US" dirty="0"/>
          </a:p>
          <a:p>
            <a:pPr eaLnBrk="1" hangingPunct="1"/>
            <a:endParaRPr lang="zh-CN" altLang="en-US" dirty="0"/>
          </a:p>
          <a:p>
            <a:pPr marL="0" indent="0" eaLnBrk="1" hangingPunct="1">
              <a:buNone/>
            </a:pPr>
            <a:r>
              <a:rPr lang="en-US" altLang="zh-CN" dirty="0"/>
              <a:t>Note: </a:t>
            </a:r>
            <a:r>
              <a:rPr lang="zh-CN" altLang="en-US" dirty="0"/>
              <a:t>美国报刊新闻标题里每个实词首字母通常大写，英国及英联邦国家地区往往是整个标题的第一个词首字母大写</a:t>
            </a:r>
            <a:r>
              <a:rPr lang="en-US" altLang="zh-CN" dirty="0"/>
              <a:t> (China Daily</a:t>
            </a:r>
            <a:r>
              <a:rPr lang="zh-CN" altLang="en-US" dirty="0"/>
              <a:t>也采取此种</a:t>
            </a:r>
            <a:r>
              <a:rPr lang="zh-CN" altLang="en-US" dirty="0"/>
              <a:t>形式）。</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Grp="1"/>
          </p:cNvSpPr>
          <p:nvPr>
            <p:ph type="title"/>
          </p:nvPr>
        </p:nvSpPr>
        <p:spPr/>
        <p:txBody>
          <a:bodyPr vert="horz" wrap="square" lIns="91440" tIns="45720" rIns="91440" bIns="45720" anchor="ctr" anchorCtr="0"/>
          <a:p>
            <a:r>
              <a:rPr lang="en-US" altLang="zh-CN" sz="3800" dirty="0"/>
              <a:t>What newspaper or magazine do you know or read?</a:t>
            </a:r>
            <a:endParaRPr lang="en-US" altLang="zh-CN" sz="3800" dirty="0"/>
          </a:p>
        </p:txBody>
      </p:sp>
      <p:sp>
        <p:nvSpPr>
          <p:cNvPr id="20482" name="Rectangle 3"/>
          <p:cNvSpPr>
            <a:spLocks noGrp="1"/>
          </p:cNvSpPr>
          <p:nvPr>
            <p:ph idx="1"/>
          </p:nvPr>
        </p:nvSpPr>
        <p:spPr>
          <a:xfrm>
            <a:off x="1517015" y="1490980"/>
            <a:ext cx="8982710" cy="4525645"/>
          </a:xfrm>
        </p:spPr>
        <p:txBody>
          <a:bodyPr vert="horz" wrap="square" lIns="91440" tIns="45720" rIns="91440" bIns="45720" anchor="t" anchorCtr="0">
            <a:normAutofit fontScale="60000"/>
          </a:bodyPr>
          <a:p>
            <a:pPr>
              <a:lnSpc>
                <a:spcPct val="90000"/>
              </a:lnSpc>
            </a:pPr>
            <a:r>
              <a:rPr lang="en-US" altLang="zh-CN" sz="2400" dirty="0"/>
              <a:t>《</a:t>
            </a:r>
            <a:r>
              <a:rPr lang="zh-CN" altLang="en-US" sz="2400" dirty="0"/>
              <a:t>纽约时报</a:t>
            </a:r>
            <a:r>
              <a:rPr lang="en-US" altLang="zh-CN" sz="2400" dirty="0"/>
              <a:t>》(</a:t>
            </a:r>
            <a:r>
              <a:rPr lang="en-US" altLang="zh-CN" sz="2400" i="1" dirty="0">
                <a:latin typeface="Arial Italic" panose="020B0604020202090204" charset="0"/>
              </a:rPr>
              <a:t>The New York Times</a:t>
            </a:r>
            <a:r>
              <a:rPr lang="en-US" altLang="zh-CN" sz="2400" dirty="0"/>
              <a:t>)</a:t>
            </a:r>
            <a:endParaRPr lang="en-US" altLang="zh-CN" sz="2400" dirty="0"/>
          </a:p>
          <a:p>
            <a:pPr>
              <a:lnSpc>
                <a:spcPct val="90000"/>
              </a:lnSpc>
            </a:pPr>
            <a:r>
              <a:rPr lang="en-US" altLang="zh-CN" sz="2400" dirty="0"/>
              <a:t>《</a:t>
            </a:r>
            <a:r>
              <a:rPr lang="zh-CN" altLang="en-US" sz="2400" dirty="0"/>
              <a:t>华盛顿邮报</a:t>
            </a:r>
            <a:r>
              <a:rPr lang="en-US" altLang="zh-CN" sz="2400" dirty="0"/>
              <a:t>》(</a:t>
            </a:r>
            <a:r>
              <a:rPr lang="en-US" altLang="zh-CN" sz="2400" i="1" dirty="0">
                <a:latin typeface="Arial Italic" panose="020B0604020202090204" charset="0"/>
              </a:rPr>
              <a:t>The Washington Post</a:t>
            </a:r>
            <a:r>
              <a:rPr lang="en-US" altLang="zh-CN" sz="2400" dirty="0"/>
              <a:t>)</a:t>
            </a:r>
            <a:endParaRPr lang="en-US" altLang="zh-CN" sz="2400" dirty="0"/>
          </a:p>
          <a:p>
            <a:pPr>
              <a:lnSpc>
                <a:spcPct val="90000"/>
              </a:lnSpc>
            </a:pPr>
            <a:r>
              <a:rPr lang="en-US" altLang="zh-CN" sz="2400" dirty="0"/>
              <a:t>《</a:t>
            </a:r>
            <a:r>
              <a:rPr lang="zh-CN" altLang="en-US" sz="2400" dirty="0"/>
              <a:t>时代</a:t>
            </a:r>
            <a:r>
              <a:rPr lang="en-US" altLang="zh-CN" sz="2400" dirty="0"/>
              <a:t>》</a:t>
            </a:r>
            <a:r>
              <a:rPr lang="zh-CN" altLang="en-US" sz="2400" dirty="0"/>
              <a:t>周刊</a:t>
            </a:r>
            <a:r>
              <a:rPr lang="en-US" altLang="zh-CN" sz="2400" dirty="0"/>
              <a:t>(</a:t>
            </a:r>
            <a:r>
              <a:rPr lang="en-US" altLang="zh-CN" sz="2400" i="1" dirty="0">
                <a:latin typeface="Arial Italic" panose="020B0604020202090204" charset="0"/>
              </a:rPr>
              <a:t>Time</a:t>
            </a:r>
            <a:r>
              <a:rPr lang="en-US" altLang="zh-CN" sz="2400" dirty="0"/>
              <a:t>)</a:t>
            </a:r>
            <a:endParaRPr lang="en-US" altLang="zh-CN" sz="2400" dirty="0"/>
          </a:p>
          <a:p>
            <a:pPr>
              <a:lnSpc>
                <a:spcPct val="90000"/>
              </a:lnSpc>
            </a:pPr>
            <a:r>
              <a:rPr lang="en-US" altLang="zh-CN" sz="2400" dirty="0"/>
              <a:t>《</a:t>
            </a:r>
            <a:r>
              <a:rPr lang="zh-CN" altLang="en-US" sz="2400" dirty="0"/>
              <a:t>泰晤士报</a:t>
            </a:r>
            <a:r>
              <a:rPr lang="en-US" altLang="zh-CN" sz="2400" dirty="0"/>
              <a:t>》(</a:t>
            </a:r>
            <a:r>
              <a:rPr lang="en-US" altLang="zh-CN" sz="2400" i="1" dirty="0">
                <a:latin typeface="Arial Italic" panose="020B0604020202090204" charset="0"/>
              </a:rPr>
              <a:t>The Times</a:t>
            </a:r>
            <a:r>
              <a:rPr lang="en-US" altLang="zh-CN" sz="2400" dirty="0"/>
              <a:t>)</a:t>
            </a:r>
            <a:endParaRPr lang="en-US" altLang="zh-CN" sz="2400" dirty="0"/>
          </a:p>
          <a:p>
            <a:pPr>
              <a:lnSpc>
                <a:spcPct val="90000"/>
              </a:lnSpc>
            </a:pPr>
            <a:r>
              <a:rPr lang="en-US" altLang="zh-CN" sz="2400" dirty="0"/>
              <a:t>《</a:t>
            </a:r>
            <a:r>
              <a:rPr lang="zh-CN" altLang="en-US" sz="2400" dirty="0"/>
              <a:t>经济学家</a:t>
            </a:r>
            <a:r>
              <a:rPr lang="en-US" altLang="zh-CN" sz="2400" dirty="0"/>
              <a:t>》(</a:t>
            </a:r>
            <a:r>
              <a:rPr lang="en-US" altLang="zh-CN" sz="2400" i="1" dirty="0">
                <a:latin typeface="Arial Italic" panose="020B0604020202090204" charset="0"/>
              </a:rPr>
              <a:t>The Economist</a:t>
            </a:r>
            <a:r>
              <a:rPr lang="en-US" altLang="zh-CN" sz="2400" dirty="0"/>
              <a:t>)</a:t>
            </a:r>
            <a:endParaRPr lang="en-US" altLang="zh-CN" sz="2400" dirty="0"/>
          </a:p>
          <a:p>
            <a:pPr>
              <a:lnSpc>
                <a:spcPct val="90000"/>
              </a:lnSpc>
            </a:pPr>
            <a:r>
              <a:rPr lang="en-US" altLang="zh-CN" sz="2400" dirty="0"/>
              <a:t>《</a:t>
            </a:r>
            <a:r>
              <a:rPr lang="zh-CN" altLang="en-US" sz="2400" dirty="0"/>
              <a:t>旁观者</a:t>
            </a:r>
            <a:r>
              <a:rPr lang="en-US" altLang="zh-CN" sz="2400" dirty="0"/>
              <a:t>》(</a:t>
            </a:r>
            <a:r>
              <a:rPr lang="en-US" altLang="zh-CN" sz="2400" i="1" dirty="0">
                <a:latin typeface="Arial Italic" panose="020B0604020202090204" charset="0"/>
              </a:rPr>
              <a:t>The Spectator</a:t>
            </a:r>
            <a:r>
              <a:rPr lang="en-US" altLang="zh-CN" sz="2400" dirty="0"/>
              <a:t>)</a:t>
            </a:r>
            <a:endParaRPr lang="en-US" altLang="zh-CN" sz="2400" dirty="0"/>
          </a:p>
          <a:p>
            <a:pPr>
              <a:lnSpc>
                <a:spcPct val="90000"/>
              </a:lnSpc>
              <a:buFont typeface="Wingdings" panose="05000000000000000000" charset="0"/>
              <a:buChar char=""/>
            </a:pPr>
            <a:r>
              <a:rPr lang="en-US" altLang="zh-CN" sz="3000" dirty="0"/>
              <a:t>  </a:t>
            </a:r>
            <a:r>
              <a:rPr lang="zh-CN" altLang="en-US" sz="3000" dirty="0"/>
              <a:t>著名的通讯社</a:t>
            </a:r>
            <a:r>
              <a:rPr lang="en-US" altLang="zh-CN" sz="3000" dirty="0"/>
              <a:t>:</a:t>
            </a:r>
            <a:endParaRPr lang="zh-CN" altLang="en-US" sz="3000" dirty="0"/>
          </a:p>
          <a:p>
            <a:pPr>
              <a:lnSpc>
                <a:spcPct val="90000"/>
              </a:lnSpc>
              <a:buFont typeface="Wingdings" panose="05000000000000000000" charset="0"/>
              <a:buChar char=""/>
            </a:pPr>
            <a:r>
              <a:rPr lang="zh-CN" altLang="en-US" sz="3000" dirty="0"/>
              <a:t> </a:t>
            </a:r>
            <a:r>
              <a:rPr lang="zh-CN" altLang="en-US" sz="2400" dirty="0"/>
              <a:t>美国的美联社</a:t>
            </a:r>
            <a:r>
              <a:rPr lang="en-US" altLang="zh-CN" sz="2400" dirty="0"/>
              <a:t>(Associated Press</a:t>
            </a:r>
            <a:r>
              <a:rPr lang="zh-CN" altLang="en-US" sz="2400" dirty="0"/>
              <a:t>，</a:t>
            </a:r>
            <a:r>
              <a:rPr lang="en-US" altLang="zh-CN" sz="2400" dirty="0"/>
              <a:t>AP)</a:t>
            </a:r>
            <a:endParaRPr lang="en-US" altLang="zh-CN" sz="2400" dirty="0"/>
          </a:p>
          <a:p>
            <a:pPr>
              <a:lnSpc>
                <a:spcPct val="90000"/>
              </a:lnSpc>
              <a:buFont typeface="Wingdings" panose="05000000000000000000" charset="0"/>
              <a:buChar char=""/>
            </a:pPr>
            <a:r>
              <a:rPr lang="zh-CN" altLang="en-US" sz="2400" dirty="0"/>
              <a:t>合众国际社（United Press International</a:t>
            </a:r>
            <a:r>
              <a:rPr lang="en-US" altLang="zh-CN" sz="2400" dirty="0"/>
              <a:t>, </a:t>
            </a:r>
            <a:r>
              <a:rPr lang="zh-CN" altLang="en-US" sz="2400" dirty="0">
                <a:sym typeface="+mn-ea"/>
              </a:rPr>
              <a:t>UPI</a:t>
            </a:r>
            <a:r>
              <a:rPr lang="zh-CN" altLang="en-US" sz="2400" dirty="0"/>
              <a:t>）</a:t>
            </a:r>
            <a:endParaRPr lang="zh-CN" altLang="en-US" sz="2400" dirty="0"/>
          </a:p>
          <a:p>
            <a:pPr>
              <a:lnSpc>
                <a:spcPct val="90000"/>
              </a:lnSpc>
              <a:buFont typeface="Wingdings" panose="05000000000000000000" charset="0"/>
              <a:buChar char=""/>
            </a:pPr>
            <a:r>
              <a:rPr lang="zh-CN" altLang="en-US" sz="2400" dirty="0"/>
              <a:t>法新社（Agence France-Press</a:t>
            </a:r>
            <a:r>
              <a:rPr lang="en-US" altLang="zh-CN" sz="2400" dirty="0"/>
              <a:t>, </a:t>
            </a:r>
            <a:r>
              <a:rPr lang="zh-CN" altLang="en-US" sz="2400" dirty="0">
                <a:sym typeface="+mn-ea"/>
              </a:rPr>
              <a:t>AFP</a:t>
            </a:r>
            <a:r>
              <a:rPr lang="zh-CN" altLang="en-US" sz="2400" dirty="0"/>
              <a:t>）</a:t>
            </a:r>
            <a:endParaRPr lang="zh-CN" altLang="en-US" sz="2400" dirty="0"/>
          </a:p>
          <a:p>
            <a:pPr>
              <a:lnSpc>
                <a:spcPct val="90000"/>
              </a:lnSpc>
              <a:buFont typeface="Wingdings" panose="05000000000000000000" charset="0"/>
              <a:buChar char=""/>
            </a:pPr>
            <a:r>
              <a:rPr lang="zh-CN" altLang="en-US" sz="2400" dirty="0"/>
              <a:t>英国的路透社</a:t>
            </a:r>
            <a:r>
              <a:rPr lang="en-US" altLang="zh-CN" sz="2400" dirty="0"/>
              <a:t>(Reuter’S News Agency, Reuters)</a:t>
            </a:r>
            <a:endParaRPr lang="en-US" altLang="zh-CN" sz="2400" dirty="0"/>
          </a:p>
          <a:p>
            <a:pPr>
              <a:lnSpc>
                <a:spcPct val="90000"/>
              </a:lnSpc>
              <a:buFont typeface="Wingdings" panose="05000000000000000000" charset="0"/>
              <a:buChar char=""/>
            </a:pPr>
            <a:r>
              <a:rPr lang="en-US" altLang="zh-CN" sz="2400" dirty="0"/>
              <a:t>TASS塔斯社（Telegrafnoie Agensto Sovietskavo Soyuza）</a:t>
            </a:r>
            <a:endParaRPr lang="en-US" altLang="zh-CN" sz="2400" dirty="0"/>
          </a:p>
          <a:p>
            <a:pPr>
              <a:lnSpc>
                <a:spcPct val="90000"/>
              </a:lnSpc>
              <a:buFont typeface="Wingdings" panose="05000000000000000000" charset="0"/>
              <a:buChar char=""/>
            </a:pPr>
            <a:r>
              <a:rPr lang="en-US" altLang="zh-CN" sz="2400" dirty="0"/>
              <a:t>新华社（Xinhua News Agency）</a:t>
            </a:r>
            <a:endParaRPr lang="en-US" altLang="zh-C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Rectangle 3"/>
          <p:cNvSpPr>
            <a:spLocks noGrp="1" noChangeArrowheads="1"/>
          </p:cNvSpPr>
          <p:nvPr>
            <p:ph idx="1"/>
          </p:nvPr>
        </p:nvSpPr>
        <p:spPr>
          <a:xfrm>
            <a:off x="1919288" y="1125538"/>
            <a:ext cx="8353425" cy="5183188"/>
          </a:xfrm>
        </p:spPr>
        <p:txBody>
          <a:bodyPr vert="horz" wrap="square" lIns="91440" tIns="45720" rIns="91440" bIns="45720" numCol="1" anchor="t" anchorCtr="0" compatLnSpc="1">
            <a:normAutofit lnSpcReduction="20000"/>
          </a:bodyPr>
          <a:lstStyle/>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zh-CN"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algn="l" defTabSz="914400" rtl="0" eaLnBrk="0" fontAlgn="base" latinLnBrk="0" hangingPunct="0">
              <a:lnSpc>
                <a:spcPct val="80000"/>
              </a:lnSpc>
              <a:spcBef>
                <a:spcPct val="20000"/>
              </a:spcBef>
              <a:buClrTx/>
              <a:buSzTx/>
              <a:buFontTx/>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1. Concise and specific</a:t>
            </a:r>
            <a:r>
              <a:rPr lang="en-US" altLang="zh-CN" sz="2400" dirty="0">
                <a:sym typeface="+mn-ea"/>
              </a:rPr>
              <a:t>: </a:t>
            </a:r>
            <a:endParaRPr kumimoji="0" lang="en-US" altLang="zh-CN" sz="2400" b="0" i="0" u="none" strike="noStrike" kern="1200" cap="none" spc="0" normalizeH="0" baseline="0" noProof="0" dirty="0">
              <a:ln>
                <a:noFill/>
              </a:ln>
              <a:solidFill>
                <a:schemeClr val="accent2"/>
              </a:solidFill>
              <a:effectLst/>
              <a:uLnTx/>
              <a:uFillTx/>
              <a:latin typeface="+mn-lt"/>
              <a:ea typeface="+mn-ea"/>
              <a:cs typeface="+mn-cs"/>
            </a:endParaRPr>
          </a:p>
          <a:p>
            <a:pPr marL="0" marR="0" lvl="0" indent="0" algn="l" defTabSz="914400" rtl="0" latinLnBrk="0">
              <a:lnSpc>
                <a:spcPts val="408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1) adj. and adv. as less as possible</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latinLnBrk="0">
              <a:lnSpc>
                <a:spcPts val="408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Brutal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murder</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angry</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mob</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(final)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outcome</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as a (general)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rule</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visible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(to the eye),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consensus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(of opinion), (totally)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destroyed</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(controversial)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issue</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latinLnBrk="0">
              <a:lnSpc>
                <a:spcPts val="4080"/>
              </a:lnSpc>
              <a:spcBef>
                <a:spcPts val="0"/>
              </a:spcBef>
              <a:spcAft>
                <a:spcPct val="0"/>
              </a:spcAft>
              <a:buClrTx/>
              <a:buSzTx/>
              <a:buFontTx/>
              <a:buChar char="•"/>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Note: remove the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unnecessary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words</a:t>
            </a:r>
            <a:endParaRPr kumimoji="0" lang="en-US" altLang="zh-CN" sz="2400" b="0" i="0" u="none"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latinLnBrk="0">
              <a:lnSpc>
                <a:spcPts val="4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2) Use simple and popular words for easy understanding</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latinLnBrk="0">
              <a:lnSpc>
                <a:spcPts val="4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star</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vs silver sphere,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heaven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vs firmament (苍天）,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joyful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vs blithe,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show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vs demonstrate, </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fear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vs apprehension</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21506" name="Rectangle 2"/>
          <p:cNvSpPr>
            <a:spLocks noGrp="1"/>
          </p:cNvSpPr>
          <p:nvPr>
            <p:ph type="title"/>
          </p:nvPr>
        </p:nvSpPr>
        <p:spPr/>
        <p:txBody>
          <a:bodyPr vert="horz" wrap="square" lIns="91440" tIns="45720" rIns="91440" bIns="45720" anchor="ctr" anchorCtr="0"/>
          <a:p>
            <a:r>
              <a:rPr lang="en-US" altLang="zh-CN" sz="3600" dirty="0"/>
              <a:t>Lexical features</a:t>
            </a:r>
            <a:endParaRPr lang="zh-CN" altLang="zh-CN"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1">
                                            <p:txEl>
                                              <p:charRg st="0" end="2"/>
                                            </p:txEl>
                                          </p:spTgt>
                                        </p:tgtEl>
                                        <p:attrNameLst>
                                          <p:attrName>style.visibility</p:attrName>
                                        </p:attrNameLst>
                                      </p:cBhvr>
                                      <p:to>
                                        <p:strVal val="visible"/>
                                      </p:to>
                                    </p:set>
                                    <p:anim calcmode="lin" valueType="num">
                                      <p:cBhvr additive="base">
                                        <p:cTn id="7" dur="500" fill="hold"/>
                                        <p:tgtEl>
                                          <p:spTgt spid="12291">
                                            <p:txEl>
                                              <p:charRg st="0"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1">
                                            <p:txEl>
                                              <p:charRg st="0"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1">
                                            <p:txEl>
                                              <p:charRg st="2" end="26"/>
                                            </p:txEl>
                                          </p:spTgt>
                                        </p:tgtEl>
                                        <p:attrNameLst>
                                          <p:attrName>style.visibility</p:attrName>
                                        </p:attrNameLst>
                                      </p:cBhvr>
                                      <p:to>
                                        <p:strVal val="visible"/>
                                      </p:to>
                                    </p:set>
                                    <p:anim calcmode="lin" valueType="num">
                                      <p:cBhvr additive="base">
                                        <p:cTn id="13" dur="500" fill="hold"/>
                                        <p:tgtEl>
                                          <p:spTgt spid="12291">
                                            <p:txEl>
                                              <p:charRg st="2" end="2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1">
                                            <p:txEl>
                                              <p:charRg st="2" end="2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291">
                                            <p:txEl>
                                              <p:charRg st="26" end="60"/>
                                            </p:txEl>
                                          </p:spTgt>
                                        </p:tgtEl>
                                        <p:attrNameLst>
                                          <p:attrName>style.visibility</p:attrName>
                                        </p:attrNameLst>
                                      </p:cBhvr>
                                      <p:to>
                                        <p:strVal val="visible"/>
                                      </p:to>
                                    </p:set>
                                    <p:anim calcmode="lin" valueType="num">
                                      <p:cBhvr additive="base">
                                        <p:cTn id="19" dur="500" fill="hold"/>
                                        <p:tgtEl>
                                          <p:spTgt spid="12291">
                                            <p:txEl>
                                              <p:charRg st="26" end="6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91">
                                            <p:txEl>
                                              <p:charRg st="26" end="6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291">
                                            <p:txEl>
                                              <p:charRg st="60" end="218"/>
                                            </p:txEl>
                                          </p:spTgt>
                                        </p:tgtEl>
                                        <p:attrNameLst>
                                          <p:attrName>style.visibility</p:attrName>
                                        </p:attrNameLst>
                                      </p:cBhvr>
                                      <p:to>
                                        <p:strVal val="visible"/>
                                      </p:to>
                                    </p:set>
                                    <p:anim calcmode="lin" valueType="num">
                                      <p:cBhvr additive="base">
                                        <p:cTn id="25" dur="500" fill="hold"/>
                                        <p:tgtEl>
                                          <p:spTgt spid="12291">
                                            <p:txEl>
                                              <p:charRg st="60" end="21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291">
                                            <p:txEl>
                                              <p:charRg st="60" end="21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291">
                                            <p:txEl>
                                              <p:charRg st="218" end="253"/>
                                            </p:txEl>
                                          </p:spTgt>
                                        </p:tgtEl>
                                        <p:attrNameLst>
                                          <p:attrName>style.visibility</p:attrName>
                                        </p:attrNameLst>
                                      </p:cBhvr>
                                      <p:to>
                                        <p:strVal val="visible"/>
                                      </p:to>
                                    </p:set>
                                    <p:anim calcmode="lin" valueType="num">
                                      <p:cBhvr additive="base">
                                        <p:cTn id="31" dur="500" fill="hold"/>
                                        <p:tgtEl>
                                          <p:spTgt spid="12291">
                                            <p:txEl>
                                              <p:charRg st="218" end="25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291">
                                            <p:txEl>
                                              <p:charRg st="218" end="25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291">
                                            <p:txEl>
                                              <p:charRg st="254" end="306"/>
                                            </p:txEl>
                                          </p:spTgt>
                                        </p:tgtEl>
                                        <p:attrNameLst>
                                          <p:attrName>style.visibility</p:attrName>
                                        </p:attrNameLst>
                                      </p:cBhvr>
                                      <p:to>
                                        <p:strVal val="visible"/>
                                      </p:to>
                                    </p:set>
                                    <p:anim calcmode="lin" valueType="num">
                                      <p:cBhvr additive="base">
                                        <p:cTn id="37" dur="500" fill="hold"/>
                                        <p:tgtEl>
                                          <p:spTgt spid="12291">
                                            <p:txEl>
                                              <p:charRg st="254" end="30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291">
                                            <p:txEl>
                                              <p:charRg st="254" end="30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2291">
                                            <p:txEl>
                                              <p:charRg st="306" end="415"/>
                                            </p:txEl>
                                          </p:spTgt>
                                        </p:tgtEl>
                                        <p:attrNameLst>
                                          <p:attrName>style.visibility</p:attrName>
                                        </p:attrNameLst>
                                      </p:cBhvr>
                                      <p:to>
                                        <p:strVal val="visible"/>
                                      </p:to>
                                    </p:set>
                                    <p:anim calcmode="lin" valueType="num">
                                      <p:cBhvr additive="base">
                                        <p:cTn id="43" dur="500" fill="hold"/>
                                        <p:tgtEl>
                                          <p:spTgt spid="12291">
                                            <p:txEl>
                                              <p:charRg st="306" end="4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291">
                                            <p:txEl>
                                              <p:charRg st="306" end="4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1"/>
          <p:cNvSpPr>
            <a:spLocks noGrp="1"/>
          </p:cNvSpPr>
          <p:nvPr>
            <p:ph type="title"/>
          </p:nvPr>
        </p:nvSpPr>
        <p:spPr>
          <a:xfrm>
            <a:off x="2024063" y="0"/>
            <a:ext cx="8229600" cy="1143000"/>
          </a:xfrm>
        </p:spPr>
        <p:txBody>
          <a:bodyPr vert="horz" wrap="square" lIns="91440" tIns="45720" rIns="91440" bIns="45720" anchor="ctr" anchorCtr="0"/>
          <a:p>
            <a:pPr eaLnBrk="1" hangingPunct="1"/>
            <a:r>
              <a:rPr lang="en-US" altLang="zh-CN" sz="3200" dirty="0"/>
              <a:t>Lexical Features</a:t>
            </a:r>
            <a:endParaRPr lang="en-US" altLang="zh-CN" sz="3200" dirty="0"/>
          </a:p>
        </p:txBody>
      </p:sp>
      <p:sp>
        <p:nvSpPr>
          <p:cNvPr id="38914" name="内容占位符 2"/>
          <p:cNvSpPr>
            <a:spLocks noGrp="1"/>
          </p:cNvSpPr>
          <p:nvPr>
            <p:ph idx="1"/>
          </p:nvPr>
        </p:nvSpPr>
        <p:spPr>
          <a:xfrm>
            <a:off x="2095500" y="1214438"/>
            <a:ext cx="8358188" cy="5000625"/>
          </a:xfrm>
        </p:spPr>
        <p:txBody>
          <a:bodyPr vert="horz" wrap="square" lIns="91440" tIns="45720" rIns="91440" bIns="45720" anchor="t" anchorCtr="0"/>
          <a:p>
            <a:pPr eaLnBrk="1" hangingPunct="1">
              <a:buNone/>
            </a:pPr>
            <a:r>
              <a:rPr lang="en-US" altLang="zh-CN" dirty="0"/>
              <a:t>3) Preference for short words to save space and avoid being wordy</a:t>
            </a:r>
            <a:endParaRPr lang="en-US" altLang="zh-CN" dirty="0"/>
          </a:p>
          <a:p>
            <a:pPr eaLnBrk="1" hangingPunct="1">
              <a:buNone/>
            </a:pPr>
            <a:endParaRPr lang="en-US" altLang="zh-CN" dirty="0"/>
          </a:p>
          <a:p>
            <a:pPr eaLnBrk="1" hangingPunct="1">
              <a:buNone/>
            </a:pPr>
            <a:r>
              <a:rPr lang="en-US" altLang="zh-CN" dirty="0"/>
              <a:t>  Allowance to Be </a:t>
            </a:r>
            <a:r>
              <a:rPr lang="en-US" altLang="zh-CN" b="1" dirty="0">
                <a:solidFill>
                  <a:srgbClr val="FF0000"/>
                </a:solidFill>
              </a:rPr>
              <a:t>Cut</a:t>
            </a:r>
            <a:r>
              <a:rPr lang="en-US" altLang="zh-CN" dirty="0">
                <a:solidFill>
                  <a:srgbClr val="FF0000"/>
                </a:solidFill>
              </a:rPr>
              <a:t> </a:t>
            </a:r>
            <a:r>
              <a:rPr lang="en-US" altLang="zh-CN" dirty="0"/>
              <a:t>in 200,000 Families</a:t>
            </a:r>
            <a:endParaRPr lang="en-US" altLang="zh-CN" dirty="0"/>
          </a:p>
          <a:p>
            <a:pPr eaLnBrk="1" hangingPunct="1">
              <a:buNone/>
            </a:pPr>
            <a:r>
              <a:rPr lang="zh-CN" altLang="en-US" dirty="0"/>
              <a:t>政府削减津贴，波及廿万家庭</a:t>
            </a:r>
            <a:endParaRPr lang="en-US" altLang="zh-CN" dirty="0"/>
          </a:p>
          <a:p>
            <a:pPr eaLnBrk="1" hangingPunct="1">
              <a:buNone/>
            </a:pPr>
            <a:r>
              <a:rPr lang="en-US" altLang="zh-CN" dirty="0"/>
              <a:t>  Reshuffle </a:t>
            </a:r>
            <a:r>
              <a:rPr lang="en-US" altLang="zh-CN" b="1" dirty="0">
                <a:solidFill>
                  <a:srgbClr val="FF0000"/>
                </a:solidFill>
              </a:rPr>
              <a:t>Axe</a:t>
            </a:r>
            <a:r>
              <a:rPr lang="en-US" altLang="zh-CN" dirty="0">
                <a:solidFill>
                  <a:srgbClr val="FF0000"/>
                </a:solidFill>
              </a:rPr>
              <a:t>s </a:t>
            </a:r>
            <a:r>
              <a:rPr lang="en-US" altLang="zh-CN" dirty="0"/>
              <a:t>France‘s’ Cabinet</a:t>
            </a:r>
            <a:endParaRPr lang="en-US" altLang="zh-CN" dirty="0"/>
          </a:p>
          <a:p>
            <a:pPr eaLnBrk="1" hangingPunct="1">
              <a:buNone/>
            </a:pPr>
            <a:r>
              <a:rPr lang="zh-CN" altLang="en-US" dirty="0"/>
              <a:t>法国政府改组，阁员人数锐减</a:t>
            </a:r>
            <a:endParaRPr lang="en-US" altLang="zh-CN" dirty="0"/>
          </a:p>
          <a:p>
            <a:pPr eaLnBrk="1" hangingPunct="1">
              <a:buNone/>
            </a:pPr>
            <a:r>
              <a:rPr lang="en-US" altLang="zh-CN" dirty="0"/>
              <a:t>  Ethiopia </a:t>
            </a:r>
            <a:r>
              <a:rPr lang="en-US" altLang="zh-CN" b="1" dirty="0">
                <a:solidFill>
                  <a:srgbClr val="FF0000"/>
                </a:solidFill>
              </a:rPr>
              <a:t>Jail</a:t>
            </a:r>
            <a:r>
              <a:rPr lang="en-US" altLang="zh-CN" dirty="0">
                <a:solidFill>
                  <a:srgbClr val="FF0000"/>
                </a:solidFill>
              </a:rPr>
              <a:t>s </a:t>
            </a:r>
            <a:r>
              <a:rPr lang="en-US" altLang="zh-CN" dirty="0"/>
              <a:t>Jews Escaping to Israel</a:t>
            </a:r>
            <a:br>
              <a:rPr lang="en-US" altLang="zh-CN" dirty="0"/>
            </a:br>
            <a:r>
              <a:rPr lang="zh-CN" altLang="en-US" dirty="0"/>
              <a:t>逃离埃塞俄比亚未果，犹太人身陷囹圄</a:t>
            </a:r>
            <a:endParaRPr lang="en-US" altLang="zh-CN" dirty="0"/>
          </a:p>
          <a:p>
            <a:pPr eaLnBrk="1" hangingPunct="1">
              <a:buNone/>
            </a:pPr>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1"/>
          <p:cNvSpPr>
            <a:spLocks noGrp="1"/>
          </p:cNvSpPr>
          <p:nvPr>
            <p:ph type="title"/>
          </p:nvPr>
        </p:nvSpPr>
        <p:spPr>
          <a:xfrm>
            <a:off x="2024063" y="0"/>
            <a:ext cx="8229600" cy="1143000"/>
          </a:xfrm>
        </p:spPr>
        <p:txBody>
          <a:bodyPr vert="horz" wrap="square" lIns="91440" tIns="45720" rIns="91440" bIns="45720" anchor="ctr" anchorCtr="0"/>
          <a:p>
            <a:pPr eaLnBrk="1" hangingPunct="1"/>
            <a:r>
              <a:rPr lang="en-US" altLang="zh-CN" sz="3200" dirty="0"/>
              <a:t>Lexical Features</a:t>
            </a:r>
            <a:endParaRPr lang="en-US" altLang="zh-CN" sz="3200" dirty="0"/>
          </a:p>
        </p:txBody>
      </p:sp>
      <p:sp>
        <p:nvSpPr>
          <p:cNvPr id="40962" name="内容占位符 2"/>
          <p:cNvSpPr>
            <a:spLocks noGrp="1"/>
          </p:cNvSpPr>
          <p:nvPr>
            <p:ph idx="1"/>
          </p:nvPr>
        </p:nvSpPr>
        <p:spPr>
          <a:xfrm>
            <a:off x="2166938" y="1071563"/>
            <a:ext cx="8501062" cy="5286375"/>
          </a:xfrm>
        </p:spPr>
        <p:txBody>
          <a:bodyPr vert="horz" wrap="square" lIns="91440" tIns="45720" rIns="91440" bIns="45720" anchor="t" anchorCtr="0"/>
          <a:p>
            <a:pPr eaLnBrk="1" hangingPunct="1">
              <a:buNone/>
            </a:pPr>
            <a:r>
              <a:rPr lang="en-US" altLang="zh-CN" dirty="0"/>
              <a:t>2.Wide use of shortenings </a:t>
            </a:r>
            <a:endParaRPr lang="en-US" altLang="zh-CN" dirty="0"/>
          </a:p>
          <a:p>
            <a:pPr eaLnBrk="1" hangingPunct="1">
              <a:buNone/>
            </a:pPr>
            <a:r>
              <a:rPr lang="en-US" altLang="zh-CN" dirty="0"/>
              <a:t>   (acronyms, abbreviations, clippings)</a:t>
            </a:r>
            <a:endParaRPr lang="en-US" altLang="zh-CN" dirty="0"/>
          </a:p>
          <a:p>
            <a:pPr eaLnBrk="1" hangingPunct="1">
              <a:buNone/>
            </a:pPr>
            <a:r>
              <a:rPr lang="en-US" altLang="zh-CN" i="1" dirty="0"/>
              <a:t>   Americans cash in on £3</a:t>
            </a:r>
            <a:r>
              <a:rPr lang="en-US" altLang="zh-CN" i="1" dirty="0">
                <a:solidFill>
                  <a:srgbClr val="FF0000"/>
                </a:solidFill>
              </a:rPr>
              <a:t>bn</a:t>
            </a:r>
            <a:r>
              <a:rPr lang="en-US" altLang="zh-CN" i="1" dirty="0"/>
              <a:t> City office deal   </a:t>
            </a:r>
            <a:r>
              <a:rPr lang="en-US" altLang="zh-CN" dirty="0"/>
              <a:t>               </a:t>
            </a:r>
            <a:endParaRPr lang="en-US" altLang="zh-CN" dirty="0"/>
          </a:p>
          <a:p>
            <a:pPr eaLnBrk="1" hangingPunct="1">
              <a:buNone/>
            </a:pPr>
            <a:r>
              <a:rPr lang="en-US" altLang="zh-CN" dirty="0"/>
              <a:t>      (bn refers to billion) </a:t>
            </a:r>
            <a:endParaRPr lang="en-US" altLang="zh-CN" dirty="0"/>
          </a:p>
          <a:p>
            <a:pPr eaLnBrk="1" hangingPunct="1">
              <a:buNone/>
            </a:pPr>
            <a:r>
              <a:rPr lang="en-US" altLang="zh-CN" i="1" dirty="0"/>
              <a:t>  </a:t>
            </a:r>
            <a:r>
              <a:rPr lang="en-US" altLang="zh-CN" i="1" dirty="0">
                <a:solidFill>
                  <a:srgbClr val="FF0000"/>
                </a:solidFill>
              </a:rPr>
              <a:t>Fed </a:t>
            </a:r>
            <a:r>
              <a:rPr lang="en-US" altLang="zh-CN" i="1" dirty="0"/>
              <a:t>waits for job market to perk up</a:t>
            </a:r>
            <a:endParaRPr lang="en-US" altLang="zh-CN" i="1" dirty="0"/>
          </a:p>
          <a:p>
            <a:pPr eaLnBrk="1" hangingPunct="1">
              <a:buNone/>
            </a:pPr>
            <a:r>
              <a:rPr lang="en-US" altLang="zh-CN" dirty="0"/>
              <a:t>     (Fed = Federal Reserve)</a:t>
            </a:r>
            <a:endParaRPr lang="en-US" altLang="zh-CN" dirty="0"/>
          </a:p>
          <a:p>
            <a:pPr eaLnBrk="1" hangingPunct="1">
              <a:buNone/>
            </a:pPr>
            <a:r>
              <a:rPr lang="en-US" altLang="zh-CN" dirty="0"/>
              <a:t>  </a:t>
            </a:r>
            <a:r>
              <a:rPr lang="en-US" altLang="zh-CN" dirty="0">
                <a:solidFill>
                  <a:srgbClr val="FF0000"/>
                </a:solidFill>
              </a:rPr>
              <a:t>NPC </a:t>
            </a:r>
            <a:r>
              <a:rPr lang="en-US" altLang="zh-CN" dirty="0"/>
              <a:t>Drafts New Law to Stem Corruption</a:t>
            </a:r>
            <a:br>
              <a:rPr lang="en-US" altLang="zh-CN" dirty="0"/>
            </a:br>
            <a:r>
              <a:rPr lang="en-US" altLang="zh-CN" dirty="0"/>
              <a:t>NPC = National People's Congress</a:t>
            </a:r>
            <a:endParaRPr lang="en-US" altLang="zh-CN" dirty="0"/>
          </a:p>
          <a:p>
            <a:pPr eaLnBrk="1" hangingPunct="1">
              <a:buNone/>
            </a:pPr>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p:nvPr>
        </p:nvSpPr>
        <p:spPr>
          <a:xfrm>
            <a:off x="1981200" y="45720"/>
            <a:ext cx="8229600" cy="984885"/>
          </a:xfrm>
        </p:spPr>
        <p:txBody>
          <a:bodyPr vert="horz" wrap="square" lIns="91440" tIns="45720" rIns="91440" bIns="45720" anchor="ctr" anchorCtr="0"/>
          <a:p>
            <a:r>
              <a:rPr lang="en-US" altLang="zh-CN" sz="3600" dirty="0"/>
              <a:t>Lexical features</a:t>
            </a:r>
            <a:endParaRPr lang="zh-CN" altLang="zh-CN" sz="3600" dirty="0"/>
          </a:p>
        </p:txBody>
      </p:sp>
      <p:sp>
        <p:nvSpPr>
          <p:cNvPr id="12291" name="Rectangle 3"/>
          <p:cNvSpPr>
            <a:spLocks noGrp="1" noChangeArrowheads="1"/>
          </p:cNvSpPr>
          <p:nvPr>
            <p:ph idx="1"/>
          </p:nvPr>
        </p:nvSpPr>
        <p:spPr>
          <a:xfrm>
            <a:off x="1559560" y="854075"/>
            <a:ext cx="9048750" cy="5426075"/>
          </a:xfrm>
        </p:spPr>
        <p:txBody>
          <a:bodyPr vert="horz" wrap="square" lIns="91440" tIns="45720" rIns="91440" bIns="45720" numCol="1" anchor="t" anchorCtr="0" compatLnSpc="1">
            <a:normAutofit lnSpcReduction="20000"/>
          </a:bodyPr>
          <a:lstStyle/>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latinLnBrk="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3. Borrowing the names of people or objects</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Metonymy</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latinLnBrk="0">
              <a:lnSpc>
                <a:spcPct val="150000"/>
              </a:lnSpc>
              <a:spcBef>
                <a:spcPts val="0"/>
              </a:spcBef>
              <a:spcAft>
                <a:spcPct val="0"/>
              </a:spcAft>
              <a:buClrTx/>
              <a:buSzTx/>
              <a:buFontTx/>
              <a:buChar char="•"/>
              <a:defRPr/>
            </a:pPr>
            <a:r>
              <a:rPr kumimoji="0" lang="en-US" altLang="zh-CN" sz="2400" b="1" u="none" strike="noStrike" kern="1200" cap="none" spc="0" normalizeH="0" baseline="0" noProof="0" dirty="0">
                <a:ln>
                  <a:noFill/>
                </a:ln>
                <a:solidFill>
                  <a:schemeClr val="tx1"/>
                </a:solidFill>
                <a:effectLst/>
                <a:uLnTx/>
                <a:uFillTx/>
                <a:latin typeface="Arial Bold" panose="020B0604020202090204" charset="0"/>
                <a:ea typeface="+mn-ea"/>
                <a:cs typeface="Arial Bold" panose="020B0604020202090204" charset="0"/>
              </a:rPr>
              <a:t>The name of the capital, famous building or the president can be a metonmy for a country or government.</a:t>
            </a:r>
            <a:endParaRPr kumimoji="0" lang="en-US" altLang="zh-CN" sz="2400" b="1" u="none" strike="noStrike" kern="1200" cap="none" spc="0" normalizeH="0" baseline="0" noProof="0" dirty="0">
              <a:ln>
                <a:noFill/>
              </a:ln>
              <a:solidFill>
                <a:schemeClr val="tx1"/>
              </a:solidFill>
              <a:effectLst/>
              <a:uLnTx/>
              <a:uFillTx/>
              <a:latin typeface="Arial Bold" panose="020B0604020202090204" charset="0"/>
              <a:ea typeface="+mn-ea"/>
              <a:cs typeface="Arial Bold" panose="020B0604020202090204" charset="0"/>
            </a:endParaRPr>
          </a:p>
          <a:p>
            <a:pPr marL="342900" marR="0" lvl="0" indent="-342900" algn="l" defTabSz="914400" rtl="0" latinLnBrk="0">
              <a:lnSpc>
                <a:spcPct val="150000"/>
              </a:lnSpc>
              <a:spcBef>
                <a:spcPts val="0"/>
              </a:spcBef>
              <a:spcAft>
                <a:spcPct val="0"/>
              </a:spcAft>
              <a:buClrTx/>
              <a:buSzTx/>
              <a:buFontTx/>
              <a:buChar char="•"/>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Eg. </a:t>
            </a:r>
            <a:r>
              <a:rPr kumimoji="0" lang="en-US" altLang="zh-CN" sz="2400" b="0" i="1" u="sng" strike="noStrike" kern="1200" cap="none" spc="0" normalizeH="0" baseline="0" noProof="0" dirty="0">
                <a:ln>
                  <a:noFill/>
                </a:ln>
                <a:solidFill>
                  <a:srgbClr val="FF0000"/>
                </a:solidFill>
                <a:effectLst/>
                <a:uLnTx/>
                <a:uFillTx/>
                <a:latin typeface="Arial Italic" panose="020B0604020202090204" charset="0"/>
                <a:ea typeface="+mn-ea"/>
                <a:cs typeface="Arial Italic" panose="020B0604020202090204" charset="0"/>
              </a:rPr>
              <a:t>The Kremin</a:t>
            </a: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 declined to make any comment as Norway was expelling eight Russion diplomats for activites imcompatible with their status - the usual term for spying.</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(The Russian Government)</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latinLnBrk="0">
              <a:lnSpc>
                <a:spcPct val="150000"/>
              </a:lnSpc>
              <a:spcBef>
                <a:spcPts val="0"/>
              </a:spcBef>
              <a:spcAft>
                <a:spcPct val="0"/>
              </a:spcAft>
              <a:buClrTx/>
              <a:buSzTx/>
              <a:buFontTx/>
              <a:buChar char="•"/>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Crown, Moscow, Hollywood, 10 Downing Street, Wall Street, Greenbacks, Cpaitol Hill, Tehran, Beijing, Obama's administration</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2291">
                                            <p:txEl>
                                              <p:charRg st="149" end="340"/>
                                            </p:txEl>
                                          </p:spTgt>
                                        </p:tgtEl>
                                        <p:attrNameLst>
                                          <p:attrName>style.visibility</p:attrName>
                                        </p:attrNameLst>
                                      </p:cBhvr>
                                      <p:to>
                                        <p:strVal val="visible"/>
                                      </p:to>
                                    </p:set>
                                    <p:animEffect transition="in" filter="diamond(in)">
                                      <p:cBhvr>
                                        <p:cTn id="7" dur="2000"/>
                                        <p:tgtEl>
                                          <p:spTgt spid="12291">
                                            <p:txEl>
                                              <p:charRg st="149" end="34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title"/>
          </p:nvPr>
        </p:nvSpPr>
        <p:spPr/>
        <p:txBody>
          <a:bodyPr vert="horz" wrap="square" lIns="91440" tIns="45720" rIns="91440" bIns="45720" anchor="ctr" anchorCtr="0"/>
          <a:p>
            <a:r>
              <a:rPr lang="en-US" altLang="zh-CN" sz="3600" dirty="0"/>
              <a:t>Lexical features</a:t>
            </a:r>
            <a:endParaRPr lang="zh-CN" altLang="zh-CN" sz="3600" dirty="0"/>
          </a:p>
        </p:txBody>
      </p:sp>
      <p:sp>
        <p:nvSpPr>
          <p:cNvPr id="12291" name="Rectangle 3"/>
          <p:cNvSpPr>
            <a:spLocks noGrp="1" noChangeArrowheads="1"/>
          </p:cNvSpPr>
          <p:nvPr>
            <p:ph idx="1"/>
          </p:nvPr>
        </p:nvSpPr>
        <p:spPr>
          <a:xfrm>
            <a:off x="1787525" y="1125538"/>
            <a:ext cx="8485188" cy="5614988"/>
          </a:xfrm>
        </p:spPr>
        <p:txBody>
          <a:bodyPr vert="horz" wrap="square" lIns="91440" tIns="45720" rIns="91440" bIns="45720" numCol="1" anchor="t" anchorCtr="0" compatLnSpc="1">
            <a:normAutofit lnSpcReduction="10000"/>
          </a:bodyPr>
          <a:lstStyle/>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4.  New words </a:t>
            </a:r>
            <a:endParaRPr kumimoji="0" lang="en-US" altLang="zh-CN" sz="2400" b="0" i="0" u="none" strike="noStrike" kern="120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Walkman (personal stereo)- Discman</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Blogger, e-money, cybercrime, cyberslacker, podcasting, WAG, wiki, Vlog, spillcam, flashmob</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algn="l" defTabSz="914400" rtl="0" eaLnBrk="0" fontAlgn="base" latinLnBrk="0" hangingPunct="0">
              <a:lnSpc>
                <a:spcPct val="80000"/>
              </a:lnSpc>
              <a:spcBef>
                <a:spcPct val="20000"/>
              </a:spcBef>
              <a:buClrTx/>
              <a:buSzTx/>
              <a:buFontTx/>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5. Coined words or imitation words (生造词或仿词）</a:t>
            </a:r>
            <a:endParaRPr kumimoji="0" lang="en-US" altLang="zh-CN" sz="2400" b="0" i="0" u="none" strike="noStrike" kern="1200" cap="none" spc="0" normalizeH="0" baseline="0" noProof="0" dirty="0">
              <a:ln>
                <a:noFill/>
              </a:ln>
              <a:solidFill>
                <a:schemeClr val="accent2"/>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Economic crisis - </a:t>
            </a: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beef crisis, health crisis, North-south crisis, the Gulf crisis, </a:t>
            </a:r>
            <a:endPar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Alcohol - </a:t>
            </a: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alco</a:t>
            </a:r>
            <a:r>
              <a:rPr kumimoji="0" lang="en-US" altLang="zh-CN" sz="2400" b="0" i="1" u="sng"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holic</a:t>
            </a: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 beeroholic, colaholic, movieholic, shopaholic, teloholic, workholic</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generation gap  - </a:t>
            </a:r>
            <a:r>
              <a:rPr kumimoji="0" lang="en-US" altLang="zh-CN" sz="2400" b="0" i="1"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credibility gap, communication gap, development gap, digital gap, missile gap</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p:nvPr>
        </p:nvSpPr>
        <p:spPr/>
        <p:txBody>
          <a:bodyPr vert="horz" wrap="square" lIns="91440" tIns="45720" rIns="91440" bIns="45720" anchor="ctr" anchorCtr="0"/>
          <a:p>
            <a:r>
              <a:rPr lang="en-US" altLang="zh-CN" sz="3600" dirty="0"/>
              <a:t>Lexical features</a:t>
            </a:r>
            <a:endParaRPr lang="zh-CN" altLang="zh-CN" sz="3600" dirty="0"/>
          </a:p>
        </p:txBody>
      </p:sp>
      <p:sp>
        <p:nvSpPr>
          <p:cNvPr id="12291" name="Rectangle 3"/>
          <p:cNvSpPr>
            <a:spLocks noGrp="1" noChangeArrowheads="1"/>
          </p:cNvSpPr>
          <p:nvPr>
            <p:ph idx="1"/>
          </p:nvPr>
        </p:nvSpPr>
        <p:spPr>
          <a:xfrm>
            <a:off x="1787525" y="1125538"/>
            <a:ext cx="8485188" cy="5614988"/>
          </a:xfrm>
        </p:spPr>
        <p:txBody>
          <a:bodyPr vert="horz" wrap="square" lIns="91440" tIns="45720" rIns="91440" bIns="45720" numCol="1" anchor="t" anchorCtr="0" compatLnSpc="1"/>
          <a:lstStyle/>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5 Abbreviations and acronyms </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a. clipping</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r>
              <a:rPr kumimoji="0" lang="en-US" altLang="zh-CN" sz="2400" b="0" i="1" u="none" strike="noStrike" kern="1200" cap="none" spc="0" normalizeH="0" baseline="0" noProof="0" dirty="0">
                <a:ln>
                  <a:noFill/>
                </a:ln>
                <a:solidFill>
                  <a:schemeClr val="tx1"/>
                </a:solidFill>
                <a:effectLst/>
                <a:uLnTx/>
                <a:uFillTx/>
                <a:latin typeface="+mn-lt"/>
                <a:ea typeface="+mn-ea"/>
                <a:cs typeface="+mn-cs"/>
              </a:rPr>
              <a:t>celeb - celebrity, impro -improvisation (</a:t>
            </a:r>
            <a:r>
              <a:rPr kumimoji="0" lang="zh-CN" altLang="en-US" sz="2400" b="0" i="1" u="none" strike="noStrike" kern="1200" cap="none" spc="0" normalizeH="0" baseline="0" noProof="0" dirty="0">
                <a:ln>
                  <a:noFill/>
                </a:ln>
                <a:solidFill>
                  <a:schemeClr val="tx1"/>
                </a:solidFill>
                <a:effectLst/>
                <a:uLnTx/>
                <a:uFillTx/>
                <a:latin typeface="+mn-lt"/>
                <a:ea typeface="+mn-ea"/>
                <a:cs typeface="+mn-cs"/>
              </a:rPr>
              <a:t>即兴表演）</a:t>
            </a:r>
            <a:endParaRPr kumimoji="0" lang="zh-CN" altLang="en-US" sz="2400" b="0" i="1"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r>
              <a:rPr kumimoji="0" lang="en-US" altLang="zh-CN" sz="2400" b="0" i="1" u="none" strike="noStrike" kern="1200" cap="none" spc="0" normalizeH="0" baseline="0" noProof="0" dirty="0">
                <a:ln>
                  <a:noFill/>
                </a:ln>
                <a:solidFill>
                  <a:schemeClr val="tx1"/>
                </a:solidFill>
                <a:effectLst/>
                <a:uLnTx/>
                <a:uFillTx/>
                <a:latin typeface="+mn-lt"/>
                <a:ea typeface="+mn-ea"/>
                <a:cs typeface="+mn-cs"/>
              </a:rPr>
              <a:t>rep - representative</a:t>
            </a:r>
            <a:endParaRPr kumimoji="0" lang="en-US" altLang="zh-CN" sz="2400" b="0" i="1"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chutte  - parachutte, copter- helicopter</a:t>
            </a:r>
            <a:endPar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quake - earthquake</a:t>
            </a:r>
            <a:endPar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endPar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flu - influenze, fridge - refrigeator  vic -convict</a:t>
            </a:r>
            <a:endPar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endPar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C'tee - committee, c'wealth - commonwealth, com'l - commercial</a:t>
            </a:r>
            <a:endPar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endParaRPr>
          </a:p>
          <a:p>
            <a:pPr marR="0" lvl="0" algn="l" defTabSz="914400" rtl="0" eaLnBrk="0" fontAlgn="base" latinLnBrk="0" hangingPunct="0">
              <a:lnSpc>
                <a:spcPct val="80000"/>
              </a:lnSpc>
              <a:spcBef>
                <a:spcPct val="20000"/>
              </a:spcBef>
              <a:spcAft>
                <a:spcPct val="0"/>
              </a:spcAft>
              <a:buClrTx/>
              <a:buSzTx/>
              <a:buFontTx/>
              <a:buChar char="•"/>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p:txBody>
          <a:bodyPr vert="horz" wrap="square" lIns="91440" tIns="45720" rIns="91440" bIns="45720" anchor="ctr" anchorCtr="0"/>
          <a:p>
            <a:r>
              <a:rPr lang="en-US" altLang="zh-CN" sz="3600" dirty="0"/>
              <a:t>Lexical features</a:t>
            </a:r>
            <a:endParaRPr lang="zh-CN" altLang="zh-CN" sz="3600" dirty="0"/>
          </a:p>
        </p:txBody>
      </p:sp>
      <p:sp>
        <p:nvSpPr>
          <p:cNvPr id="12291" name="Rectangle 3"/>
          <p:cNvSpPr>
            <a:spLocks noGrp="1" noChangeArrowheads="1"/>
          </p:cNvSpPr>
          <p:nvPr>
            <p:ph idx="1"/>
          </p:nvPr>
        </p:nvSpPr>
        <p:spPr>
          <a:xfrm>
            <a:off x="1787525" y="1125538"/>
            <a:ext cx="8485188" cy="5614988"/>
          </a:xfrm>
        </p:spPr>
        <p:txBody>
          <a:bodyPr vert="horz" wrap="square" lIns="91440" tIns="45720" rIns="91440" bIns="45720" numCol="1" anchor="t" anchorCtr="0" compatLnSpc="1"/>
          <a:lstStyle/>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5 Abbreviations and acronyms </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b. blending</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en-US"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brunch, informercial, infoport, maglev train (magnetic levitation train) motel</a:t>
            </a:r>
            <a:endParaRPr kumimoji="0" lang="en-US"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c. acronym</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APEC - Asia Pacific Economic Cooperation</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DINK  - double income, no kids</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IELTS  - International English Language Testing System</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TOFEL - Test of English as a Foreign Language</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1">
                                            <p:txEl>
                                              <p:charRg st="1" end="31"/>
                                            </p:txEl>
                                          </p:spTgt>
                                        </p:tgtEl>
                                        <p:attrNameLst>
                                          <p:attrName>style.visibility</p:attrName>
                                        </p:attrNameLst>
                                      </p:cBhvr>
                                      <p:to>
                                        <p:strVal val="visible"/>
                                      </p:to>
                                    </p:set>
                                    <p:animEffect transition="in" filter="blinds(horizontal)">
                                      <p:cBhvr>
                                        <p:cTn id="7" dur="500"/>
                                        <p:tgtEl>
                                          <p:spTgt spid="12291">
                                            <p:txEl>
                                              <p:charRg st="1" end="3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91">
                                            <p:txEl>
                                              <p:charRg st="32" end="44"/>
                                            </p:txEl>
                                          </p:spTgt>
                                        </p:tgtEl>
                                        <p:attrNameLst>
                                          <p:attrName>style.visibility</p:attrName>
                                        </p:attrNameLst>
                                      </p:cBhvr>
                                      <p:to>
                                        <p:strVal val="visible"/>
                                      </p:to>
                                    </p:set>
                                    <p:animEffect transition="in" filter="blinds(horizontal)">
                                      <p:cBhvr>
                                        <p:cTn id="12" dur="500"/>
                                        <p:tgtEl>
                                          <p:spTgt spid="12291">
                                            <p:txEl>
                                              <p:charRg st="32" end="4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291">
                                            <p:txEl>
                                              <p:charRg st="45" end="124"/>
                                            </p:txEl>
                                          </p:spTgt>
                                        </p:tgtEl>
                                        <p:attrNameLst>
                                          <p:attrName>style.visibility</p:attrName>
                                        </p:attrNameLst>
                                      </p:cBhvr>
                                      <p:to>
                                        <p:strVal val="visible"/>
                                      </p:to>
                                    </p:set>
                                    <p:animEffect transition="in" filter="blinds(horizontal)">
                                      <p:cBhvr>
                                        <p:cTn id="17" dur="500"/>
                                        <p:tgtEl>
                                          <p:spTgt spid="12291">
                                            <p:txEl>
                                              <p:charRg st="45" end="12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291">
                                            <p:txEl>
                                              <p:charRg st="125" end="136"/>
                                            </p:txEl>
                                          </p:spTgt>
                                        </p:tgtEl>
                                        <p:attrNameLst>
                                          <p:attrName>style.visibility</p:attrName>
                                        </p:attrNameLst>
                                      </p:cBhvr>
                                      <p:to>
                                        <p:strVal val="visible"/>
                                      </p:to>
                                    </p:set>
                                    <p:animEffect transition="in" filter="blinds(horizontal)">
                                      <p:cBhvr>
                                        <p:cTn id="22" dur="500"/>
                                        <p:tgtEl>
                                          <p:spTgt spid="12291">
                                            <p:txEl>
                                              <p:charRg st="125" end="13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291">
                                            <p:txEl>
                                              <p:charRg st="137" end="178"/>
                                            </p:txEl>
                                          </p:spTgt>
                                        </p:tgtEl>
                                        <p:attrNameLst>
                                          <p:attrName>style.visibility</p:attrName>
                                        </p:attrNameLst>
                                      </p:cBhvr>
                                      <p:to>
                                        <p:strVal val="visible"/>
                                      </p:to>
                                    </p:set>
                                    <p:animEffect transition="in" filter="blinds(horizontal)">
                                      <p:cBhvr>
                                        <p:cTn id="27" dur="500"/>
                                        <p:tgtEl>
                                          <p:spTgt spid="12291">
                                            <p:txEl>
                                              <p:charRg st="137" end="17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291">
                                            <p:txEl>
                                              <p:charRg st="178" end="209"/>
                                            </p:txEl>
                                          </p:spTgt>
                                        </p:tgtEl>
                                        <p:attrNameLst>
                                          <p:attrName>style.visibility</p:attrName>
                                        </p:attrNameLst>
                                      </p:cBhvr>
                                      <p:to>
                                        <p:strVal val="visible"/>
                                      </p:to>
                                    </p:set>
                                    <p:animEffect transition="in" filter="blinds(horizontal)">
                                      <p:cBhvr>
                                        <p:cTn id="32" dur="500"/>
                                        <p:tgtEl>
                                          <p:spTgt spid="12291">
                                            <p:txEl>
                                              <p:charRg st="178" end="20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291">
                                            <p:txEl>
                                              <p:charRg st="209" end="264"/>
                                            </p:txEl>
                                          </p:spTgt>
                                        </p:tgtEl>
                                        <p:attrNameLst>
                                          <p:attrName>style.visibility</p:attrName>
                                        </p:attrNameLst>
                                      </p:cBhvr>
                                      <p:to>
                                        <p:strVal val="visible"/>
                                      </p:to>
                                    </p:set>
                                    <p:animEffect transition="in" filter="blinds(horizontal)">
                                      <p:cBhvr>
                                        <p:cTn id="37" dur="500"/>
                                        <p:tgtEl>
                                          <p:spTgt spid="12291">
                                            <p:txEl>
                                              <p:charRg st="209" end="26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291">
                                            <p:txEl>
                                              <p:charRg st="264" end="310"/>
                                            </p:txEl>
                                          </p:spTgt>
                                        </p:tgtEl>
                                        <p:attrNameLst>
                                          <p:attrName>style.visibility</p:attrName>
                                        </p:attrNameLst>
                                      </p:cBhvr>
                                      <p:to>
                                        <p:strVal val="visible"/>
                                      </p:to>
                                    </p:set>
                                    <p:animEffect transition="in" filter="blinds(horizontal)">
                                      <p:cBhvr>
                                        <p:cTn id="42" dur="500"/>
                                        <p:tgtEl>
                                          <p:spTgt spid="12291">
                                            <p:txEl>
                                              <p:charRg st="264" end="3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p:txBody>
          <a:bodyPr vert="horz" wrap="square" lIns="91440" tIns="45720" rIns="91440" bIns="45720" anchor="ctr" anchorCtr="0"/>
          <a:p>
            <a:r>
              <a:rPr lang="en-US" altLang="zh-CN" sz="3600" dirty="0"/>
              <a:t>Lexical features</a:t>
            </a:r>
            <a:endParaRPr lang="zh-CN" altLang="zh-CN" sz="3600" dirty="0"/>
          </a:p>
        </p:txBody>
      </p:sp>
      <p:sp>
        <p:nvSpPr>
          <p:cNvPr id="12291" name="Rectangle 3"/>
          <p:cNvSpPr>
            <a:spLocks noGrp="1" noChangeArrowheads="1"/>
          </p:cNvSpPr>
          <p:nvPr>
            <p:ph idx="1"/>
          </p:nvPr>
        </p:nvSpPr>
        <p:spPr>
          <a:xfrm>
            <a:off x="1787525" y="1125538"/>
            <a:ext cx="8485188" cy="5614988"/>
          </a:xfrm>
        </p:spPr>
        <p:txBody>
          <a:bodyPr vert="horz" wrap="square" lIns="91440" tIns="45720" rIns="91440" bIns="45720" numCol="1" anchor="t" anchorCtr="0" compatLnSpc="1"/>
          <a:lstStyle/>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5 Abbreviations and acronyms </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d. Numbers + acronyms</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1" u="none" strike="noStrike" kern="1200" cap="none" spc="0" normalizeH="0" baseline="0" noProof="0" dirty="0">
                <a:ln>
                  <a:noFill/>
                </a:ln>
                <a:solidFill>
                  <a:schemeClr val="tx1"/>
                </a:solidFill>
                <a:effectLst/>
                <a:uLnTx/>
                <a:uFillTx/>
                <a:latin typeface="+mn-lt"/>
                <a:ea typeface="+mn-ea"/>
                <a:cs typeface="+mn-cs"/>
              </a:rPr>
              <a:t>The three P's  = peace, petroleum, palestine </a:t>
            </a:r>
            <a:r>
              <a:rPr kumimoji="0" lang="zh-CN" altLang="en-US" sz="2400" b="0" i="1" u="none" strike="noStrike" kern="1200" cap="none" spc="0" normalizeH="0" baseline="0" noProof="0" dirty="0">
                <a:ln>
                  <a:noFill/>
                </a:ln>
                <a:solidFill>
                  <a:schemeClr val="tx1"/>
                </a:solidFill>
                <a:effectLst/>
                <a:uLnTx/>
                <a:uFillTx/>
                <a:latin typeface="+mn-lt"/>
                <a:ea typeface="+mn-ea"/>
                <a:cs typeface="+mn-cs"/>
              </a:rPr>
              <a:t>中东三大问题</a:t>
            </a:r>
            <a:endParaRPr kumimoji="0" lang="en-US" altLang="zh-CN" sz="2400" b="0" i="1"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1"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1" u="none" strike="noStrike" kern="1200" cap="none" spc="0" normalizeH="0" baseline="0" noProof="0" dirty="0">
                <a:ln>
                  <a:noFill/>
                </a:ln>
                <a:solidFill>
                  <a:schemeClr val="tx1"/>
                </a:solidFill>
                <a:effectLst/>
                <a:uLnTx/>
                <a:uFillTx/>
                <a:latin typeface="+mn-lt"/>
                <a:ea typeface="+mn-ea"/>
                <a:cs typeface="+mn-cs"/>
              </a:rPr>
              <a:t>The three I's  = inflation, interest rate, impeachment </a:t>
            </a:r>
            <a:r>
              <a:rPr kumimoji="0" lang="zh-CN" altLang="en-US" sz="2400" b="0" i="1" u="none" strike="noStrike" kern="1200" cap="none" spc="0" normalizeH="0" baseline="0" noProof="0" dirty="0">
                <a:ln>
                  <a:noFill/>
                </a:ln>
                <a:solidFill>
                  <a:schemeClr val="tx1"/>
                </a:solidFill>
                <a:effectLst/>
                <a:uLnTx/>
                <a:uFillTx/>
                <a:latin typeface="+mn-lt"/>
                <a:ea typeface="+mn-ea"/>
                <a:cs typeface="+mn-cs"/>
              </a:rPr>
              <a:t>三大敏感问题</a:t>
            </a:r>
            <a:endParaRPr kumimoji="0" lang="zh-CN" altLang="en-US" sz="2400" b="0" i="1"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zh-CN" altLang="en-US" sz="2400" b="0" i="1"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1" u="none" strike="noStrike" kern="1200" cap="none" spc="0" normalizeH="0" baseline="0" noProof="0" dirty="0">
                <a:ln>
                  <a:noFill/>
                </a:ln>
                <a:solidFill>
                  <a:schemeClr val="tx1"/>
                </a:solidFill>
                <a:effectLst/>
                <a:uLnTx/>
                <a:uFillTx/>
                <a:latin typeface="+mn-lt"/>
                <a:ea typeface="+mn-ea"/>
                <a:cs typeface="+mn-cs"/>
              </a:rPr>
              <a:t>3W</a:t>
            </a:r>
            <a:r>
              <a:rPr kumimoji="0" lang="zh-CN" altLang="en-US" sz="2400" b="0" i="1" u="none" strike="noStrike" kern="1200" cap="none" spc="0" normalizeH="0" baseline="0" noProof="0" dirty="0">
                <a:ln>
                  <a:noFill/>
                </a:ln>
                <a:solidFill>
                  <a:schemeClr val="tx1"/>
                </a:solidFill>
                <a:effectLst/>
                <a:uLnTx/>
                <a:uFillTx/>
                <a:latin typeface="+mn-lt"/>
                <a:ea typeface="+mn-ea"/>
                <a:cs typeface="+mn-cs"/>
              </a:rPr>
              <a:t>？ </a:t>
            </a:r>
            <a:r>
              <a:rPr kumimoji="0" lang="en-US" altLang="zh-CN" sz="2400" b="0" i="1" u="none" strike="noStrike" kern="1200" cap="none" spc="0" normalizeH="0" baseline="0" noProof="0" dirty="0">
                <a:ln>
                  <a:noFill/>
                </a:ln>
                <a:solidFill>
                  <a:schemeClr val="tx1"/>
                </a:solidFill>
                <a:effectLst/>
                <a:uLnTx/>
                <a:uFillTx/>
                <a:latin typeface="+mn-lt"/>
                <a:ea typeface="+mn-ea"/>
                <a:cs typeface="+mn-cs"/>
              </a:rPr>
              <a:t>G-7</a:t>
            </a:r>
            <a:r>
              <a:rPr kumimoji="0" lang="zh-CN" altLang="en-US" sz="2400" b="0" i="1"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Rectangle 3"/>
          <p:cNvSpPr>
            <a:spLocks noGrp="1" noChangeArrowheads="1"/>
          </p:cNvSpPr>
          <p:nvPr>
            <p:ph idx="1"/>
          </p:nvPr>
        </p:nvSpPr>
        <p:spPr>
          <a:xfrm>
            <a:off x="1786890" y="909320"/>
            <a:ext cx="8769985" cy="5615305"/>
          </a:xfrm>
        </p:spPr>
        <p:txBody>
          <a:bodyPr vert="horz" wrap="square" lIns="91440" tIns="45720" rIns="91440" bIns="45720" numCol="1" anchor="t" anchorCtr="0" compatLnSpc="1">
            <a:normAutofit lnSpcReduction="10000"/>
          </a:bodyPr>
          <a:lstStyle/>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6 Extension of vogue words or buzzwords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流行词）</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esclate -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战争升级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逐步增长</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mileage -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耗费一加仑汽油可供行车的平均里程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好处、利益</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0" fontAlgn="base" latinLnBrk="0" hangingPunct="0">
              <a:lnSpc>
                <a:spcPct val="80000"/>
              </a:lnSpc>
              <a:spcBef>
                <a:spcPct val="20000"/>
              </a:spcBef>
              <a:spcAft>
                <a:spcPct val="0"/>
              </a:spcAft>
              <a:buClrTx/>
              <a:buSzTx/>
              <a:buFont typeface="Wingdings" panose="05000000000000000000" charset="0"/>
              <a:buChar char=""/>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viable -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生物学术语，指（胎儿等）能活的，（动植物）能生存的或能生长发育的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切实可行，有效的</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1. In Sidney, office space in one of the new 44-story towers (the other is a hotel) at the Olympic Village was helped to ease the office </a:t>
            </a:r>
            <a:r>
              <a:rPr kumimoji="0" lang="en-US" altLang="zh-CN" sz="2400" b="0" i="1" u="sng"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crunch</a:t>
            </a: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紧缺</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2. Russia Aerospace Center Crippled by Cash </a:t>
            </a:r>
            <a:r>
              <a:rPr kumimoji="0" lang="en-US" altLang="zh-CN" sz="2400" b="0" i="1" u="sng"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Crunch</a:t>
            </a: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匮乏</a:t>
            </a:r>
            <a:endPar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endParaRPr>
          </a:p>
          <a:p>
            <a:pPr marR="0" lvl="0" algn="l" defTabSz="914400" rtl="0" eaLnBrk="0" fontAlgn="base" latinLnBrk="0" hangingPunct="0">
              <a:lnSpc>
                <a:spcPct val="80000"/>
              </a:lnSpc>
              <a:spcBef>
                <a:spcPct val="20000"/>
              </a:spcBef>
              <a:spcAft>
                <a:spcPct val="0"/>
              </a:spcAft>
              <a:buClrTx/>
              <a:buSzTx/>
              <a:defRPr/>
            </a:pP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catalyst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（化学）催化剂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刺激（或促进）</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的因素；</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0" fontAlgn="base" latinLnBrk="0" hangingPunct="0">
              <a:lnSpc>
                <a:spcPct val="80000"/>
              </a:lnSpc>
              <a:spcBef>
                <a:spcPct val="20000"/>
              </a:spcBef>
              <a:spcAft>
                <a:spcPct val="0"/>
              </a:spcAft>
              <a:buClrTx/>
              <a:buSzTx/>
              <a:defRPr/>
            </a:pP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infrastructure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建筑学）基础，地基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基础设施</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0" fontAlgn="base" latinLnBrk="0" hangingPunct="0">
              <a:lnSpc>
                <a:spcPct val="80000"/>
              </a:lnSpc>
              <a:spcBef>
                <a:spcPct val="20000"/>
              </a:spcBef>
              <a:spcAft>
                <a:spcPct val="0"/>
              </a:spcAft>
              <a:buClrTx/>
              <a:buSzTx/>
              <a:defRPr/>
            </a:pP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panacea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包治百病的良药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万能之计，解决一切问题的方案</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0" fontAlgn="base" latinLnBrk="0" hangingPunct="0">
              <a:lnSpc>
                <a:spcPct val="80000"/>
              </a:lnSpc>
              <a:spcBef>
                <a:spcPct val="20000"/>
              </a:spcBef>
              <a:spcAft>
                <a:spcPct val="0"/>
              </a:spcAft>
              <a:buClrTx/>
              <a:buSzTx/>
              <a:defRPr/>
            </a:pPr>
            <a:r>
              <a:rPr kumimoji="0" lang="en-US" altLang="zh-CN" sz="2400" b="0" i="1" u="none" strike="noStrike" kern="1200" cap="none" spc="0" normalizeH="0" baseline="0" noProof="0" dirty="0">
                <a:ln>
                  <a:noFill/>
                </a:ln>
                <a:solidFill>
                  <a:schemeClr val="tx1"/>
                </a:solidFill>
                <a:effectLst/>
                <a:uLnTx/>
                <a:uFillTx/>
                <a:latin typeface="Arial Italic" panose="020B0604020202090204" charset="0"/>
                <a:ea typeface="+mn-ea"/>
                <a:cs typeface="Arial Italic" panose="020B0604020202090204" charset="0"/>
              </a:rPr>
              <a:t>showcase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陈列橱窗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显示优点的事件，亮相的场合</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28674" name="Rectangle 2"/>
          <p:cNvSpPr>
            <a:spLocks noGrp="1"/>
          </p:cNvSpPr>
          <p:nvPr>
            <p:ph type="title"/>
          </p:nvPr>
        </p:nvSpPr>
        <p:spPr>
          <a:xfrm>
            <a:off x="1915160" y="44768"/>
            <a:ext cx="8229600" cy="1143000"/>
          </a:xfrm>
        </p:spPr>
        <p:txBody>
          <a:bodyPr vert="horz" wrap="square" lIns="91440" tIns="45720" rIns="91440" bIns="45720" anchor="ctr" anchorCtr="0"/>
          <a:p>
            <a:r>
              <a:rPr lang="en-US" altLang="zh-CN" sz="3600" dirty="0"/>
              <a:t>Lexical features</a:t>
            </a:r>
            <a:endParaRPr lang="zh-CN" altLang="zh-CN"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1">
                                            <p:txEl>
                                              <p:charRg st="1" end="47"/>
                                            </p:txEl>
                                          </p:spTgt>
                                        </p:tgtEl>
                                        <p:attrNameLst>
                                          <p:attrName>style.visibility</p:attrName>
                                        </p:attrNameLst>
                                      </p:cBhvr>
                                      <p:to>
                                        <p:strVal val="visible"/>
                                      </p:to>
                                    </p:set>
                                    <p:anim calcmode="lin" valueType="num">
                                      <p:cBhvr additive="base">
                                        <p:cTn id="7" dur="500" fill="hold"/>
                                        <p:tgtEl>
                                          <p:spTgt spid="12291">
                                            <p:txEl>
                                              <p:charRg st="1" end="4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1">
                                            <p:txEl>
                                              <p:charRg st="1" end="4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1">
                                            <p:txEl>
                                              <p:charRg st="48" end="70"/>
                                            </p:txEl>
                                          </p:spTgt>
                                        </p:tgtEl>
                                        <p:attrNameLst>
                                          <p:attrName>style.visibility</p:attrName>
                                        </p:attrNameLst>
                                      </p:cBhvr>
                                      <p:to>
                                        <p:strVal val="visible"/>
                                      </p:to>
                                    </p:set>
                                    <p:anim calcmode="lin" valueType="num">
                                      <p:cBhvr additive="base">
                                        <p:cTn id="13" dur="500" fill="hold"/>
                                        <p:tgtEl>
                                          <p:spTgt spid="12291">
                                            <p:txEl>
                                              <p:charRg st="48" end="7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1">
                                            <p:txEl>
                                              <p:charRg st="48" end="7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291">
                                            <p:txEl>
                                              <p:charRg st="70" end="105"/>
                                            </p:txEl>
                                          </p:spTgt>
                                        </p:tgtEl>
                                        <p:attrNameLst>
                                          <p:attrName>style.visibility</p:attrName>
                                        </p:attrNameLst>
                                      </p:cBhvr>
                                      <p:to>
                                        <p:strVal val="visible"/>
                                      </p:to>
                                    </p:set>
                                    <p:anim calcmode="lin" valueType="num">
                                      <p:cBhvr additive="base">
                                        <p:cTn id="19" dur="500" fill="hold"/>
                                        <p:tgtEl>
                                          <p:spTgt spid="12291">
                                            <p:txEl>
                                              <p:charRg st="70" end="10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91">
                                            <p:txEl>
                                              <p:charRg st="70" end="10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291">
                                            <p:txEl>
                                              <p:charRg st="105" end="158"/>
                                            </p:txEl>
                                          </p:spTgt>
                                        </p:tgtEl>
                                        <p:attrNameLst>
                                          <p:attrName>style.visibility</p:attrName>
                                        </p:attrNameLst>
                                      </p:cBhvr>
                                      <p:to>
                                        <p:strVal val="visible"/>
                                      </p:to>
                                    </p:set>
                                    <p:anim calcmode="lin" valueType="num">
                                      <p:cBhvr additive="base">
                                        <p:cTn id="25" dur="500" fill="hold"/>
                                        <p:tgtEl>
                                          <p:spTgt spid="12291">
                                            <p:txEl>
                                              <p:charRg st="105" end="15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291">
                                            <p:txEl>
                                              <p:charRg st="105" end="15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1440" tIns="45720" rIns="91440" bIns="45720" anchor="ctr" anchorCtr="0"/>
          <a:p>
            <a:pPr eaLnBrk="1" hangingPunct="1"/>
            <a:r>
              <a:rPr lang="en-US" altLang="zh-CN" dirty="0"/>
              <a:t>Grammatical Features of News English</a:t>
            </a:r>
            <a:endParaRPr lang="zh-CN" altLang="en-US" dirty="0"/>
          </a:p>
        </p:txBody>
      </p:sp>
      <p:sp>
        <p:nvSpPr>
          <p:cNvPr id="22531" name="内容占位符 2"/>
          <p:cNvSpPr>
            <a:spLocks noGrp="1"/>
          </p:cNvSpPr>
          <p:nvPr>
            <p:ph idx="1"/>
          </p:nvPr>
        </p:nvSpPr>
        <p:spPr>
          <a:xfrm>
            <a:off x="2167255" y="1584325"/>
            <a:ext cx="7829550" cy="4549140"/>
          </a:xfrm>
        </p:spPr>
        <p:txBody>
          <a:bodyPr vert="horz" wrap="square" lIns="91440" tIns="45720" rIns="91440" bIns="45720" anchor="t" anchorCtr="0">
            <a:normAutofit/>
          </a:bodyPr>
          <a:p>
            <a:pPr marL="514350" indent="-514350" eaLnBrk="1" hangingPunct="1">
              <a:buAutoNum type="arabicPeriod"/>
            </a:pPr>
            <a:r>
              <a:rPr lang="en-US" altLang="zh-CN" dirty="0"/>
              <a:t>Flexible use of ellipitical sentences</a:t>
            </a:r>
            <a:endParaRPr lang="en-US" altLang="zh-CN" dirty="0"/>
          </a:p>
          <a:p>
            <a:pPr marL="514350" indent="-514350" eaLnBrk="1" hangingPunct="1">
              <a:buAutoNum type="arabicPeriod"/>
            </a:pPr>
            <a:r>
              <a:rPr lang="en-US" altLang="zh-CN" dirty="0"/>
              <a:t>Using </a:t>
            </a:r>
            <a:r>
              <a:rPr lang="en-US" altLang="zh-CN" dirty="0"/>
              <a:t>parenthesis </a:t>
            </a:r>
            <a:endParaRPr lang="en-US" altLang="zh-CN" dirty="0"/>
          </a:p>
          <a:p>
            <a:pPr marL="514350" indent="-514350" eaLnBrk="1" hangingPunct="1">
              <a:buAutoNum type="arabicPeriod"/>
            </a:pPr>
            <a:r>
              <a:rPr lang="en-US" altLang="zh-CN" dirty="0"/>
              <a:t>Flexible sentence structure to include more details</a:t>
            </a:r>
            <a:endParaRPr lang="en-US" altLang="zh-CN" dirty="0"/>
          </a:p>
          <a:p>
            <a:pPr marL="514350" indent="-514350" eaLnBrk="1" hangingPunct="1">
              <a:buAutoNum type="arabicPeriod"/>
            </a:pPr>
            <a:r>
              <a:rPr lang="en-US" altLang="zh-CN" dirty="0"/>
              <a:t>Flexible use of tenses</a:t>
            </a:r>
            <a:endParaRPr lang="en-US" altLang="zh-CN" dirty="0"/>
          </a:p>
          <a:p>
            <a:pPr marL="514350" indent="-514350" eaLnBrk="1" hangingPunct="1">
              <a:buAutoNum type="arabicPeriod"/>
            </a:pPr>
            <a:r>
              <a:rPr lang="en-US" altLang="zh-CN" dirty="0"/>
              <a:t>Various premodifiers</a:t>
            </a:r>
            <a:endParaRPr lang="en-US" altLang="zh-CN" dirty="0"/>
          </a:p>
          <a:p>
            <a:pPr marL="514350" indent="-514350" eaLnBrk="1" hangingPunct="1">
              <a:buAutoNum type="arabicPeriod"/>
            </a:pPr>
            <a:r>
              <a:rPr lang="en-US" altLang="zh-CN" dirty="0"/>
              <a:t>Source attribution</a:t>
            </a:r>
            <a:endParaRPr lang="en-US" altLang="zh-CN" dirty="0"/>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1440" tIns="45720" rIns="91440" bIns="45720" anchor="ctr" anchorCtr="0"/>
          <a:p>
            <a:pPr eaLnBrk="1" hangingPunct="1"/>
            <a:r>
              <a:rPr lang="en-US" altLang="zh-CN" dirty="0">
                <a:sym typeface="+mn-ea"/>
              </a:rPr>
              <a:t>Flexible use of ellipitical sentences</a:t>
            </a:r>
            <a:endParaRPr lang="zh-CN" altLang="en-US" dirty="0"/>
          </a:p>
        </p:txBody>
      </p:sp>
      <p:sp>
        <p:nvSpPr>
          <p:cNvPr id="22531" name="内容占位符 2"/>
          <p:cNvSpPr>
            <a:spLocks noGrp="1"/>
          </p:cNvSpPr>
          <p:nvPr>
            <p:ph idx="1"/>
          </p:nvPr>
        </p:nvSpPr>
        <p:spPr>
          <a:xfrm>
            <a:off x="2167255" y="1604645"/>
            <a:ext cx="7829550" cy="4048125"/>
          </a:xfrm>
        </p:spPr>
        <p:txBody>
          <a:bodyPr vert="horz" wrap="square" lIns="91440" tIns="45720" rIns="91440" bIns="45720" anchor="t" anchorCtr="0">
            <a:normAutofit fontScale="90000"/>
          </a:bodyPr>
          <a:p>
            <a:pPr marL="514350" indent="-514350" eaLnBrk="1" hangingPunct="1">
              <a:buFont typeface="+mj-ea"/>
              <a:buAutoNum type="circleNumDbPlain"/>
            </a:pPr>
            <a:r>
              <a:rPr lang="en-US" altLang="zh-CN" dirty="0">
                <a:solidFill>
                  <a:srgbClr val="FF0000"/>
                </a:solidFill>
              </a:rPr>
              <a:t>Ommission of On before week, date... </a:t>
            </a:r>
            <a:r>
              <a:rPr lang="en-US" altLang="zh-CN" dirty="0"/>
              <a:t>Eg. </a:t>
            </a:r>
            <a:r>
              <a:rPr lang="en-US" altLang="zh-CN" sz="2800" dirty="0">
                <a:sym typeface="+mn-ea"/>
              </a:rPr>
              <a:t>NABLUS </a:t>
            </a:r>
            <a:r>
              <a:rPr lang="zh-CN" altLang="en-US" sz="2800" dirty="0">
                <a:sym typeface="+mn-ea"/>
              </a:rPr>
              <a:t>——</a:t>
            </a:r>
            <a:r>
              <a:rPr lang="en-US" altLang="zh-CN" sz="2800" dirty="0">
                <a:sym typeface="+mn-ea"/>
              </a:rPr>
              <a:t> Israe-occupied West Bank </a:t>
            </a:r>
            <a:r>
              <a:rPr lang="zh-CN" altLang="en-US" sz="2800" dirty="0">
                <a:sym typeface="+mn-ea"/>
              </a:rPr>
              <a:t>——</a:t>
            </a:r>
            <a:r>
              <a:rPr lang="en-US" altLang="zh-CN" sz="2800" dirty="0">
                <a:sym typeface="+mn-ea"/>
              </a:rPr>
              <a:t> Backers of the Palestine Liberation Oganziation defeated Islamic fundamentalists </a:t>
            </a:r>
            <a:r>
              <a:rPr lang="en-US" altLang="zh-CN" sz="2800" u="sng" dirty="0">
                <a:solidFill>
                  <a:schemeClr val="tx1"/>
                </a:solidFill>
                <a:sym typeface="+mn-ea"/>
              </a:rPr>
              <a:t>Friday</a:t>
            </a:r>
            <a:r>
              <a:rPr lang="en-US" altLang="zh-CN" sz="2800" dirty="0">
                <a:sym typeface="+mn-ea"/>
              </a:rPr>
              <a:t> in an election here.</a:t>
            </a:r>
            <a:endParaRPr lang="en-US" altLang="zh-CN" sz="2800" dirty="0"/>
          </a:p>
          <a:p>
            <a:pPr marL="514350" indent="-514350" eaLnBrk="1" hangingPunct="1">
              <a:buFont typeface="+mj-ea"/>
              <a:buAutoNum type="circleNumDbPlain"/>
            </a:pPr>
            <a:r>
              <a:rPr lang="en-US" altLang="zh-CN" dirty="0">
                <a:solidFill>
                  <a:srgbClr val="FF0000"/>
                </a:solidFill>
              </a:rPr>
              <a:t>Ommission of that in an object clause</a:t>
            </a:r>
            <a:endParaRPr lang="en-US" altLang="zh-CN" dirty="0">
              <a:solidFill>
                <a:srgbClr val="FF0000"/>
              </a:solidFill>
            </a:endParaRPr>
          </a:p>
          <a:p>
            <a:pPr marL="0" indent="0" eaLnBrk="1" hangingPunct="1">
              <a:buFont typeface="+mj-ea"/>
              <a:buNone/>
            </a:pPr>
            <a:r>
              <a:rPr lang="en-US" altLang="zh-CN" dirty="0"/>
              <a:t>	Eg.</a:t>
            </a:r>
            <a:r>
              <a:rPr lang="en-US" altLang="zh-CN" sz="2800" dirty="0"/>
              <a:t> Butros-Ghali said **** the rich nations were to blame for the rising of the Earth’s temperature - the greenhouse effect - while the poor nations were to blame for destruction of the plane’s resources.</a:t>
            </a:r>
            <a:endParaRPr lang="en-US" altLang="zh-CN" sz="2800" dirty="0"/>
          </a:p>
          <a:p>
            <a:pPr eaLnBrk="1" hangingPunct="1">
              <a:buNone/>
            </a:pPr>
            <a:endParaRPr lang="en-US" altLang="zh-CN" sz="2800" dirty="0"/>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1440" tIns="45720" rIns="91440" bIns="45720" anchor="ctr" anchorCtr="0"/>
          <a:p>
            <a:pPr eaLnBrk="1" hangingPunct="1"/>
            <a:r>
              <a:rPr lang="en-US" altLang="zh-CN" dirty="0">
                <a:sym typeface="+mn-ea"/>
              </a:rPr>
              <a:t>Using parenthesis</a:t>
            </a:r>
            <a:endParaRPr lang="zh-CN" altLang="en-US" dirty="0"/>
          </a:p>
        </p:txBody>
      </p:sp>
      <p:sp>
        <p:nvSpPr>
          <p:cNvPr id="22531" name="内容占位符 2"/>
          <p:cNvSpPr>
            <a:spLocks noGrp="1"/>
          </p:cNvSpPr>
          <p:nvPr>
            <p:ph idx="1"/>
          </p:nvPr>
        </p:nvSpPr>
        <p:spPr>
          <a:xfrm>
            <a:off x="2167255" y="1604645"/>
            <a:ext cx="7829550" cy="4258310"/>
          </a:xfrm>
        </p:spPr>
        <p:txBody>
          <a:bodyPr vert="horz" wrap="square" lIns="91440" tIns="45720" rIns="91440" bIns="45720" anchor="t" anchorCtr="0">
            <a:normAutofit/>
          </a:bodyPr>
          <a:p>
            <a:pPr marL="0" indent="0" eaLnBrk="1" hangingPunct="1">
              <a:buFont typeface="+mj-ea"/>
              <a:buNone/>
            </a:pPr>
            <a:r>
              <a:rPr lang="en-US" altLang="zh-CN" dirty="0">
                <a:solidFill>
                  <a:srgbClr val="FF0000"/>
                </a:solidFill>
              </a:rPr>
              <a:t>1</a:t>
            </a:r>
            <a:r>
              <a:rPr lang="zh-CN" altLang="en-US" dirty="0">
                <a:solidFill>
                  <a:srgbClr val="FF0000"/>
                </a:solidFill>
              </a:rPr>
              <a:t>）</a:t>
            </a:r>
            <a:r>
              <a:rPr lang="en-US" altLang="zh-CN" dirty="0">
                <a:solidFill>
                  <a:srgbClr val="FF0000"/>
                </a:solidFill>
              </a:rPr>
              <a:t>For the sake of simplification or highlighting. </a:t>
            </a:r>
            <a:endParaRPr lang="en-US" altLang="zh-CN" dirty="0">
              <a:solidFill>
                <a:srgbClr val="FF0000"/>
              </a:solidFill>
            </a:endParaRPr>
          </a:p>
          <a:p>
            <a:pPr marL="0" indent="0" eaLnBrk="1" hangingPunct="1">
              <a:buFont typeface="+mj-ea"/>
              <a:buNone/>
            </a:pPr>
            <a:r>
              <a:rPr lang="en-US" altLang="zh-CN" dirty="0"/>
              <a:t>Eg. 1) Washington Hotel,</a:t>
            </a:r>
            <a:r>
              <a:rPr lang="en-US" altLang="zh-CN" u="sng" dirty="0"/>
              <a:t> part of Washington’s exclusive and notorious Watergate complex</a:t>
            </a:r>
            <a:r>
              <a:rPr lang="en-US" altLang="zh-CN" dirty="0"/>
              <a:t>, has been sold to the investment bank Blackstone Group.</a:t>
            </a:r>
            <a:endParaRPr lang="en-US" altLang="zh-CN" dirty="0"/>
          </a:p>
          <a:p>
            <a:pPr marL="0" indent="0" eaLnBrk="1" hangingPunct="1">
              <a:buFont typeface="+mj-ea"/>
              <a:buNone/>
            </a:pPr>
            <a:r>
              <a:rPr lang="en-US" altLang="zh-CN" dirty="0"/>
              <a:t>Eg. 1) The mom and pop operation -  </a:t>
            </a:r>
            <a:r>
              <a:rPr lang="en-US" altLang="zh-CN" u="sng" dirty="0"/>
              <a:t>they have two empoyees besides themselves</a:t>
            </a:r>
            <a:r>
              <a:rPr lang="en-US" altLang="zh-CN" dirty="0"/>
              <a:t> - is growing at a rate of about 15% a year and last year had sales of $350,000. </a:t>
            </a:r>
            <a:endParaRPr lang="en-US" altLang="zh-CN" sz="2800" dirty="0"/>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1440" tIns="45720" rIns="91440" bIns="45720" anchor="ctr" anchorCtr="0"/>
          <a:p>
            <a:pPr eaLnBrk="1" hangingPunct="1"/>
            <a:r>
              <a:rPr lang="en-US" altLang="zh-CN" dirty="0">
                <a:sym typeface="+mn-ea"/>
              </a:rPr>
              <a:t>Using parenthesis</a:t>
            </a:r>
            <a:endParaRPr lang="zh-CN" altLang="en-US" dirty="0"/>
          </a:p>
        </p:txBody>
      </p:sp>
      <p:sp>
        <p:nvSpPr>
          <p:cNvPr id="22531" name="内容占位符 2"/>
          <p:cNvSpPr>
            <a:spLocks noGrp="1"/>
          </p:cNvSpPr>
          <p:nvPr>
            <p:ph idx="1"/>
          </p:nvPr>
        </p:nvSpPr>
        <p:spPr>
          <a:xfrm>
            <a:off x="2063115" y="1268730"/>
            <a:ext cx="7829550" cy="4529455"/>
          </a:xfrm>
        </p:spPr>
        <p:txBody>
          <a:bodyPr vert="horz" wrap="square" lIns="91440" tIns="45720" rIns="91440" bIns="45720" anchor="t" anchorCtr="0">
            <a:normAutofit fontScale="90000"/>
          </a:bodyPr>
          <a:p>
            <a:pPr marL="0" indent="0" eaLnBrk="1" hangingPunct="1">
              <a:buFont typeface="+mj-ea"/>
              <a:buNone/>
            </a:pPr>
            <a:r>
              <a:rPr lang="en-US" altLang="zh-CN" dirty="0">
                <a:solidFill>
                  <a:srgbClr val="FF0000"/>
                </a:solidFill>
              </a:rPr>
              <a:t>2</a:t>
            </a:r>
            <a:r>
              <a:rPr lang="zh-CN" altLang="en-US" dirty="0">
                <a:solidFill>
                  <a:srgbClr val="FF0000"/>
                </a:solidFill>
              </a:rPr>
              <a:t>）</a:t>
            </a:r>
            <a:r>
              <a:rPr lang="en-US" altLang="zh-CN" dirty="0">
                <a:solidFill>
                  <a:srgbClr val="FF0000"/>
                </a:solidFill>
              </a:rPr>
              <a:t>Using appositives to show the title, age or profession of a person or the location and characteristics of a city </a:t>
            </a:r>
            <a:endParaRPr lang="en-US" altLang="zh-CN" dirty="0">
              <a:solidFill>
                <a:srgbClr val="FF0000"/>
              </a:solidFill>
            </a:endParaRPr>
          </a:p>
          <a:p>
            <a:pPr marL="0" indent="0" eaLnBrk="1" hangingPunct="1">
              <a:buFont typeface="+mj-ea"/>
              <a:buNone/>
            </a:pPr>
            <a:r>
              <a:rPr lang="en-US" altLang="zh-CN">
                <a:sym typeface="+mn-ea"/>
              </a:rPr>
              <a:t>Eg. </a:t>
            </a:r>
            <a:r>
              <a:rPr lang="zh-CN" altLang="en-US">
                <a:sym typeface="+mn-ea"/>
              </a:rPr>
              <a:t>（</a:t>
            </a:r>
            <a:r>
              <a:rPr lang="en-US" altLang="zh-CN">
                <a:sym typeface="+mn-ea"/>
              </a:rPr>
              <a:t>1) One was Maria Antonietta Berna, </a:t>
            </a:r>
            <a:r>
              <a:rPr lang="en-US" altLang="zh-CN" u="sng">
                <a:sym typeface="+mn-ea"/>
              </a:rPr>
              <a:t>22 years old, daughter of the railroad stationmaster of Thiener, a city of 20,000 miles northwest of Venice</a:t>
            </a:r>
            <a:r>
              <a:rPr lang="en-US" altLang="zh-CN">
                <a:sym typeface="+mn-ea"/>
              </a:rPr>
              <a:t>.</a:t>
            </a:r>
            <a:r>
              <a:rPr lang="en-US" altLang="zh-CN" dirty="0"/>
              <a:t>	</a:t>
            </a:r>
            <a:endParaRPr lang="en-US" altLang="zh-CN" dirty="0"/>
          </a:p>
          <a:p>
            <a:pPr marL="0" indent="0" eaLnBrk="1" hangingPunct="1">
              <a:buFont typeface="+mj-ea"/>
              <a:buNone/>
            </a:pPr>
            <a:r>
              <a:rPr lang="en-US" altLang="zh-CN" dirty="0"/>
              <a:t>Eg. </a:t>
            </a:r>
            <a:r>
              <a:rPr lang="zh-CN" altLang="en-US">
                <a:sym typeface="+mn-ea"/>
              </a:rPr>
              <a:t>（</a:t>
            </a:r>
            <a:r>
              <a:rPr lang="en-US" altLang="zh-CN">
                <a:sym typeface="+mn-ea"/>
              </a:rPr>
              <a:t>2</a:t>
            </a:r>
            <a:r>
              <a:rPr lang="en-US" altLang="zh-CN">
                <a:sym typeface="+mn-ea"/>
              </a:rPr>
              <a:t>) The group of five Senators, </a:t>
            </a:r>
            <a:r>
              <a:rPr lang="en-US" altLang="zh-CN" u="sng">
                <a:sym typeface="+mn-ea"/>
              </a:rPr>
              <a:t>led by Frank Church, Democrat of Idaho, the committee chair-man</a:t>
            </a:r>
            <a:r>
              <a:rPr lang="en-US" altLang="zh-CN">
                <a:sym typeface="+mn-ea"/>
              </a:rPr>
              <a:t>, is on a six-day visit to China.</a:t>
            </a:r>
            <a:r>
              <a:rPr lang="en-US" altLang="zh-CN" dirty="0">
                <a:sym typeface="+mn-ea"/>
              </a:rPr>
              <a:t>	</a:t>
            </a:r>
            <a:endParaRPr lang="en-US" altLang="zh-CN" sz="2800" dirty="0"/>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1440" tIns="45720" rIns="91440" bIns="45720" anchor="ctr" anchorCtr="0">
            <a:normAutofit fontScale="90000"/>
          </a:bodyPr>
          <a:p>
            <a:pPr eaLnBrk="1" hangingPunct="1"/>
            <a:r>
              <a:rPr lang="en-US" altLang="zh-CN" dirty="0">
                <a:sym typeface="+mn-ea"/>
              </a:rPr>
              <a:t>Flexible sentence structure to include more details</a:t>
            </a:r>
            <a:endParaRPr lang="zh-CN" altLang="en-US" dirty="0"/>
          </a:p>
        </p:txBody>
      </p:sp>
      <p:sp>
        <p:nvSpPr>
          <p:cNvPr id="22531" name="内容占位符 2"/>
          <p:cNvSpPr>
            <a:spLocks noGrp="1"/>
          </p:cNvSpPr>
          <p:nvPr>
            <p:ph idx="1"/>
          </p:nvPr>
        </p:nvSpPr>
        <p:spPr>
          <a:xfrm>
            <a:off x="2167255" y="1604645"/>
            <a:ext cx="7829550" cy="4514215"/>
          </a:xfrm>
        </p:spPr>
        <p:txBody>
          <a:bodyPr vert="horz" wrap="square" lIns="91440" tIns="45720" rIns="91440" bIns="45720" anchor="t" anchorCtr="0">
            <a:normAutofit/>
          </a:bodyPr>
          <a:p>
            <a:pPr marL="0" indent="0" eaLnBrk="1" hangingPunct="1">
              <a:buFont typeface="+mj-ea"/>
              <a:buNone/>
            </a:pPr>
            <a:r>
              <a:rPr lang="en-US" altLang="zh-CN" sz="2800">
                <a:sym typeface="+mn-ea"/>
              </a:rPr>
              <a:t>Eg. 1) Andrew P. O’Rourke, the Republican candidate for governor, said yesterday that he would withdraw from a televised debate with Governor Cuomo if the </a:t>
            </a:r>
            <a:r>
              <a:rPr lang="en-US" altLang="zh-CN" sz="2800" u="sng">
                <a:sym typeface="+mn-ea"/>
              </a:rPr>
              <a:t>candidate</a:t>
            </a:r>
            <a:r>
              <a:rPr lang="en-US" altLang="zh-CN" sz="2800">
                <a:sym typeface="+mn-ea"/>
              </a:rPr>
              <a:t> of </a:t>
            </a:r>
            <a:r>
              <a:rPr lang="en-US" altLang="zh-CN" sz="2800" u="sng">
                <a:sym typeface="+mn-ea"/>
              </a:rPr>
              <a:t>the New Alliance Party</a:t>
            </a:r>
            <a:r>
              <a:rPr lang="en-US" altLang="zh-CN" sz="2800">
                <a:sym typeface="+mn-ea"/>
              </a:rPr>
              <a:t> </a:t>
            </a:r>
            <a:r>
              <a:rPr lang="en-US" altLang="zh-CN" sz="2800" u="sng">
                <a:sym typeface="+mn-ea"/>
              </a:rPr>
              <a:t>which</a:t>
            </a:r>
            <a:r>
              <a:rPr lang="en-US" altLang="zh-CN" sz="2800">
                <a:sym typeface="+mn-ea"/>
              </a:rPr>
              <a:t> he accused of extremist views, participates.</a:t>
            </a:r>
            <a:r>
              <a:rPr lang="en-US" altLang="zh-CN" sz="2800" dirty="0"/>
              <a:t>	</a:t>
            </a:r>
            <a:endParaRPr lang="en-US" altLang="zh-CN" sz="2800" dirty="0"/>
          </a:p>
          <a:p>
            <a:pPr marL="0" indent="0" eaLnBrk="1" hangingPunct="1">
              <a:buFont typeface="+mj-ea"/>
              <a:buNone/>
            </a:pPr>
            <a:r>
              <a:rPr lang="en-US" altLang="zh-CN" sz="2800" dirty="0"/>
              <a:t>2) Timothy Wolfer, </a:t>
            </a:r>
            <a:r>
              <a:rPr lang="en-US" altLang="zh-CN" sz="2800" u="sng" dirty="0"/>
              <a:t>a freelance journalist who spent the first days of Russia's invasion of Ukraine reporting on the ground in Mariupol for NPR</a:t>
            </a:r>
            <a:r>
              <a:rPr lang="en-US" altLang="zh-CN" sz="2800" dirty="0"/>
              <a:t>, reflects on his time there one year later.</a:t>
            </a:r>
            <a:endParaRPr lang="en-US" altLang="zh-CN" sz="2800" dirty="0"/>
          </a:p>
          <a:p>
            <a:pPr marL="0" indent="0" eaLnBrk="1" hangingPunct="1">
              <a:buFont typeface="+mj-ea"/>
              <a:buNone/>
            </a:pPr>
            <a:endParaRPr lang="en-US" altLang="zh-CN" sz="2800" dirty="0"/>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a:xfrm>
            <a:off x="2063750" y="116523"/>
            <a:ext cx="8229600" cy="1143000"/>
          </a:xfrm>
        </p:spPr>
        <p:txBody>
          <a:bodyPr vert="horz" wrap="square" lIns="91440" tIns="45720" rIns="91440" bIns="45720" anchor="ctr" anchorCtr="0"/>
          <a:p>
            <a:pPr eaLnBrk="1" hangingPunct="1"/>
            <a:r>
              <a:rPr lang="en-US" altLang="zh-CN" dirty="0">
                <a:sym typeface="+mn-ea"/>
              </a:rPr>
              <a:t>Flexible use of tenses</a:t>
            </a:r>
            <a:endParaRPr lang="zh-CN" altLang="en-US" dirty="0"/>
          </a:p>
        </p:txBody>
      </p:sp>
      <p:sp>
        <p:nvSpPr>
          <p:cNvPr id="22531" name="内容占位符 2"/>
          <p:cNvSpPr>
            <a:spLocks noGrp="1"/>
          </p:cNvSpPr>
          <p:nvPr>
            <p:ph idx="1"/>
          </p:nvPr>
        </p:nvSpPr>
        <p:spPr>
          <a:xfrm>
            <a:off x="1049020" y="1119505"/>
            <a:ext cx="8844280" cy="5471795"/>
          </a:xfrm>
        </p:spPr>
        <p:txBody>
          <a:bodyPr vert="horz" wrap="square" lIns="91440" tIns="45720" rIns="91440" bIns="45720" anchor="t" anchorCtr="0">
            <a:normAutofit/>
          </a:bodyPr>
          <a:p>
            <a:pPr marL="0" indent="0" eaLnBrk="1" hangingPunct="1">
              <a:buFont typeface="+mj-ea"/>
              <a:buNone/>
            </a:pPr>
            <a:r>
              <a:rPr lang="en-US" altLang="zh-CN" sz="2400">
                <a:solidFill>
                  <a:schemeClr val="accent2"/>
                </a:solidFill>
                <a:sym typeface="+mn-ea"/>
              </a:rPr>
              <a:t>Traditionally, sequence of tenses should be followed.(</a:t>
            </a:r>
            <a:r>
              <a:rPr lang="zh-CN" altLang="en-US" sz="2400">
                <a:solidFill>
                  <a:schemeClr val="accent2"/>
                </a:solidFill>
                <a:sym typeface="+mn-ea"/>
              </a:rPr>
              <a:t>时态一致，时态呼应</a:t>
            </a:r>
            <a:r>
              <a:rPr lang="en-US" altLang="zh-CN" sz="2400">
                <a:solidFill>
                  <a:schemeClr val="accent2"/>
                </a:solidFill>
                <a:sym typeface="+mn-ea"/>
              </a:rPr>
              <a:t>). But Flexibility applies in News English when it comes to the tenses.</a:t>
            </a:r>
            <a:endParaRPr lang="en-US" altLang="zh-CN" sz="2400">
              <a:solidFill>
                <a:schemeClr val="accent2"/>
              </a:solidFill>
              <a:sym typeface="+mn-ea"/>
            </a:endParaRPr>
          </a:p>
          <a:p>
            <a:pPr marL="0" indent="0" eaLnBrk="1" hangingPunct="1">
              <a:buFont typeface="+mj-ea"/>
              <a:buNone/>
            </a:pPr>
            <a:r>
              <a:rPr lang="en-US" altLang="zh-CN" sz="2000">
                <a:solidFill>
                  <a:schemeClr val="tx1"/>
                </a:solidFill>
                <a:sym typeface="+mn-ea"/>
              </a:rPr>
              <a:t>UNITED NATIONS, New York  - President George Bush </a:t>
            </a:r>
            <a:r>
              <a:rPr lang="en-US" altLang="zh-CN" sz="2000" u="sng">
                <a:solidFill>
                  <a:srgbClr val="002060"/>
                </a:solidFill>
                <a:sym typeface="+mn-ea"/>
              </a:rPr>
              <a:t>wants </a:t>
            </a:r>
            <a:r>
              <a:rPr lang="en-US" altLang="zh-CN" sz="2000">
                <a:solidFill>
                  <a:schemeClr val="tx1"/>
                </a:solidFill>
                <a:sym typeface="+mn-ea"/>
              </a:rPr>
              <a:t>the former attorney general, Dick Thornburgh to take a new top post at the United Nations, overseeing the organizaiton’s budget and administration, UN and US officials </a:t>
            </a:r>
            <a:r>
              <a:rPr lang="en-US" altLang="zh-CN" sz="2000" u="sng">
                <a:solidFill>
                  <a:srgbClr val="002060"/>
                </a:solidFill>
                <a:sym typeface="+mn-ea"/>
              </a:rPr>
              <a:t>say</a:t>
            </a:r>
            <a:r>
              <a:rPr lang="en-US" altLang="zh-CN" sz="2000">
                <a:solidFill>
                  <a:schemeClr val="tx1"/>
                </a:solidFill>
                <a:sym typeface="+mn-ea"/>
              </a:rPr>
              <a:t>.</a:t>
            </a:r>
            <a:endParaRPr lang="en-US" altLang="zh-CN" sz="2000">
              <a:solidFill>
                <a:schemeClr val="tx1"/>
              </a:solidFill>
              <a:sym typeface="+mn-ea"/>
            </a:endParaRPr>
          </a:p>
          <a:p>
            <a:pPr marL="0" indent="0" eaLnBrk="1" hangingPunct="1">
              <a:buFont typeface="+mj-ea"/>
              <a:buNone/>
            </a:pPr>
            <a:r>
              <a:rPr lang="en-US" altLang="zh-CN" sz="2000">
                <a:solidFill>
                  <a:schemeClr val="tx1"/>
                </a:solidFill>
                <a:sym typeface="+mn-ea"/>
              </a:rPr>
              <a:t>Secretary General Butros Butros-Ghali </a:t>
            </a:r>
            <a:r>
              <a:rPr lang="en-US" altLang="zh-CN" sz="2000" u="sng">
                <a:solidFill>
                  <a:srgbClr val="FF0000"/>
                </a:solidFill>
                <a:sym typeface="+mn-ea"/>
              </a:rPr>
              <a:t>asked </a:t>
            </a:r>
            <a:r>
              <a:rPr lang="en-US" altLang="zh-CN" sz="2000">
                <a:solidFill>
                  <a:schemeClr val="tx1"/>
                </a:solidFill>
                <a:sym typeface="+mn-ea"/>
              </a:rPr>
              <a:t>Mr. Bush to find an American to fill this job when he </a:t>
            </a:r>
            <a:r>
              <a:rPr lang="en-US" altLang="zh-CN" sz="2000" u="sng">
                <a:solidFill>
                  <a:srgbClr val="FF0000"/>
                </a:solidFill>
                <a:sym typeface="+mn-ea"/>
              </a:rPr>
              <a:t>attented </a:t>
            </a:r>
            <a:r>
              <a:rPr lang="en-US" altLang="zh-CN" sz="2000">
                <a:solidFill>
                  <a:schemeClr val="tx1"/>
                </a:solidFill>
                <a:sym typeface="+mn-ea"/>
              </a:rPr>
              <a:t>the summit meeting of the Security Council here last month and the president hten </a:t>
            </a:r>
            <a:r>
              <a:rPr lang="en-US" altLang="zh-CN" sz="2000" u="sng">
                <a:solidFill>
                  <a:srgbClr val="FF0000"/>
                </a:solidFill>
                <a:sym typeface="+mn-ea"/>
              </a:rPr>
              <a:t>offered </a:t>
            </a:r>
            <a:r>
              <a:rPr lang="en-US" altLang="zh-CN" sz="2000">
                <a:solidFill>
                  <a:schemeClr val="tx1"/>
                </a:solidFill>
                <a:sym typeface="+mn-ea"/>
              </a:rPr>
              <a:t>the job to Mr. THornburgh, the official </a:t>
            </a:r>
            <a:r>
              <a:rPr lang="en-US" altLang="zh-CN" sz="2000" u="sng">
                <a:solidFill>
                  <a:srgbClr val="FF0000"/>
                </a:solidFill>
                <a:sym typeface="+mn-ea"/>
              </a:rPr>
              <a:t>said</a:t>
            </a:r>
            <a:r>
              <a:rPr lang="en-US" altLang="zh-CN" sz="2000">
                <a:solidFill>
                  <a:schemeClr val="tx1"/>
                </a:solidFill>
                <a:sym typeface="+mn-ea"/>
              </a:rPr>
              <a:t>.  ...</a:t>
            </a:r>
            <a:endParaRPr lang="en-US" altLang="zh-CN" sz="2000">
              <a:solidFill>
                <a:schemeClr val="tx1"/>
              </a:solidFill>
              <a:sym typeface="+mn-ea"/>
            </a:endParaRPr>
          </a:p>
          <a:p>
            <a:pPr marL="0" indent="0" eaLnBrk="1" hangingPunct="1">
              <a:buFont typeface="+mj-ea"/>
              <a:buNone/>
            </a:pPr>
            <a:r>
              <a:rPr lang="en-US" altLang="zh-CN" sz="2000">
                <a:solidFill>
                  <a:schemeClr val="tx1"/>
                </a:solidFill>
                <a:sym typeface="+mn-ea"/>
              </a:rPr>
              <a:t>The new post, undersecretary-general for administration and management, </a:t>
            </a:r>
            <a:r>
              <a:rPr lang="en-US" altLang="zh-CN" sz="2000" u="sng">
                <a:solidFill>
                  <a:srgbClr val="002060"/>
                </a:solidFill>
                <a:sym typeface="+mn-ea"/>
              </a:rPr>
              <a:t>involves </a:t>
            </a:r>
            <a:r>
              <a:rPr lang="en-US" altLang="zh-CN" sz="2000">
                <a:solidFill>
                  <a:schemeClr val="tx1"/>
                </a:solidFill>
                <a:sym typeface="+mn-ea"/>
              </a:rPr>
              <a:t>overall responsiblity for budget and personnel matters and </a:t>
            </a:r>
            <a:r>
              <a:rPr lang="en-US" altLang="zh-CN" sz="2000" u="sng">
                <a:solidFill>
                  <a:srgbClr val="002060"/>
                </a:solidFill>
                <a:sym typeface="+mn-ea"/>
              </a:rPr>
              <a:t>is </a:t>
            </a:r>
            <a:r>
              <a:rPr lang="en-US" altLang="zh-CN" sz="2000">
                <a:solidFill>
                  <a:schemeClr val="tx1"/>
                </a:solidFill>
                <a:sym typeface="+mn-ea"/>
              </a:rPr>
              <a:t>one of eight deputy positions created by Mr. Butros-Ghali in a restructuring of the Secretariat announced on Friday, the official </a:t>
            </a:r>
            <a:r>
              <a:rPr lang="en-US" altLang="zh-CN" sz="2000" u="sng">
                <a:solidFill>
                  <a:srgbClr val="FF0000"/>
                </a:solidFill>
                <a:sym typeface="+mn-ea"/>
              </a:rPr>
              <a:t>said</a:t>
            </a:r>
            <a:r>
              <a:rPr lang="en-US" altLang="zh-CN" sz="2000">
                <a:solidFill>
                  <a:schemeClr val="tx1"/>
                </a:solidFill>
                <a:sym typeface="+mn-ea"/>
              </a:rPr>
              <a:t>.</a:t>
            </a:r>
            <a:endParaRPr lang="en-US" altLang="zh-CN" sz="2000">
              <a:solidFill>
                <a:schemeClr val="tx1"/>
              </a:solidFill>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vert="horz" wrap="square" lIns="91440" tIns="45720" rIns="91440" bIns="45720" anchor="ctr"/>
          <a:lstStyle/>
          <a:p>
            <a:r>
              <a:rPr lang="en-US" altLang="zh-CN" sz="3200">
                <a:solidFill>
                  <a:srgbClr val="FF0000"/>
                </a:solidFill>
                <a:latin typeface="+mn-lt"/>
                <a:ea typeface="+mn-ea"/>
                <a:cs typeface="+mn-cs"/>
              </a:rPr>
              <a:t>Premodifiers</a:t>
            </a:r>
            <a:endParaRPr lang="en-US" altLang="zh-CN" sz="3200" dirty="0">
              <a:solidFill>
                <a:srgbClr val="FF0000"/>
              </a:solidFill>
              <a:latin typeface="+mn-lt"/>
              <a:ea typeface="+mn-ea"/>
              <a:cs typeface="+mn-cs"/>
            </a:endParaRPr>
          </a:p>
        </p:txBody>
      </p:sp>
      <p:sp>
        <p:nvSpPr>
          <p:cNvPr id="26627" name="内容占位符 2"/>
          <p:cNvSpPr>
            <a:spLocks noGrp="1"/>
          </p:cNvSpPr>
          <p:nvPr>
            <p:ph idx="1"/>
          </p:nvPr>
        </p:nvSpPr>
        <p:spPr>
          <a:xfrm>
            <a:off x="1699260" y="1268730"/>
            <a:ext cx="8594090" cy="4526280"/>
          </a:xfrm>
        </p:spPr>
        <p:txBody>
          <a:bodyPr vert="horz" wrap="square" lIns="91440" tIns="45720" rIns="91440" bIns="45720" anchor="t">
            <a:normAutofit lnSpcReduction="10000"/>
          </a:bodyPr>
          <a:lstStyle/>
          <a:p>
            <a:r>
              <a:rPr lang="en-US" altLang="zh-CN">
                <a:sym typeface="+mn-ea"/>
              </a:rPr>
              <a:t> </a:t>
            </a:r>
            <a:r>
              <a:rPr lang="en-US" altLang="zh-CN">
                <a:solidFill>
                  <a:srgbClr val="FF0000"/>
                </a:solidFill>
                <a:sym typeface="+mn-ea"/>
              </a:rPr>
              <a:t>(</a:t>
            </a:r>
            <a:r>
              <a:rPr lang="en-US" altLang="zh-CN">
                <a:solidFill>
                  <a:srgbClr val="FF0000"/>
                </a:solidFill>
                <a:sym typeface="+mn-ea"/>
              </a:rPr>
              <a:t>Adv + past participle)</a:t>
            </a:r>
            <a:endParaRPr lang="en-US" altLang="zh-CN">
              <a:solidFill>
                <a:srgbClr val="FF0000"/>
              </a:solidFill>
            </a:endParaRPr>
          </a:p>
          <a:p>
            <a:r>
              <a:rPr lang="en-US" altLang="zh-CN" sz="2800" u="sng"/>
              <a:t>Deeply-carpeted</a:t>
            </a:r>
            <a:r>
              <a:rPr lang="en-US" altLang="zh-CN" sz="2800"/>
              <a:t> conference room, </a:t>
            </a:r>
            <a:r>
              <a:rPr lang="en-US" altLang="zh-CN" sz="2800" u="sng"/>
              <a:t>hard-won</a:t>
            </a:r>
            <a:r>
              <a:rPr lang="en-US" altLang="zh-CN" sz="2800"/>
              <a:t> result, </a:t>
            </a:r>
            <a:r>
              <a:rPr lang="en-US" altLang="zh-CN" sz="2800" u="sng"/>
              <a:t>heavily-guarded</a:t>
            </a:r>
            <a:r>
              <a:rPr lang="en-US" altLang="zh-CN" sz="2800"/>
              <a:t> government complex, </a:t>
            </a:r>
            <a:r>
              <a:rPr lang="en-US" altLang="zh-CN" sz="2800" u="sng"/>
              <a:t>highly-sophisticated</a:t>
            </a:r>
            <a:r>
              <a:rPr lang="en-US" altLang="zh-CN" sz="2800"/>
              <a:t> technology, </a:t>
            </a:r>
            <a:r>
              <a:rPr lang="en-US" altLang="zh-CN" sz="2800" u="sng"/>
              <a:t>sparsely-populated</a:t>
            </a:r>
            <a:r>
              <a:rPr lang="en-US" altLang="zh-CN" sz="2800"/>
              <a:t> area.</a:t>
            </a:r>
            <a:endParaRPr lang="en-US" altLang="zh-CN" sz="2800"/>
          </a:p>
          <a:p>
            <a:r>
              <a:rPr lang="en-US" altLang="zh-CN">
                <a:solidFill>
                  <a:srgbClr val="FF0000"/>
                </a:solidFill>
                <a:sym typeface="+mn-ea"/>
              </a:rPr>
              <a:t>(</a:t>
            </a:r>
            <a:r>
              <a:rPr lang="en-US" altLang="zh-CN">
                <a:solidFill>
                  <a:srgbClr val="FF0000"/>
                </a:solidFill>
                <a:sym typeface="+mn-ea"/>
              </a:rPr>
              <a:t>noun+ past participle)</a:t>
            </a:r>
            <a:endParaRPr lang="en-US" altLang="zh-CN">
              <a:solidFill>
                <a:srgbClr val="FF0000"/>
              </a:solidFill>
            </a:endParaRPr>
          </a:p>
          <a:p>
            <a:r>
              <a:rPr lang="en-US" altLang="zh-CN" sz="2800"/>
              <a:t>Disaster-hit area, web-enabled phone, state-owned enterprise </a:t>
            </a:r>
            <a:endParaRPr lang="en-US" altLang="zh-CN" sz="2800"/>
          </a:p>
          <a:p>
            <a:r>
              <a:rPr lang="en-US" altLang="zh-CN">
                <a:sym typeface="+mn-ea"/>
              </a:rPr>
              <a:t> </a:t>
            </a:r>
            <a:r>
              <a:rPr lang="en-US" altLang="zh-CN">
                <a:solidFill>
                  <a:srgbClr val="FF0000"/>
                </a:solidFill>
                <a:sym typeface="+mn-ea"/>
              </a:rPr>
              <a:t>(Noun + noun)</a:t>
            </a:r>
            <a:endParaRPr lang="en-US" altLang="zh-CN">
              <a:solidFill>
                <a:srgbClr val="FF0000"/>
              </a:solidFill>
            </a:endParaRPr>
          </a:p>
          <a:p>
            <a:r>
              <a:rPr lang="en-US" altLang="zh-CN">
                <a:solidFill>
                  <a:srgbClr val="FF0000"/>
                </a:solidFill>
                <a:sym typeface="+mn-ea"/>
              </a:rPr>
              <a:t> </a:t>
            </a:r>
            <a:r>
              <a:rPr lang="en-US" altLang="zh-CN" sz="2800">
                <a:sym typeface="+mn-ea"/>
              </a:rPr>
              <a:t>Arms-reduction talks, hunger-strike </a:t>
            </a:r>
            <a:r>
              <a:rPr lang="en-US" altLang="zh-CN" sz="2800" err="1">
                <a:sym typeface="+mn-ea"/>
              </a:rPr>
              <a:t>sitdown</a:t>
            </a:r>
            <a:r>
              <a:rPr lang="en-US" altLang="zh-CN" sz="2800">
                <a:sym typeface="+mn-ea"/>
              </a:rPr>
              <a:t>, supply-demand imbalance</a:t>
            </a:r>
            <a:endParaRPr lang="zh-CN" altLang="en-US" sz="2800" dirty="0"/>
          </a:p>
          <a:p>
            <a:endParaRPr lang="en-US" altLang="zh-CN"/>
          </a:p>
          <a:p>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6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62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6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vert="horz" wrap="square" lIns="91440" tIns="45720" rIns="91440" bIns="45720" anchor="ctr"/>
          <a:lstStyle/>
          <a:p>
            <a:r>
              <a:rPr lang="en-US" altLang="zh-CN">
                <a:solidFill>
                  <a:srgbClr val="FF0000"/>
                </a:solidFill>
                <a:latin typeface="+mn-lt"/>
                <a:ea typeface="+mn-ea"/>
                <a:cs typeface="+mn-cs"/>
                <a:sym typeface="+mn-ea"/>
              </a:rPr>
              <a:t>Premodifiers</a:t>
            </a:r>
            <a:endParaRPr lang="zh-CN" altLang="en-US" dirty="0"/>
          </a:p>
        </p:txBody>
      </p:sp>
      <p:sp>
        <p:nvSpPr>
          <p:cNvPr id="28675" name="内容占位符 2"/>
          <p:cNvSpPr>
            <a:spLocks noGrp="1"/>
          </p:cNvSpPr>
          <p:nvPr>
            <p:ph idx="1"/>
          </p:nvPr>
        </p:nvSpPr>
        <p:spPr>
          <a:xfrm>
            <a:off x="2063750" y="1196975"/>
            <a:ext cx="8229600" cy="4525963"/>
          </a:xfrm>
        </p:spPr>
        <p:txBody>
          <a:bodyPr vert="horz" wrap="square" lIns="91440" tIns="45720" rIns="91440" bIns="45720" anchor="t"/>
          <a:lstStyle/>
          <a:p>
            <a:r>
              <a:rPr lang="en-US" altLang="zh-CN">
                <a:solidFill>
                  <a:srgbClr val="FF0000"/>
                </a:solidFill>
                <a:sym typeface="+mn-ea"/>
              </a:rPr>
              <a:t>(Noun + present participle)</a:t>
            </a:r>
            <a:endParaRPr lang="en-US" altLang="zh-CN" dirty="0">
              <a:solidFill>
                <a:srgbClr val="FF0000"/>
              </a:solidFill>
            </a:endParaRPr>
          </a:p>
          <a:p>
            <a:r>
              <a:rPr lang="en-US" altLang="zh-CN">
                <a:sym typeface="+mn-ea"/>
              </a:rPr>
              <a:t>Cancer-causing drugs, energy-saving device, oil-producing country, policy-making body, Headline-grabbing ChatGPT</a:t>
            </a:r>
            <a:r>
              <a:rPr lang="en-US" altLang="zh-CN">
                <a:solidFill>
                  <a:srgbClr val="FF0000"/>
                </a:solidFill>
                <a:sym typeface="+mn-ea"/>
              </a:rPr>
              <a:t> </a:t>
            </a:r>
            <a:r>
              <a:rPr lang="en-US" altLang="zh-CN">
                <a:solidFill>
                  <a:srgbClr val="FF0000"/>
                </a:solidFill>
                <a:sym typeface="+mn-ea"/>
              </a:rPr>
              <a:t>(Noun + </a:t>
            </a:r>
            <a:r>
              <a:rPr lang="en-US" altLang="zh-CN" err="1">
                <a:solidFill>
                  <a:srgbClr val="FF0000"/>
                </a:solidFill>
                <a:sym typeface="+mn-ea"/>
              </a:rPr>
              <a:t>adj)</a:t>
            </a:r>
            <a:endParaRPr lang="en-US" altLang="zh-CN">
              <a:solidFill>
                <a:srgbClr val="FF0000"/>
              </a:solidFill>
            </a:endParaRPr>
          </a:p>
          <a:p>
            <a:r>
              <a:rPr lang="en-US" altLang="zh-CN" err="1"/>
              <a:t>Eathquake</a:t>
            </a:r>
            <a:r>
              <a:rPr lang="en-US" altLang="zh-CN"/>
              <a:t>-prone area,  baby-friendly hospital, interest-free loan</a:t>
            </a:r>
            <a:endParaRPr lang="en-US" altLang="zh-CN"/>
          </a:p>
          <a:p>
            <a:r>
              <a:rPr lang="en-US" altLang="zh-CN">
                <a:solidFill>
                  <a:srgbClr val="FF0000"/>
                </a:solidFill>
                <a:sym typeface="+mn-ea"/>
              </a:rPr>
              <a:t>(Noun+to+Noun)</a:t>
            </a:r>
            <a:endParaRPr lang="en-US" altLang="zh-CN">
              <a:solidFill>
                <a:srgbClr val="FF0000"/>
              </a:solidFill>
            </a:endParaRPr>
          </a:p>
          <a:p>
            <a:r>
              <a:rPr lang="en-US" altLang="zh-CN"/>
              <a:t>door-to-door investigation, eyeball-to-eyeball tension, hand-to-mouth pay</a:t>
            </a:r>
            <a:endParaRPr lang="en-US" altLang="zh-CN" dirty="0">
              <a:solidFill>
                <a:srgbClr val="FF0000"/>
              </a:solidFil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vert="horz" wrap="square" lIns="91440" tIns="45720" rIns="91440" bIns="45720" anchor="ctr"/>
          <a:lstStyle/>
          <a:p>
            <a:r>
              <a:rPr lang="en-US" altLang="zh-CN">
                <a:solidFill>
                  <a:srgbClr val="FF0000"/>
                </a:solidFill>
                <a:latin typeface="+mn-lt"/>
                <a:ea typeface="+mn-ea"/>
                <a:cs typeface="+mn-cs"/>
                <a:sym typeface="+mn-ea"/>
              </a:rPr>
              <a:t>Premodifiers</a:t>
            </a:r>
            <a:endParaRPr lang="zh-CN" altLang="en-US" dirty="0"/>
          </a:p>
        </p:txBody>
      </p:sp>
      <p:sp>
        <p:nvSpPr>
          <p:cNvPr id="28675" name="内容占位符 2"/>
          <p:cNvSpPr>
            <a:spLocks noGrp="1"/>
          </p:cNvSpPr>
          <p:nvPr>
            <p:ph idx="1"/>
          </p:nvPr>
        </p:nvSpPr>
        <p:spPr>
          <a:xfrm>
            <a:off x="2063750" y="1196975"/>
            <a:ext cx="8229600" cy="4525963"/>
          </a:xfrm>
        </p:spPr>
        <p:txBody>
          <a:bodyPr vert="horz" wrap="square" lIns="91440" tIns="45720" rIns="91440" bIns="45720" anchor="t"/>
          <a:lstStyle/>
          <a:p>
            <a:r>
              <a:rPr lang="en-US" altLang="zh-CN">
                <a:solidFill>
                  <a:srgbClr val="FF0000"/>
                </a:solidFill>
                <a:sym typeface="+mn-ea"/>
              </a:rPr>
              <a:t>number + noun</a:t>
            </a:r>
            <a:endParaRPr lang="en-US" altLang="zh-CN">
              <a:solidFill>
                <a:srgbClr val="FF0000"/>
              </a:solidFill>
              <a:sym typeface="+mn-ea"/>
            </a:endParaRPr>
          </a:p>
          <a:p>
            <a:r>
              <a:rPr lang="en-US" altLang="zh-CN">
                <a:sym typeface="+mn-ea"/>
              </a:rPr>
              <a:t>100-meter dash, one-man government, one-way traffic, two-day summit</a:t>
            </a:r>
            <a:endParaRPr lang="en-US" altLang="zh-CN">
              <a:sym typeface="+mn-ea"/>
            </a:endParaRPr>
          </a:p>
          <a:p>
            <a:r>
              <a:rPr lang="en-US" altLang="zh-CN">
                <a:solidFill>
                  <a:srgbClr val="FF0000"/>
                </a:solidFill>
                <a:sym typeface="+mn-ea"/>
              </a:rPr>
              <a:t> </a:t>
            </a:r>
            <a:r>
              <a:rPr lang="en-US" altLang="zh-CN">
                <a:solidFill>
                  <a:srgbClr val="FF0000"/>
                </a:solidFill>
                <a:sym typeface="+mn-ea"/>
              </a:rPr>
              <a:t>(</a:t>
            </a:r>
            <a:r>
              <a:rPr lang="en-US" altLang="zh-CN" err="1">
                <a:solidFill>
                  <a:srgbClr val="FF0000"/>
                </a:solidFill>
                <a:sym typeface="+mn-ea"/>
              </a:rPr>
              <a:t>adj+ past participle)</a:t>
            </a:r>
            <a:endParaRPr lang="en-US" altLang="zh-CN">
              <a:solidFill>
                <a:srgbClr val="FF0000"/>
              </a:solidFill>
            </a:endParaRPr>
          </a:p>
          <a:p>
            <a:r>
              <a:rPr lang="en-US" altLang="zh-CN" err="1"/>
              <a:t>deep-rooted social and economic problems, foreign-owned enterprise, quick-frozen food </a:t>
            </a:r>
            <a:endParaRPr lang="en-US" altLang="zh-CN" err="1">
              <a:solidFill>
                <a:srgbClr val="FF0000"/>
              </a:solidFill>
              <a:sym typeface="+mn-ea"/>
            </a:endParaRPr>
          </a:p>
          <a:p>
            <a:r>
              <a:rPr lang="en-US" altLang="zh-CN">
                <a:solidFill>
                  <a:srgbClr val="FF0000"/>
                </a:solidFill>
                <a:sym typeface="+mn-ea"/>
              </a:rPr>
              <a:t> (</a:t>
            </a:r>
            <a:r>
              <a:rPr lang="en-US" altLang="zh-CN" err="1">
                <a:solidFill>
                  <a:srgbClr val="FF0000"/>
                </a:solidFill>
                <a:sym typeface="+mn-ea"/>
              </a:rPr>
              <a:t>adj+ noun)</a:t>
            </a:r>
            <a:endParaRPr lang="en-US" altLang="zh-CN">
              <a:solidFill>
                <a:srgbClr val="FF0000"/>
              </a:solidFill>
            </a:endParaRPr>
          </a:p>
          <a:p>
            <a:r>
              <a:rPr lang="en-US" altLang="zh-CN" err="1"/>
              <a:t>open-door policy, red-carpet welcome, long-term low-interest loan</a:t>
            </a:r>
            <a:endParaRPr lang="en-US" altLang="zh-CN" err="1"/>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vert="horz" wrap="square" lIns="91440" tIns="45720" rIns="91440" bIns="45720" anchor="ctr"/>
          <a:lstStyle/>
          <a:p>
            <a:r>
              <a:rPr lang="en-US" altLang="zh-CN">
                <a:solidFill>
                  <a:srgbClr val="FF0000"/>
                </a:solidFill>
                <a:latin typeface="+mn-lt"/>
                <a:ea typeface="+mn-ea"/>
                <a:cs typeface="+mn-cs"/>
                <a:sym typeface="+mn-ea"/>
              </a:rPr>
              <a:t>Premodifiers</a:t>
            </a:r>
            <a:endParaRPr lang="zh-CN" altLang="en-US" dirty="0"/>
          </a:p>
        </p:txBody>
      </p:sp>
      <p:sp>
        <p:nvSpPr>
          <p:cNvPr id="28675" name="内容占位符 2"/>
          <p:cNvSpPr>
            <a:spLocks noGrp="1"/>
          </p:cNvSpPr>
          <p:nvPr>
            <p:ph idx="1"/>
          </p:nvPr>
        </p:nvSpPr>
        <p:spPr>
          <a:xfrm>
            <a:off x="2063750" y="1196975"/>
            <a:ext cx="8229600" cy="4525963"/>
          </a:xfrm>
        </p:spPr>
        <p:txBody>
          <a:bodyPr vert="horz" wrap="square" lIns="91440" tIns="45720" rIns="91440" bIns="45720" anchor="t">
            <a:normAutofit lnSpcReduction="20000"/>
          </a:bodyPr>
          <a:lstStyle/>
          <a:p>
            <a:r>
              <a:rPr lang="en-US" altLang="zh-CN" sz="2800">
                <a:solidFill>
                  <a:srgbClr val="FF0000"/>
                </a:solidFill>
                <a:sym typeface="+mn-ea"/>
              </a:rPr>
              <a:t>(adj. + present participle)</a:t>
            </a:r>
            <a:endParaRPr lang="en-US" altLang="zh-CN" sz="2800" dirty="0">
              <a:solidFill>
                <a:srgbClr val="FF0000"/>
              </a:solidFill>
            </a:endParaRPr>
          </a:p>
          <a:p>
            <a:r>
              <a:rPr lang="en-US" altLang="zh-CN" sz="2800">
                <a:sym typeface="+mn-ea"/>
              </a:rPr>
              <a:t>High-rankng offical, long-standing issue, wide-spreading Covid-19 virus </a:t>
            </a:r>
            <a:endParaRPr lang="en-US" altLang="zh-CN" sz="2800">
              <a:sym typeface="+mn-ea"/>
            </a:endParaRPr>
          </a:p>
          <a:p>
            <a:r>
              <a:rPr lang="en-US" altLang="zh-CN" sz="2800">
                <a:solidFill>
                  <a:srgbClr val="FF0000"/>
                </a:solidFill>
                <a:sym typeface="+mn-ea"/>
              </a:rPr>
              <a:t>(V+and+V, adv+and+adv)</a:t>
            </a:r>
            <a:endParaRPr lang="en-US" altLang="zh-CN" sz="2800">
              <a:solidFill>
                <a:srgbClr val="FF0000"/>
              </a:solidFill>
            </a:endParaRPr>
          </a:p>
          <a:p>
            <a:r>
              <a:rPr lang="en-US" altLang="zh-CN" sz="2800"/>
              <a:t>Wait-and-see policy, touch-and-go tension, off-and-on war</a:t>
            </a:r>
            <a:r>
              <a:rPr lang="en-US" altLang="zh-CN" sz="2800">
                <a:solidFill>
                  <a:srgbClr val="FF0000"/>
                </a:solidFill>
              </a:rPr>
              <a:t> </a:t>
            </a:r>
            <a:r>
              <a:rPr lang="en-US" altLang="zh-CN" sz="2800"/>
              <a:t>Shorter-than-usual-time summit conference, the Be-kind-to-Animal campaign</a:t>
            </a:r>
            <a:r>
              <a:rPr lang="en-US" altLang="zh-CN" sz="2800">
                <a:solidFill>
                  <a:srgbClr val="FF0000"/>
                </a:solidFill>
              </a:rPr>
              <a:t> </a:t>
            </a:r>
            <a:endParaRPr lang="en-US" altLang="zh-CN" sz="2800">
              <a:solidFill>
                <a:srgbClr val="FF0000"/>
              </a:solidFill>
            </a:endParaRPr>
          </a:p>
          <a:p>
            <a:r>
              <a:rPr lang="en-US" altLang="zh-CN" sz="2800" dirty="0">
                <a:solidFill>
                  <a:srgbClr val="FF0000"/>
                </a:solidFill>
              </a:rPr>
              <a:t>long phrase or sentence with complete meaning</a:t>
            </a:r>
            <a:endParaRPr lang="en-US" altLang="zh-CN" sz="2800" dirty="0">
              <a:solidFill>
                <a:srgbClr val="FF0000"/>
              </a:solidFill>
            </a:endParaRPr>
          </a:p>
          <a:p>
            <a:r>
              <a:rPr lang="en-US" altLang="zh-CN" sz="2800"/>
              <a:t>all-dimensional, multi-layer and wide-ranging patern of opening up, no-one-dared-to-walk-in-the-street-standstill.</a:t>
            </a:r>
            <a:endParaRPr lang="en-US" altLang="zh-CN" sz="280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4000" b="1" dirty="0" smtClean="0">
                <a:latin typeface="+mn-lt"/>
                <a:cs typeface="Times New Roman" panose="02020603050405020304" pitchFamily="18" charset="0"/>
              </a:rPr>
              <a:t>Language features of news (</a:t>
            </a:r>
            <a:r>
              <a:rPr lang="en-US" altLang="zh-CN" sz="4000" b="1" dirty="0">
                <a:latin typeface="+mn-lt"/>
                <a:cs typeface="Times New Roman" panose="02020603050405020304" pitchFamily="18" charset="0"/>
              </a:rPr>
              <a:t>structure</a:t>
            </a:r>
            <a:r>
              <a:rPr lang="en-US" altLang="zh-CN" sz="4000" b="1" dirty="0" smtClean="0">
                <a:latin typeface="+mn-lt"/>
                <a:cs typeface="Times New Roman" panose="02020603050405020304" pitchFamily="18" charset="0"/>
              </a:rPr>
              <a:t>) </a:t>
            </a:r>
            <a:endParaRPr lang="zh-CN" altLang="en-US" sz="4000" b="1" dirty="0">
              <a:latin typeface="+mn-lt"/>
              <a:cs typeface="Times New Roman" panose="02020603050405020304" pitchFamily="18" charset="0"/>
            </a:endParaRPr>
          </a:p>
        </p:txBody>
      </p:sp>
      <p:sp>
        <p:nvSpPr>
          <p:cNvPr id="3" name="内容占位符 2"/>
          <p:cNvSpPr>
            <a:spLocks noGrp="1"/>
          </p:cNvSpPr>
          <p:nvPr>
            <p:ph idx="1"/>
          </p:nvPr>
        </p:nvSpPr>
        <p:spPr>
          <a:xfrm>
            <a:off x="647700" y="1584960"/>
            <a:ext cx="10515600" cy="4592320"/>
          </a:xfrm>
        </p:spPr>
        <p:txBody>
          <a:bodyPr>
            <a:normAutofit/>
          </a:bodyPr>
          <a:lstStyle/>
          <a:p>
            <a:r>
              <a:rPr lang="en-US" sz="2400" b="1" dirty="0" smtClean="0">
                <a:latin typeface="+mn-lt"/>
                <a:cs typeface="Times New Roman" panose="02020603050405020304" pitchFamily="18" charset="0"/>
              </a:rPr>
              <a:t>Headline</a:t>
            </a:r>
            <a:r>
              <a:rPr lang="zh-CN" altLang="en-US" sz="2400" b="1" dirty="0" smtClean="0">
                <a:latin typeface="+mn-lt"/>
                <a:cs typeface="Times New Roman" panose="02020603050405020304" pitchFamily="18" charset="0"/>
              </a:rPr>
              <a:t>（标题）</a:t>
            </a:r>
            <a:r>
              <a:rPr lang="en-US" sz="2400" b="1" dirty="0" smtClean="0">
                <a:latin typeface="+mn-lt"/>
                <a:cs typeface="Times New Roman" panose="02020603050405020304" pitchFamily="18" charset="0"/>
              </a:rPr>
              <a:t>: </a:t>
            </a:r>
            <a:r>
              <a:rPr lang="en-US" sz="2400" dirty="0" smtClean="0">
                <a:latin typeface="+mn-lt"/>
                <a:cs typeface="Times New Roman" panose="02020603050405020304" pitchFamily="18" charset="0"/>
              </a:rPr>
              <a:t>The Headline is the title of the article which is made up of 10 words or less. This title has two purposes: to introduce the topic of the article and to capture the readers’ interest, usually through controversial wording.</a:t>
            </a:r>
            <a:endParaRPr lang="en-US" sz="2400" dirty="0" smtClean="0">
              <a:latin typeface="+mn-lt"/>
              <a:cs typeface="Times New Roman" panose="02020603050405020304" pitchFamily="18" charset="0"/>
            </a:endParaRPr>
          </a:p>
          <a:p>
            <a:r>
              <a:rPr lang="en-US" sz="2400" b="1" dirty="0" smtClean="0">
                <a:cs typeface="Times New Roman" panose="02020603050405020304" pitchFamily="18" charset="0"/>
                <a:sym typeface="+mn-ea"/>
              </a:rPr>
              <a:t>Subheading</a:t>
            </a:r>
            <a:r>
              <a:rPr lang="zh-CN" altLang="en-US" sz="2400" b="1" dirty="0" smtClean="0">
                <a:cs typeface="Times New Roman" panose="02020603050405020304" pitchFamily="18" charset="0"/>
                <a:sym typeface="+mn-ea"/>
              </a:rPr>
              <a:t>（副标题）</a:t>
            </a:r>
            <a:r>
              <a:rPr lang="en-US" sz="2400" b="1" dirty="0" smtClean="0">
                <a:cs typeface="Times New Roman" panose="02020603050405020304" pitchFamily="18" charset="0"/>
                <a:sym typeface="+mn-ea"/>
              </a:rPr>
              <a:t>: </a:t>
            </a:r>
            <a:r>
              <a:rPr lang="en-US" sz="2400" dirty="0" smtClean="0">
                <a:cs typeface="Times New Roman" panose="02020603050405020304" pitchFamily="18" charset="0"/>
                <a:sym typeface="+mn-ea"/>
              </a:rPr>
              <a:t>The Subheading, which is not always included in an article, expands upon the Headline’s content, if needed. </a:t>
            </a:r>
            <a:endParaRPr lang="en-US" sz="2400" dirty="0" smtClean="0">
              <a:latin typeface="+mn-lt"/>
              <a:cs typeface="Times New Roman" panose="02020603050405020304" pitchFamily="18" charset="0"/>
            </a:endParaRPr>
          </a:p>
          <a:p>
            <a:r>
              <a:rPr lang="en-US" sz="2400" b="1" dirty="0" smtClean="0">
                <a:cs typeface="Times New Roman" panose="02020603050405020304" pitchFamily="18" charset="0"/>
                <a:sym typeface="+mn-ea"/>
              </a:rPr>
              <a:t>By-line</a:t>
            </a:r>
            <a:r>
              <a:rPr lang="zh-CN" altLang="en-US" sz="2400" b="1" dirty="0" smtClean="0">
                <a:cs typeface="Times New Roman" panose="02020603050405020304" pitchFamily="18" charset="0"/>
                <a:sym typeface="+mn-ea"/>
              </a:rPr>
              <a:t>（作者署名）</a:t>
            </a:r>
            <a:r>
              <a:rPr lang="en-US" sz="2400" b="1" dirty="0" smtClean="0">
                <a:cs typeface="Times New Roman" panose="02020603050405020304" pitchFamily="18" charset="0"/>
                <a:sym typeface="+mn-ea"/>
              </a:rPr>
              <a:t>: </a:t>
            </a:r>
            <a:r>
              <a:rPr lang="en-US" sz="2400" dirty="0" smtClean="0">
                <a:cs typeface="Times New Roman" panose="02020603050405020304" pitchFamily="18" charset="0"/>
                <a:sym typeface="+mn-ea"/>
              </a:rPr>
              <a:t>The by-line includes the article’s author’s name, and sometimes that person’s occupation.</a:t>
            </a:r>
            <a:endParaRPr lang="zh-CN" altLang="en-US" sz="2400" dirty="0">
              <a:latin typeface="+mn-lt"/>
              <a:cs typeface="Times New Roman" panose="02020603050405020304" pitchFamily="18" charset="0"/>
            </a:endParaRPr>
          </a:p>
          <a:p>
            <a:r>
              <a:rPr lang="en-US" sz="2400" b="1" dirty="0" smtClean="0">
                <a:cs typeface="Times New Roman" panose="02020603050405020304" pitchFamily="18" charset="0"/>
                <a:sym typeface="+mn-ea"/>
              </a:rPr>
              <a:t>Summary Lead</a:t>
            </a:r>
            <a:r>
              <a:rPr lang="zh-CN" altLang="en-US" sz="2400" b="1" dirty="0" smtClean="0">
                <a:cs typeface="Times New Roman" panose="02020603050405020304" pitchFamily="18" charset="0"/>
                <a:sym typeface="+mn-ea"/>
              </a:rPr>
              <a:t>（导语）</a:t>
            </a:r>
            <a:r>
              <a:rPr lang="en-US" sz="2400" b="1" dirty="0" smtClean="0">
                <a:cs typeface="Times New Roman" panose="02020603050405020304" pitchFamily="18" charset="0"/>
                <a:sym typeface="+mn-ea"/>
              </a:rPr>
              <a:t>: </a:t>
            </a:r>
            <a:r>
              <a:rPr lang="en-US" sz="2400" dirty="0" smtClean="0">
                <a:cs typeface="Times New Roman" panose="02020603050405020304" pitchFamily="18" charset="0"/>
                <a:sym typeface="+mn-ea"/>
              </a:rPr>
              <a:t>The Summary Lead consists of the first paragraph, the 1-2 sentences consisting of less than 30 words that begin an article. The content of this paragraph consists of the 5WH (who, what where, when, why, and how) of the article. </a:t>
            </a:r>
            <a:endParaRPr lang="zh-CN" altLang="en-US" sz="2400" dirty="0">
              <a:latin typeface="+mn-lt"/>
              <a:cs typeface="Times New Roman" panose="02020603050405020304" pitchFamily="18" charset="0"/>
            </a:endParaRPr>
          </a:p>
          <a:p>
            <a:endParaRPr lang="zh-CN" altLang="en-US" sz="2400" dirty="0">
              <a:latin typeface="+mn-lt"/>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66910" y="714356"/>
            <a:ext cx="8229600" cy="4525963"/>
          </a:xfrm>
        </p:spPr>
        <p:txBody>
          <a:bodyPr>
            <a:normAutofit/>
          </a:bodyPr>
          <a:lstStyle/>
          <a:p>
            <a:r>
              <a:rPr lang="en-US" sz="2400" b="1" dirty="0" smtClean="0">
                <a:latin typeface="+mn-lt"/>
                <a:cs typeface="Times New Roman" panose="02020603050405020304" pitchFamily="18" charset="0"/>
              </a:rPr>
              <a:t>Fact-based Paragraphs: </a:t>
            </a:r>
            <a:r>
              <a:rPr lang="en-US" sz="2400" dirty="0" smtClean="0">
                <a:latin typeface="+mn-lt"/>
                <a:cs typeface="Times New Roman" panose="02020603050405020304" pitchFamily="18" charset="0"/>
              </a:rPr>
              <a:t>The remainder of the article consists of short paragraphs that expand on the 5WH mentioned in the Summary Lead and include quotations from key people involved in or related to the article. The content of these paragraphs is fact-based and organized from most to least important, so that the editor can cut the bottom paragraphs out if needed. </a:t>
            </a:r>
            <a:endParaRPr lang="zh-CN" altLang="en-US" sz="2400" dirty="0">
              <a:latin typeface="+mn-lt"/>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2095472" y="357166"/>
          <a:ext cx="8286750" cy="5984875"/>
        </p:xfrm>
        <a:graphic>
          <a:graphicData uri="http://schemas.openxmlformats.org/drawingml/2006/table">
            <a:tbl>
              <a:tblPr/>
              <a:tblGrid>
                <a:gridCol w="2214245"/>
                <a:gridCol w="6072505"/>
              </a:tblGrid>
              <a:tr h="356235">
                <a:tc>
                  <a:txBody>
                    <a:bodyPr/>
                    <a:lstStyle/>
                    <a:p>
                      <a:pPr algn="ctr">
                        <a:spcAft>
                          <a:spcPts val="0"/>
                        </a:spcAft>
                      </a:pPr>
                      <a:r>
                        <a:rPr lang="en-US" sz="2000" b="1" kern="100" dirty="0">
                          <a:solidFill>
                            <a:srgbClr val="000000"/>
                          </a:solidFill>
                          <a:latin typeface="Times New Roman" panose="02020603050405020304"/>
                          <a:ea typeface="宋体" panose="02010600030101010101" pitchFamily="2" charset="-122"/>
                          <a:cs typeface="Times New Roman" panose="02020603050405020304"/>
                        </a:rPr>
                        <a:t>Element</a:t>
                      </a:r>
                      <a:endParaRPr lang="zh-CN" sz="2000" b="1"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100" dirty="0">
                          <a:solidFill>
                            <a:srgbClr val="000000"/>
                          </a:solidFill>
                          <a:latin typeface="Times New Roman" panose="02020603050405020304"/>
                          <a:ea typeface="宋体" panose="02010600030101010101" pitchFamily="2" charset="-122"/>
                          <a:cs typeface="Times New Roman" panose="02020603050405020304"/>
                        </a:rPr>
                        <a:t>Definition</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13105">
                <a:tc>
                  <a:txBody>
                    <a:bodyPr/>
                    <a:lstStyle/>
                    <a:p>
                      <a:pPr algn="ctr">
                        <a:spcAft>
                          <a:spcPts val="0"/>
                        </a:spcAft>
                      </a:pPr>
                      <a:r>
                        <a:rPr lang="en-US" sz="2000" b="1" kern="100" dirty="0">
                          <a:solidFill>
                            <a:srgbClr val="000000"/>
                          </a:solidFill>
                          <a:latin typeface="Times New Roman" panose="02020603050405020304"/>
                          <a:ea typeface="宋体" panose="02010600030101010101" pitchFamily="2" charset="-122"/>
                          <a:cs typeface="Times New Roman" panose="02020603050405020304"/>
                        </a:rPr>
                        <a:t>Headline</a:t>
                      </a:r>
                      <a:endParaRPr lang="zh-CN" sz="2000" b="1"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Catches your attention </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Sums up the story</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8705">
                <a:tc>
                  <a:txBody>
                    <a:bodyPr/>
                    <a:lstStyle/>
                    <a:p>
                      <a:pPr algn="ctr">
                        <a:spcAft>
                          <a:spcPts val="0"/>
                        </a:spcAft>
                      </a:pPr>
                      <a:r>
                        <a:rPr lang="en-US" sz="2000" b="1" kern="100">
                          <a:latin typeface="Times New Roman" panose="02020603050405020304"/>
                          <a:ea typeface="宋体" panose="02010600030101010101" pitchFamily="2" charset="-122"/>
                          <a:cs typeface="Times New Roman" panose="02020603050405020304"/>
                        </a:rPr>
                        <a:t>byline</a:t>
                      </a:r>
                      <a:endParaRPr lang="zh-CN" sz="2000" b="1" kern="10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Writer’s name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Writer’s Specialty, e.g. sports, food, crime, current </a:t>
                      </a:r>
                      <a:r>
                        <a:rPr lang="en-US" sz="2000" kern="0" dirty="0" smtClean="0">
                          <a:solidFill>
                            <a:srgbClr val="000000"/>
                          </a:solidFill>
                          <a:latin typeface="Times New Roman" panose="02020603050405020304"/>
                          <a:ea typeface="宋体" panose="02010600030101010101" pitchFamily="2" charset="-122"/>
                          <a:cs typeface="Times New Roman" panose="02020603050405020304"/>
                        </a:rPr>
                        <a:t>  </a:t>
                      </a:r>
                      <a:endParaRPr lang="en-US" sz="2000" kern="0" dirty="0" smtClean="0">
                        <a:solidFill>
                          <a:srgbClr val="000000"/>
                        </a:solidFill>
                        <a:latin typeface="Times New Roman" panose="02020603050405020304"/>
                        <a:ea typeface="宋体" panose="02010600030101010101" pitchFamily="2" charset="-122"/>
                        <a:cs typeface="Times New Roman" panose="02020603050405020304"/>
                      </a:endParaRPr>
                    </a:p>
                    <a:p>
                      <a:pPr algn="l">
                        <a:spcAft>
                          <a:spcPts val="0"/>
                        </a:spcAft>
                      </a:pPr>
                      <a:r>
                        <a:rPr lang="en-US" sz="2000" kern="0" dirty="0" smtClean="0">
                          <a:solidFill>
                            <a:srgbClr val="000000"/>
                          </a:solidFill>
                          <a:latin typeface="Times New Roman" panose="02020603050405020304"/>
                          <a:ea typeface="宋体" panose="02010600030101010101" pitchFamily="2" charset="-122"/>
                          <a:cs typeface="Times New Roman" panose="02020603050405020304"/>
                        </a:rPr>
                        <a:t>   events</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algn="ctr">
                        <a:spcAft>
                          <a:spcPts val="0"/>
                        </a:spcAft>
                      </a:pPr>
                      <a:r>
                        <a:rPr lang="en-US" sz="2000" b="1" kern="100" dirty="0" err="1" smtClean="0">
                          <a:solidFill>
                            <a:srgbClr val="000000"/>
                          </a:solidFill>
                          <a:latin typeface="Times New Roman" panose="02020603050405020304"/>
                          <a:ea typeface="宋体" panose="02010600030101010101" pitchFamily="2" charset="-122"/>
                          <a:cs typeface="Times New Roman" panose="02020603050405020304"/>
                        </a:rPr>
                        <a:t>Placeline</a:t>
                      </a:r>
                      <a:r>
                        <a:rPr lang="en-US" sz="2000" b="1" kern="100" dirty="0" smtClean="0">
                          <a:solidFill>
                            <a:srgbClr val="000000"/>
                          </a:solidFill>
                          <a:latin typeface="Times New Roman" panose="02020603050405020304"/>
                          <a:ea typeface="宋体" panose="02010600030101010101" pitchFamily="2" charset="-122"/>
                          <a:cs typeface="Times New Roman" panose="02020603050405020304"/>
                        </a:rPr>
                        <a:t> </a:t>
                      </a:r>
                      <a:endParaRPr lang="en-US" sz="2000" b="1" kern="100" dirty="0" smtClean="0">
                        <a:solidFill>
                          <a:srgbClr val="000000"/>
                        </a:solidFill>
                        <a:latin typeface="Times New Roman" panose="02020603050405020304"/>
                        <a:ea typeface="宋体" panose="02010600030101010101" pitchFamily="2" charset="-122"/>
                        <a:cs typeface="Times New Roman" panose="02020603050405020304"/>
                      </a:endParaRPr>
                    </a:p>
                    <a:p>
                      <a:pPr algn="ctr">
                        <a:spcAft>
                          <a:spcPts val="0"/>
                        </a:spcAft>
                      </a:pPr>
                      <a:r>
                        <a:rPr lang="en-US" altLang="zh-CN" sz="2000" b="1" kern="100" dirty="0" smtClean="0">
                          <a:solidFill>
                            <a:srgbClr val="000000"/>
                          </a:solidFill>
                          <a:latin typeface="Times New Roman" panose="02020603050405020304"/>
                          <a:ea typeface="宋体" panose="02010600030101010101" pitchFamily="2" charset="-122"/>
                          <a:cs typeface="Times New Roman" panose="02020603050405020304"/>
                        </a:rPr>
                        <a:t>(optional)</a:t>
                      </a:r>
                      <a:endParaRPr lang="zh-CN" sz="2000" b="1" kern="100" dirty="0" smtClean="0">
                        <a:solidFill>
                          <a:srgbClr val="000000"/>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 Where the story begins</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8705">
                <a:tc>
                  <a:txBody>
                    <a:bodyPr/>
                    <a:lstStyle/>
                    <a:p>
                      <a:pPr algn="ctr">
                        <a:spcAft>
                          <a:spcPts val="0"/>
                        </a:spcAft>
                      </a:pPr>
                      <a:r>
                        <a:rPr lang="en-US" sz="2000" b="1" kern="100" dirty="0">
                          <a:solidFill>
                            <a:srgbClr val="000000"/>
                          </a:solidFill>
                          <a:latin typeface="Times New Roman" panose="02020603050405020304"/>
                          <a:ea typeface="宋体" panose="02010600030101010101" pitchFamily="2" charset="-122"/>
                          <a:cs typeface="Times New Roman" panose="02020603050405020304"/>
                        </a:rPr>
                        <a:t>Lead</a:t>
                      </a:r>
                      <a:endParaRPr lang="zh-CN" sz="2000" b="1"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The opening section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Gives most important information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Should answer most of the 5W’s</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12470">
                <a:tc>
                  <a:txBody>
                    <a:bodyPr/>
                    <a:lstStyle/>
                    <a:p>
                      <a:pPr algn="ctr">
                        <a:spcAft>
                          <a:spcPts val="0"/>
                        </a:spcAft>
                      </a:pPr>
                      <a:r>
                        <a:rPr lang="en-US" sz="2000" b="1" kern="100">
                          <a:solidFill>
                            <a:srgbClr val="000000"/>
                          </a:solidFill>
                          <a:latin typeface="Times New Roman" panose="02020603050405020304"/>
                          <a:ea typeface="宋体" panose="02010600030101010101" pitchFamily="2" charset="-122"/>
                          <a:cs typeface="Times New Roman" panose="02020603050405020304"/>
                        </a:rPr>
                        <a:t>Body</a:t>
                      </a:r>
                      <a:endParaRPr lang="zh-CN" sz="2000" b="1" kern="10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Supplies detail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Most important details come first</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235">
                <a:tc>
                  <a:txBody>
                    <a:bodyPr/>
                    <a:lstStyle/>
                    <a:p>
                      <a:pPr algn="ctr">
                        <a:spcAft>
                          <a:spcPts val="0"/>
                        </a:spcAft>
                      </a:pPr>
                      <a:r>
                        <a:rPr lang="en-US" sz="2000" b="1" kern="100">
                          <a:solidFill>
                            <a:srgbClr val="000000"/>
                          </a:solidFill>
                          <a:latin typeface="Times New Roman" panose="02020603050405020304"/>
                          <a:ea typeface="宋体" panose="02010600030101010101" pitchFamily="2" charset="-122"/>
                          <a:cs typeface="Times New Roman" panose="02020603050405020304"/>
                        </a:rPr>
                        <a:t>Facts</a:t>
                      </a:r>
                      <a:endParaRPr lang="zh-CN" sz="2000" b="1" kern="10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 Simple true statements</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9340">
                <a:tc>
                  <a:txBody>
                    <a:bodyPr/>
                    <a:lstStyle/>
                    <a:p>
                      <a:pPr algn="ctr">
                        <a:spcAft>
                          <a:spcPts val="0"/>
                        </a:spcAft>
                      </a:pPr>
                      <a:r>
                        <a:rPr lang="en-US" sz="2000" b="1" kern="100" dirty="0">
                          <a:solidFill>
                            <a:srgbClr val="000000"/>
                          </a:solidFill>
                          <a:latin typeface="Times New Roman" panose="02020603050405020304"/>
                          <a:ea typeface="宋体" panose="02010600030101010101" pitchFamily="2" charset="-122"/>
                          <a:cs typeface="Times New Roman" panose="02020603050405020304"/>
                        </a:rPr>
                        <a:t>Quotation</a:t>
                      </a:r>
                      <a:endParaRPr lang="zh-CN" sz="2000" b="1"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What someone actually said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Adds accuracy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Adds “at the scene” feeling</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What is a Feature?"/>
          <p:cNvSpPr txBox="1"/>
          <p:nvPr>
            <p:ph type="title"/>
          </p:nvPr>
        </p:nvSpPr>
        <p:spPr>
          <a:prstGeom prst="rect">
            <a:avLst/>
          </a:prstGeom>
        </p:spPr>
        <p:txBody>
          <a:bodyPr/>
          <a:lstStyle/>
          <a:p>
            <a:r>
              <a:t>What is a Feature?</a:t>
            </a:r>
          </a:p>
        </p:txBody>
      </p:sp>
      <p:sp>
        <p:nvSpPr>
          <p:cNvPr id="197" name="A feature story is all about the details: painting a picture of a person, event, or place on the written page so your topic becomes alive to the reader. They allow a writer to be creative. It's not just about facts; feature stories are more about storyte"/>
          <p:cNvSpPr txBox="1"/>
          <p:nvPr>
            <p:ph type="body" idx="1"/>
          </p:nvPr>
        </p:nvSpPr>
        <p:spPr>
          <a:xfrm>
            <a:off x="736600" y="1949450"/>
            <a:ext cx="10718800" cy="1549400"/>
          </a:xfrm>
          <a:prstGeom prst="rect">
            <a:avLst/>
          </a:prstGeom>
        </p:spPr>
        <p:txBody>
          <a:bodyPr>
            <a:noAutofit/>
          </a:bodyPr>
          <a:lstStyle>
            <a:lvl1pPr marL="0" indent="0" defTabSz="457200">
              <a:spcBef>
                <a:spcPts val="0"/>
              </a:spcBef>
              <a:buSzTx/>
              <a:buNone/>
              <a:defRPr sz="4400">
                <a:solidFill>
                  <a:srgbClr val="02020B"/>
                </a:solidFill>
                <a:latin typeface="Arial" panose="020B0604020202020204"/>
                <a:ea typeface="Arial" panose="020B0604020202020204"/>
                <a:cs typeface="Arial" panose="020B0604020202020204"/>
                <a:sym typeface="Arial" panose="020B0604020202020204"/>
              </a:defRPr>
            </a:lvl1pPr>
          </a:lstStyle>
          <a:p>
            <a:r>
              <a:rPr sz="3300"/>
              <a:t>A feature story is all about the details: painting a picture of a person, event, or place on the written page so your topic becomes alive to the reader. They allow a writer to be creative. It's not just about facts; feature stories are more about storytelling and weaving an interesting narrative.</a:t>
            </a:r>
            <a:endParaRPr sz="3300"/>
          </a:p>
        </p:txBody>
      </p:sp>
    </p:spTree>
    <p:custDataLst>
      <p:tags r:id="rId1"/>
    </p:custData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7">
                                            <p:txEl>
                                              <p:pRg st="0" end="0"/>
                                            </p:txEl>
                                          </p:spTgt>
                                        </p:tgtEl>
                                        <p:attrNameLst>
                                          <p:attrName>style.visibility</p:attrName>
                                        </p:attrNameLst>
                                      </p:cBhvr>
                                      <p:to>
                                        <p:strVal val="visible"/>
                                      </p:to>
                                    </p:set>
                                    <p:animEffect transition="in" filter="blinds(horizontal)">
                                      <p:cBhvr>
                                        <p:cTn id="7" dur="500"/>
                                        <p:tgtEl>
                                          <p:spTgt spid="1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Types of Features"/>
          <p:cNvSpPr txBox="1"/>
          <p:nvPr>
            <p:ph type="title"/>
          </p:nvPr>
        </p:nvSpPr>
        <p:spPr>
          <a:prstGeom prst="rect">
            <a:avLst/>
          </a:prstGeom>
        </p:spPr>
        <p:txBody>
          <a:bodyPr/>
          <a:lstStyle/>
          <a:p>
            <a:r>
              <a:t>Types of Features </a:t>
            </a:r>
          </a:p>
        </p:txBody>
      </p:sp>
      <p:sp>
        <p:nvSpPr>
          <p:cNvPr id="200" name="News Feature…"/>
          <p:cNvSpPr txBox="1"/>
          <p:nvPr>
            <p:ph type="body" idx="1"/>
          </p:nvPr>
        </p:nvSpPr>
        <p:spPr>
          <a:prstGeom prst="rect">
            <a:avLst/>
          </a:prstGeom>
        </p:spPr>
        <p:txBody>
          <a:bodyPr>
            <a:normAutofit fontScale="50000"/>
          </a:bodyPr>
          <a:lstStyle/>
          <a:p>
            <a:pPr marL="788670" indent="-788670" defTabSz="457200">
              <a:spcBef>
                <a:spcPts val="0"/>
              </a:spcBef>
              <a:buSzPct val="100000"/>
              <a:buChar char="•"/>
              <a:defRPr sz="6900" b="1">
                <a:solidFill>
                  <a:srgbClr val="282828"/>
                </a:solidFill>
                <a:latin typeface="Helvetica"/>
                <a:ea typeface="Helvetica"/>
                <a:cs typeface="Helvetica"/>
                <a:sym typeface="Helvetica"/>
              </a:defRPr>
            </a:pPr>
            <a:r>
              <a:t>News Feature</a:t>
            </a:r>
            <a:r>
              <a:rPr lang="zh-CN"/>
              <a:t>新闻特写</a:t>
            </a:r>
            <a:endParaRPr lang="zh-CN"/>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Profile</a:t>
            </a:r>
            <a:r>
              <a:rPr>
                <a:sym typeface="+mn-ea"/>
              </a:rPr>
              <a:t>人物特写</a:t>
            </a:r>
            <a:endParaRPr>
              <a:sym typeface="+mn-ea"/>
            </a:endParaRP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Spot Feature</a:t>
            </a:r>
            <a:r>
              <a:rPr lang="zh-CN" altLang="en-US">
                <a:ea typeface="宋体" panose="02010600030101010101" pitchFamily="2" charset="-122"/>
              </a:rPr>
              <a:t>：</a:t>
            </a:r>
            <a:r>
              <a:rPr sz="1800"/>
              <a:t> produced on deadline that focus on a breaking news event. They are often used as sidebars to the mainbar, the deadline news story about an event.</a:t>
            </a:r>
            <a:endParaRPr sz="1800"/>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Trend</a:t>
            </a:r>
            <a:r>
              <a:rPr lang="zh-CN" altLang="en-US">
                <a:ea typeface="宋体" panose="02010600030101010101" pitchFamily="2" charset="-122"/>
              </a:rPr>
              <a:t>：</a:t>
            </a:r>
            <a:r>
              <a:rPr sz="1800"/>
              <a:t>explore trends such as a new look in women's fall fashions, a website or tech gadget that everyone's going nuts over, an indie band attracting a cult following, or a show on an obscure cable channel that's suddenly hot.</a:t>
            </a:r>
            <a:endParaRPr sz="1800"/>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Live-In</a:t>
            </a:r>
            <a:r>
              <a:rPr lang="zh-CN">
                <a:ea typeface="宋体" panose="02010600030101010101" pitchFamily="2" charset="-122"/>
              </a:rPr>
              <a:t>：</a:t>
            </a:r>
            <a:r>
              <a:rPr lang="en-US" altLang="zh-CN">
                <a:ea typeface="宋体" panose="02010600030101010101" pitchFamily="2" charset="-122"/>
              </a:rPr>
              <a:t>  </a:t>
            </a:r>
            <a:r>
              <a:rPr sz="1800"/>
              <a:t>an in-depth, often magazine-length article that paints a picture of a particular place and the people who work or live there.</a:t>
            </a:r>
            <a:endParaRPr sz="1800"/>
          </a:p>
          <a:p>
            <a:pPr marL="788670" indent="-788670" defTabSz="457200">
              <a:spcBef>
                <a:spcPts val="0"/>
              </a:spcBef>
              <a:buSzPct val="100000"/>
              <a:buChar char="•"/>
              <a:defRPr sz="6900" b="1">
                <a:solidFill>
                  <a:srgbClr val="282828"/>
                </a:solidFill>
                <a:latin typeface="Helvetica"/>
                <a:ea typeface="Helvetica"/>
                <a:cs typeface="Helvetica"/>
                <a:sym typeface="Helvetica"/>
              </a:defRPr>
            </a:pPr>
            <a:endParaRPr sz="1800"/>
          </a:p>
          <a:p>
            <a:pPr marL="788670" indent="-788670" defTabSz="457200">
              <a:spcBef>
                <a:spcPts val="0"/>
              </a:spcBef>
              <a:buSzPct val="100000"/>
              <a:buChar char="•"/>
              <a:defRPr sz="6900" b="1">
                <a:solidFill>
                  <a:srgbClr val="282828"/>
                </a:solidFill>
                <a:latin typeface="Helvetica"/>
                <a:ea typeface="Helvetica"/>
                <a:cs typeface="Helvetica"/>
                <a:sym typeface="Helvetica"/>
              </a:defRPr>
            </a:pPr>
            <a:endParaRPr sz="1800"/>
          </a:p>
          <a:p>
            <a:pPr marL="0" indent="0" defTabSz="457200">
              <a:spcBef>
                <a:spcPts val="0"/>
              </a:spcBef>
              <a:buSzTx/>
              <a:buNone/>
              <a:defRPr sz="4400">
                <a:solidFill>
                  <a:srgbClr val="02020B"/>
                </a:solidFill>
                <a:latin typeface="Arial" panose="020B0604020202020204"/>
                <a:ea typeface="Arial" panose="020B0604020202020204"/>
                <a:cs typeface="Arial" panose="020B0604020202020204"/>
                <a:sym typeface="Arial" panose="020B0604020202020204"/>
              </a:defRPr>
            </a:pPr>
            <a:r>
              <a:rPr u="sng"/>
              <a:t>https://www.thoughtco.com/different-kinds-of-feature-stories-you-can-write-2074322</a:t>
            </a:r>
            <a:endParaRPr u="sng"/>
          </a:p>
        </p:txBody>
      </p:sp>
    </p:spTree>
    <p:custDataLst>
      <p:tags r:id="rId1"/>
    </p:custDataLst>
  </p:cSld>
  <p:clrMapOvr>
    <a:overrideClrMapping bg1="lt1" tx1="dk1" bg2="lt2" tx2="dk2" accent1="accent1" accent2="accent2" accent3="accent3" accent4="accent4" accent5="accent5" accent6="accent6" hlink="hlink" folHlink="folHlink"/>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ypes of Features"/>
          <p:cNvSpPr txBox="1"/>
          <p:nvPr>
            <p:ph type="title"/>
          </p:nvPr>
        </p:nvSpPr>
        <p:spPr>
          <a:prstGeom prst="rect">
            <a:avLst/>
          </a:prstGeom>
        </p:spPr>
        <p:txBody>
          <a:bodyPr/>
          <a:lstStyle/>
          <a:p>
            <a:r>
              <a:t>Types of Features </a:t>
            </a:r>
          </a:p>
        </p:txBody>
      </p:sp>
      <p:sp>
        <p:nvSpPr>
          <p:cNvPr id="203" name="人物特写Profile…"/>
          <p:cNvSpPr txBox="1"/>
          <p:nvPr>
            <p:ph type="body" idx="1"/>
          </p:nvPr>
        </p:nvSpPr>
        <p:spPr>
          <a:xfrm>
            <a:off x="914672" y="1946275"/>
            <a:ext cx="10718801" cy="4019550"/>
          </a:xfrm>
          <a:prstGeom prst="rect">
            <a:avLst/>
          </a:prstGeom>
        </p:spPr>
        <p:txBody>
          <a:bodyPr>
            <a:normAutofit fontScale="70000"/>
          </a:bodyPr>
          <a:lstStyle/>
          <a:p>
            <a:pPr marL="788670" indent="-788670" defTabSz="457200">
              <a:spcBef>
                <a:spcPts val="0"/>
              </a:spcBef>
              <a:buSzPct val="100000"/>
              <a:buChar char="•"/>
              <a:defRPr sz="6900" b="1">
                <a:solidFill>
                  <a:srgbClr val="282828"/>
                </a:solidFill>
                <a:latin typeface="Helvetica"/>
                <a:ea typeface="Helvetica"/>
                <a:cs typeface="Helvetica"/>
                <a:sym typeface="Helvetica"/>
              </a:defRPr>
            </a:pPr>
            <a:r>
              <a:t>事件特写WHAT-feature</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旅游特写locality feature; travelogue</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亲历特写personal experience feature; eyewitness  account; eye-account; I-account</a:t>
            </a:r>
          </a:p>
          <a:p>
            <a:pPr marL="0" indent="0" defTabSz="457200">
              <a:spcBef>
                <a:spcPts val="0"/>
              </a:spcBef>
              <a:buSzTx/>
              <a:buNone/>
              <a:defRPr sz="4400">
                <a:solidFill>
                  <a:srgbClr val="02020B"/>
                </a:solidFill>
                <a:latin typeface="Arial" panose="020B0604020202020204"/>
                <a:ea typeface="Arial" panose="020B0604020202020204"/>
                <a:cs typeface="Arial" panose="020B0604020202020204"/>
                <a:sym typeface="Arial" panose="020B0604020202020204"/>
              </a:defRPr>
            </a:pPr>
            <a:r>
              <a:rPr u="sng"/>
              <a:t> </a:t>
            </a:r>
            <a:endParaRPr u="sng"/>
          </a:p>
        </p:txBody>
      </p:sp>
    </p:spTree>
    <p:custDataLst>
      <p:tags r:id="rId1"/>
    </p:custDataLst>
  </p:cSld>
  <p:clrMapOvr>
    <a:overrideClrMapping bg1="lt1" tx1="dk1" bg2="lt2" tx2="dk2" accent1="accent1" accent2="accent2" accent3="accent3" accent4="accent4" accent5="accent5" accent6="accent6" hlink="hlink" folHlink="folHlink"/>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Definitions of Features"/>
          <p:cNvSpPr txBox="1"/>
          <p:nvPr>
            <p:ph type="title"/>
          </p:nvPr>
        </p:nvSpPr>
        <p:spPr>
          <a:prstGeom prst="rect">
            <a:avLst/>
          </a:prstGeom>
        </p:spPr>
        <p:txBody>
          <a:bodyPr/>
          <a:lstStyle/>
          <a:p>
            <a:r>
              <a:t>Definitions of Features </a:t>
            </a:r>
          </a:p>
        </p:txBody>
      </p:sp>
      <p:sp>
        <p:nvSpPr>
          <p:cNvPr id="206" name="A news feature is a type of feature story written in the style of a news article. It tackles a topic with painstaking detail and requires facts and research to back the story.…"/>
          <p:cNvSpPr txBox="1"/>
          <p:nvPr>
            <p:ph type="body" idx="1"/>
          </p:nvPr>
        </p:nvSpPr>
        <p:spPr>
          <a:xfrm>
            <a:off x="635000" y="1535113"/>
            <a:ext cx="10718800" cy="3502025"/>
          </a:xfrm>
          <a:prstGeom prst="rect">
            <a:avLst/>
          </a:prstGeom>
        </p:spPr>
        <p:txBody>
          <a:bodyPr>
            <a:noAutofit/>
          </a:bodyPr>
          <a:lstStyle/>
          <a:p>
            <a:pPr marL="0" indent="0" defTabSz="457200">
              <a:spcBef>
                <a:spcPts val="0"/>
              </a:spcBef>
              <a:buSzTx/>
              <a:buNone/>
              <a:defRPr sz="4400">
                <a:solidFill>
                  <a:srgbClr val="02020B"/>
                </a:solidFill>
                <a:latin typeface="Arial" panose="020B0604020202020204"/>
                <a:ea typeface="Arial" panose="020B0604020202020204"/>
                <a:cs typeface="Arial" panose="020B0604020202020204"/>
                <a:sym typeface="Arial" panose="020B0604020202020204"/>
              </a:defRPr>
            </a:pPr>
            <a:r>
              <a:rPr sz="3000" b="1"/>
              <a:t>A news feature is a type of feature story written in the style of a news article.</a:t>
            </a:r>
            <a:r>
              <a:rPr sz="3000"/>
              <a:t> It tackles a topic with painstaking detail and requires facts and research to back the story.</a:t>
            </a:r>
            <a:endParaRPr sz="3000"/>
          </a:p>
          <a:p>
            <a:pPr marL="0" indent="0" defTabSz="457200">
              <a:spcBef>
                <a:spcPts val="0"/>
              </a:spcBef>
              <a:buSzTx/>
              <a:buNone/>
              <a:defRPr sz="3200">
                <a:solidFill>
                  <a:srgbClr val="02020B"/>
                </a:solidFill>
                <a:latin typeface="Arial" panose="020B0604020202020204"/>
                <a:ea typeface="Arial" panose="020B0604020202020204"/>
                <a:cs typeface="Arial" panose="020B0604020202020204"/>
                <a:sym typeface="Arial" panose="020B0604020202020204"/>
              </a:defRPr>
            </a:pPr>
            <a:endParaRPr sz="3000" u="sng">
              <a:sym typeface="+mn-ea"/>
            </a:endParaRPr>
          </a:p>
          <a:p>
            <a:pPr marL="0" indent="0" defTabSz="457200">
              <a:spcBef>
                <a:spcPts val="0"/>
              </a:spcBef>
              <a:buSzTx/>
              <a:buNone/>
              <a:defRPr sz="3200">
                <a:solidFill>
                  <a:srgbClr val="02020B"/>
                </a:solidFill>
                <a:latin typeface="Arial" panose="020B0604020202020204"/>
                <a:ea typeface="Arial" panose="020B0604020202020204"/>
                <a:cs typeface="Arial" panose="020B0604020202020204"/>
                <a:sym typeface="Arial" panose="020B0604020202020204"/>
              </a:defRPr>
            </a:pPr>
            <a:r>
              <a:rPr sz="3000" u="sng">
                <a:sym typeface="+mn-ea"/>
              </a:rPr>
              <a:t>https://www.thoughtco.com/tips-for-producing-great-news-features-2074291</a:t>
            </a:r>
            <a:endParaRPr sz="3000" u="sng"/>
          </a:p>
          <a:p>
            <a:pPr marL="0" indent="0" defTabSz="457200">
              <a:spcBef>
                <a:spcPts val="0"/>
              </a:spcBef>
              <a:buSzTx/>
              <a:buNone/>
              <a:defRPr sz="4400">
                <a:solidFill>
                  <a:srgbClr val="02020B"/>
                </a:solidFill>
                <a:latin typeface="Arial" panose="020B0604020202020204"/>
                <a:ea typeface="Arial" panose="020B0604020202020204"/>
                <a:cs typeface="Arial" panose="020B0604020202020204"/>
                <a:sym typeface="Arial" panose="020B0604020202020204"/>
              </a:defRPr>
            </a:pPr>
            <a:endParaRPr sz="3000"/>
          </a:p>
          <a:p>
            <a:pPr marL="0" indent="0" defTabSz="457200">
              <a:spcBef>
                <a:spcPts val="0"/>
              </a:spcBef>
              <a:buSzTx/>
              <a:buNone/>
              <a:defRPr sz="4400">
                <a:solidFill>
                  <a:srgbClr val="02020B"/>
                </a:solidFill>
                <a:latin typeface="Arial" panose="020B0604020202020204"/>
                <a:ea typeface="Arial" panose="020B0604020202020204"/>
                <a:cs typeface="Arial" panose="020B0604020202020204"/>
                <a:sym typeface="Arial" panose="020B0604020202020204"/>
              </a:defRPr>
            </a:pPr>
            <a:endParaRPr sz="3000"/>
          </a:p>
        </p:txBody>
      </p:sp>
    </p:spTree>
    <p:custDataLst>
      <p:tags r:id="rId1"/>
    </p:custData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anim calcmode="lin" valueType="num">
                                      <p:cBhvr additive="base">
                                        <p:cTn id="7" dur="500" fill="hold"/>
                                        <p:tgtEl>
                                          <p:spTgt spid="2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6">
                                            <p:txEl>
                                              <p:pRg st="2" end="2"/>
                                            </p:txEl>
                                          </p:spTgt>
                                        </p:tgtEl>
                                        <p:attrNameLst>
                                          <p:attrName>style.visibility</p:attrName>
                                        </p:attrNameLst>
                                      </p:cBhvr>
                                      <p:to>
                                        <p:strVal val="visible"/>
                                      </p:to>
                                    </p:set>
                                    <p:anim calcmode="lin" valueType="num">
                                      <p:cBhvr additive="base">
                                        <p:cTn id="13" dur="500" fill="hold"/>
                                        <p:tgtEl>
                                          <p:spTgt spid="20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Difference between a News story and  a Feature"/>
          <p:cNvSpPr txBox="1"/>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rPr sz="4000"/>
              <a:t>Difference between a News story and  a Feature</a:t>
            </a:r>
            <a:r>
              <a:t> </a:t>
            </a:r>
          </a:p>
        </p:txBody>
      </p:sp>
      <p:sp>
        <p:nvSpPr>
          <p:cNvPr id="215" name="1.Time factor – features are not as time-dependent as news stories…"/>
          <p:cNvSpPr txBox="1"/>
          <p:nvPr>
            <p:ph type="body" idx="1"/>
          </p:nvPr>
        </p:nvSpPr>
        <p:spPr>
          <a:xfrm>
            <a:off x="952818" y="1067435"/>
            <a:ext cx="10846753" cy="5506085"/>
          </a:xfrm>
          <a:prstGeom prst="rect">
            <a:avLst/>
          </a:prstGeom>
        </p:spPr>
        <p:txBody>
          <a:bodyPr>
            <a:normAutofit fontScale="50000"/>
          </a:bodyPr>
          <a:lstStyle/>
          <a:p>
            <a:pPr marL="0" indent="0" defTabSz="410845">
              <a:spcBef>
                <a:spcPts val="500"/>
              </a:spcBef>
              <a:buSzTx/>
              <a:buNone/>
              <a:defRPr sz="4320">
                <a:solidFill>
                  <a:srgbClr val="000000"/>
                </a:solidFill>
                <a:latin typeface="Times Roman"/>
                <a:ea typeface="Times Roman"/>
                <a:cs typeface="Times Roman"/>
                <a:sym typeface="Times Roman"/>
              </a:defRPr>
            </a:pPr>
            <a:r>
              <a:t>1.</a:t>
            </a:r>
            <a:r>
              <a:rPr b="1"/>
              <a:t>Time factor</a:t>
            </a:r>
            <a:r>
              <a:t> </a:t>
            </a:r>
            <a:r>
              <a:rPr b="1"/>
              <a:t>– </a:t>
            </a:r>
            <a:r>
              <a:t>features are not as time-dependent as news stories</a:t>
            </a:r>
          </a:p>
          <a:p>
            <a:pPr marL="0" indent="0" defTabSz="410845">
              <a:spcBef>
                <a:spcPts val="500"/>
              </a:spcBef>
              <a:buSzTx/>
              <a:buNone/>
              <a:defRPr sz="4320">
                <a:solidFill>
                  <a:srgbClr val="000000"/>
                </a:solidFill>
                <a:latin typeface="Times Roman"/>
                <a:ea typeface="Times Roman"/>
                <a:cs typeface="Times Roman"/>
                <a:sym typeface="Times Roman"/>
              </a:defRPr>
            </a:pPr>
            <a:r>
              <a:t>2. </a:t>
            </a:r>
            <a:r>
              <a:rPr b="1"/>
              <a:t>Writing style</a:t>
            </a:r>
            <a:r>
              <a:t> </a:t>
            </a:r>
            <a:r>
              <a:rPr b="1"/>
              <a:t>– </a:t>
            </a:r>
            <a:r>
              <a:t>News stories: go straight to the point; use simple and very effective words to deliver the facts quickly. Feature stories: have a creative structure</a:t>
            </a:r>
            <a:r>
              <a:rPr lang="en-US"/>
              <a:t>, </a:t>
            </a:r>
            <a:r>
              <a:t> colorful and flowery.</a:t>
            </a:r>
          </a:p>
          <a:p>
            <a:pPr marL="0" indent="0" defTabSz="410845">
              <a:spcBef>
                <a:spcPts val="500"/>
              </a:spcBef>
              <a:buSzTx/>
              <a:buNone/>
              <a:defRPr sz="4320">
                <a:solidFill>
                  <a:srgbClr val="000000"/>
                </a:solidFill>
                <a:latin typeface="Times Roman"/>
                <a:ea typeface="Times Roman"/>
                <a:cs typeface="Times Roman"/>
                <a:sym typeface="Times Roman"/>
              </a:defRPr>
            </a:pPr>
            <a:r>
              <a:t>3. </a:t>
            </a:r>
            <a:r>
              <a:rPr b="1"/>
              <a:t>The length –</a:t>
            </a:r>
            <a:r>
              <a:t> a news story is shorter than a feature story</a:t>
            </a:r>
            <a:r>
              <a:rPr lang="en-US"/>
              <a:t>, </a:t>
            </a:r>
            <a:r>
              <a:t>can vary from just a couple of sentences to about 600 words, but a feature story can be longer than 2000 words – especially in magazines.</a:t>
            </a:r>
          </a:p>
          <a:p>
            <a:pPr marL="0" indent="0" defTabSz="410845">
              <a:spcBef>
                <a:spcPts val="500"/>
              </a:spcBef>
              <a:buSzTx/>
              <a:buNone/>
              <a:defRPr sz="4320">
                <a:solidFill>
                  <a:srgbClr val="000000"/>
                </a:solidFill>
                <a:latin typeface="Times Roman"/>
                <a:ea typeface="Times Roman"/>
                <a:cs typeface="Times Roman"/>
                <a:sym typeface="Times Roman"/>
              </a:defRPr>
            </a:pPr>
            <a:r>
              <a:t>4. </a:t>
            </a:r>
            <a:r>
              <a:rPr b="1"/>
              <a:t>The lead –</a:t>
            </a:r>
            <a:r>
              <a:t> the lead of a feature does not give the news instead it gets the reader interested in reading the rest of the story. News story leads sell the story. They tell what the news is about and tell all the most important details about the news.</a:t>
            </a:r>
          </a:p>
          <a:p>
            <a:pPr marL="0" indent="0" defTabSz="410845">
              <a:spcBef>
                <a:spcPts val="500"/>
              </a:spcBef>
              <a:buSzTx/>
              <a:buNone/>
              <a:defRPr sz="4320">
                <a:solidFill>
                  <a:srgbClr val="000000"/>
                </a:solidFill>
                <a:latin typeface="Times Roman"/>
                <a:ea typeface="Times Roman"/>
                <a:cs typeface="Times Roman"/>
                <a:sym typeface="Times Roman"/>
              </a:defRPr>
            </a:pPr>
            <a:r>
              <a:t>5. </a:t>
            </a:r>
            <a:r>
              <a:rPr b="1"/>
              <a:t>The ending –</a:t>
            </a:r>
            <a:r>
              <a:t> a news story can end anywhere after the most important things have been mentioned, but a feature story has to be ended in specific manner. Features have to end in such a way that the reader feels satisfied for having kept on reading. The feature ending is more like a reward to the reader.</a:t>
            </a:r>
          </a:p>
          <a:p>
            <a:pPr marL="240030" indent="-240030" defTabSz="410845">
              <a:spcBef>
                <a:spcPts val="0"/>
              </a:spcBef>
              <a:buSzTx/>
              <a:buNone/>
              <a:defRPr sz="1350">
                <a:solidFill>
                  <a:srgbClr val="222222"/>
                </a:solidFill>
                <a:latin typeface="Verdana" panose="020B0604030504040204"/>
                <a:ea typeface="Verdana" panose="020B0604030504040204"/>
                <a:cs typeface="Verdana" panose="020B0604030504040204"/>
                <a:sym typeface="Verdana" panose="020B0604030504040204"/>
              </a:defRPr>
            </a:pPr>
          </a:p>
          <a:p>
            <a:pPr marL="0" indent="0" defTabSz="410845">
              <a:spcBef>
                <a:spcPts val="500"/>
              </a:spcBef>
              <a:buSzTx/>
              <a:buNone/>
              <a:defRPr sz="4320">
                <a:solidFill>
                  <a:srgbClr val="000000"/>
                </a:solidFill>
                <a:latin typeface="Times Roman"/>
                <a:ea typeface="Times Roman"/>
                <a:cs typeface="Times Roman"/>
                <a:sym typeface="Times Roman"/>
              </a:defRPr>
            </a:pPr>
            <a:r>
              <a:rPr u="sng"/>
              <a:t>https://hosbeg.com/difference-between-a-news-story-and-a-feature/</a:t>
            </a:r>
            <a:endParaRPr u="sng"/>
          </a:p>
        </p:txBody>
      </p:sp>
      <p:sp>
        <p:nvSpPr>
          <p:cNvPr id="2" name="左箭头 1">
            <a:hlinkClick r:id="rId1" action="ppaction://hlinksldjump"/>
          </p:cNvPr>
          <p:cNvSpPr/>
          <p:nvPr/>
        </p:nvSpPr>
        <p:spPr>
          <a:xfrm>
            <a:off x="10884535" y="5938838"/>
            <a:ext cx="756285" cy="633094"/>
          </a:xfrm>
          <a:prstGeom prst="leftArrow">
            <a:avLst/>
          </a:prstGeom>
          <a:blipFill rotWithShape="1">
            <a:blip r:embed="rId2"/>
            <a:srcRect/>
            <a:tile tx="0" ty="0" sx="100000" sy="100000" flip="none" algn="tl"/>
          </a:blip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25400" tIns="25400" rIns="25400" bIns="25400" numCol="1" spcCol="38100" rtlCol="0" anchor="ctr" forceAA="0" upright="0">
            <a:spAutoFit/>
          </a:bodyPr>
          <a:p>
            <a:pPr marL="0" marR="0" indent="0" algn="ctr" defTabSz="825500" rtl="0" fontAlgn="auto" latinLnBrk="0" hangingPunct="0">
              <a:lnSpc>
                <a:spcPct val="100000"/>
              </a:lnSpc>
              <a:spcBef>
                <a:spcPts val="0"/>
              </a:spcBef>
              <a:spcAft>
                <a:spcPts val="0"/>
              </a:spcAft>
              <a:buClrTx/>
              <a:buSzTx/>
              <a:buFontTx/>
              <a:buNone/>
            </a:pPr>
            <a:endParaRPr kumimoji="0" lang="zh-CN" altLang="en-US" sz="2500" b="0" i="0" u="none" strike="noStrike" cap="none" spc="0" normalizeH="0" baseline="0">
              <a:ln>
                <a:noFill/>
              </a:ln>
              <a:solidFill>
                <a:srgbClr val="FFFFFF"/>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spTree>
    <p:custDataLst>
      <p:tags r:id="rId3"/>
    </p:custData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anim calcmode="lin" valueType="num">
                                      <p:cBhvr additive="base">
                                        <p:cTn id="7" dur="500" fill="hold"/>
                                        <p:tgtEl>
                                          <p:spTgt spid="2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
                                            <p:txEl>
                                              <p:pRg st="1" end="1"/>
                                            </p:txEl>
                                          </p:spTgt>
                                        </p:tgtEl>
                                        <p:attrNameLst>
                                          <p:attrName>style.visibility</p:attrName>
                                        </p:attrNameLst>
                                      </p:cBhvr>
                                      <p:to>
                                        <p:strVal val="visible"/>
                                      </p:to>
                                    </p:set>
                                    <p:anim calcmode="lin" valueType="num">
                                      <p:cBhvr additive="base">
                                        <p:cTn id="13" dur="500" fill="hold"/>
                                        <p:tgtEl>
                                          <p:spTgt spid="2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
                                            <p:txEl>
                                              <p:pRg st="2" end="2"/>
                                            </p:txEl>
                                          </p:spTgt>
                                        </p:tgtEl>
                                        <p:attrNameLst>
                                          <p:attrName>style.visibility</p:attrName>
                                        </p:attrNameLst>
                                      </p:cBhvr>
                                      <p:to>
                                        <p:strVal val="visible"/>
                                      </p:to>
                                    </p:set>
                                    <p:anim calcmode="lin" valueType="num">
                                      <p:cBhvr additive="base">
                                        <p:cTn id="19" dur="500" fill="hold"/>
                                        <p:tgtEl>
                                          <p:spTgt spid="2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5">
                                            <p:txEl>
                                              <p:pRg st="3" end="3"/>
                                            </p:txEl>
                                          </p:spTgt>
                                        </p:tgtEl>
                                        <p:attrNameLst>
                                          <p:attrName>style.visibility</p:attrName>
                                        </p:attrNameLst>
                                      </p:cBhvr>
                                      <p:to>
                                        <p:strVal val="visible"/>
                                      </p:to>
                                    </p:set>
                                    <p:anim calcmode="lin" valueType="num">
                                      <p:cBhvr additive="base">
                                        <p:cTn id="25" dur="500" fill="hold"/>
                                        <p:tgtEl>
                                          <p:spTgt spid="2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
                                            <p:txEl>
                                              <p:pRg st="4" end="4"/>
                                            </p:txEl>
                                          </p:spTgt>
                                        </p:tgtEl>
                                        <p:attrNameLst>
                                          <p:attrName>style.visibility</p:attrName>
                                        </p:attrNameLst>
                                      </p:cBhvr>
                                      <p:to>
                                        <p:strVal val="visible"/>
                                      </p:to>
                                    </p:set>
                                    <p:anim calcmode="lin" valueType="num">
                                      <p:cBhvr additive="base">
                                        <p:cTn id="31" dur="500" fill="hold"/>
                                        <p:tgtEl>
                                          <p:spTgt spid="2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5">
                                            <p:txEl>
                                              <p:pRg st="6" end="6"/>
                                            </p:txEl>
                                          </p:spTgt>
                                        </p:tgtEl>
                                        <p:attrNameLst>
                                          <p:attrName>style.visibility</p:attrName>
                                        </p:attrNameLst>
                                      </p:cBhvr>
                                      <p:to>
                                        <p:strVal val="visible"/>
                                      </p:to>
                                    </p:set>
                                    <p:anim calcmode="lin" valueType="num">
                                      <p:cBhvr additive="base">
                                        <p:cTn id="37" dur="500" fill="hold"/>
                                        <p:tgtEl>
                                          <p:spTgt spid="21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t>Structure of a Feature </a:t>
            </a:r>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835025" y="1067435"/>
            <a:ext cx="10964545" cy="5485130"/>
          </a:xfrm>
          <a:prstGeom prst="rect">
            <a:avLst/>
          </a:prstGeom>
        </p:spPr>
        <p:txBody>
          <a:bodyPr>
            <a:normAutofit/>
          </a:bodyPr>
          <a:lstStyle/>
          <a:p>
            <a:pPr marL="0" indent="0" defTabSz="424815">
              <a:spcBef>
                <a:spcPts val="600"/>
              </a:spcBef>
              <a:buSzTx/>
              <a:buNone/>
              <a:defRPr sz="4465">
                <a:solidFill>
                  <a:srgbClr val="000000"/>
                </a:solidFill>
                <a:latin typeface="Times Roman"/>
                <a:ea typeface="Times Roman"/>
                <a:cs typeface="Times Roman"/>
                <a:sym typeface="Times Roman"/>
              </a:defRPr>
            </a:pPr>
            <a:r>
              <a:rPr sz="3300" b="1">
                <a:latin typeface="Times New Roman" panose="02020603050405020304"/>
                <a:ea typeface="Times New Roman" panose="02020603050405020304"/>
                <a:cs typeface="Times New Roman" panose="02020603050405020304"/>
              </a:rPr>
              <a:t>1.Intro or Lead </a:t>
            </a:r>
            <a:endParaRPr sz="3300" b="1">
              <a:latin typeface="Times New Roman" panose="02020603050405020304"/>
              <a:ea typeface="Times New Roman" panose="02020603050405020304"/>
              <a:cs typeface="Times New Roman" panose="0202060305040502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3300" b="1">
                <a:latin typeface="Times New Roman" panose="02020603050405020304"/>
                <a:ea typeface="Times New Roman" panose="02020603050405020304"/>
                <a:cs typeface="Times New Roman" panose="02020603050405020304"/>
              </a:rPr>
              <a:t>2.Transition</a:t>
            </a:r>
            <a:endParaRPr sz="3300">
              <a:latin typeface="Times New Roman" panose="02020603050405020304"/>
              <a:ea typeface="Times New Roman" panose="02020603050405020304"/>
              <a:cs typeface="Times New Roman" panose="02020603050405020304"/>
            </a:endParaRPr>
          </a:p>
          <a:p>
            <a:pPr marL="0" indent="0" defTabSz="424815">
              <a:spcBef>
                <a:spcPts val="0"/>
              </a:spcBef>
              <a:buSzTx/>
              <a:buNone/>
              <a:defRPr sz="4370" b="1">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3. Body</a:t>
            </a:r>
            <a:endParaRPr sz="3300">
              <a:sym typeface="Times Roman"/>
            </a:endParaRPr>
          </a:p>
          <a:p>
            <a:pPr marL="0" indent="0" defTabSz="424815">
              <a:spcBef>
                <a:spcPts val="0"/>
              </a:spcBef>
              <a:buSzTx/>
              <a:buNone/>
              <a:defRPr sz="437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b="1">
                <a:sym typeface="Times Roman"/>
              </a:rPr>
              <a:t>4. Conclusion</a:t>
            </a:r>
            <a:endParaRPr sz="3300" b="1">
              <a:sym typeface="Times Roman"/>
            </a:endParaRPr>
          </a:p>
          <a:p>
            <a:pPr marL="0" indent="0" defTabSz="424815">
              <a:spcBef>
                <a:spcPts val="0"/>
              </a:spcBef>
              <a:buSzTx/>
              <a:buNone/>
              <a:defRPr sz="437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b="1">
                <a:sym typeface="Times Roman"/>
              </a:rPr>
              <a:t>5. Length</a:t>
            </a:r>
            <a:endParaRPr sz="3300" b="1">
              <a:sym typeface="Times Roman"/>
            </a:endParaRPr>
          </a:p>
        </p:txBody>
      </p:sp>
    </p:spTree>
    <p:custDataLst>
      <p:tags r:id="rId1"/>
    </p:custDataLst>
  </p:cSld>
  <p:clrMapOvr>
    <a:overrideClrMapping bg1="lt1" tx1="dk1" bg2="lt2" tx2="dk2" accent1="accent1" accent2="accent2" accent3="accent3" accent4="accent4" accent5="accent5" accent6="accent6" hlink="hlink" folHlink="folHlink"/>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rPr lang="en-US"/>
              <a:t>Structure of a Feature - Intro or Lead</a:t>
            </a:r>
            <a:endParaRPr lang="en-US"/>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835025" y="1067435"/>
            <a:ext cx="10964545" cy="5485130"/>
          </a:xfrm>
          <a:prstGeom prst="rect">
            <a:avLst/>
          </a:prstGeom>
        </p:spPr>
        <p:txBody>
          <a:bodyPr>
            <a:normAutofit lnSpcReduction="10000"/>
          </a:bodyPr>
          <a:lstStyle/>
          <a:p>
            <a:pPr marL="0" indent="0" defTabSz="424815">
              <a:spcBef>
                <a:spcPts val="600"/>
              </a:spcBef>
              <a:buSzTx/>
              <a:buNone/>
              <a:defRPr sz="4465">
                <a:solidFill>
                  <a:srgbClr val="000000"/>
                </a:solidFill>
                <a:latin typeface="Times Roman"/>
                <a:ea typeface="Times Roman"/>
                <a:cs typeface="Times Roman"/>
                <a:sym typeface="Times Roman"/>
              </a:defRPr>
            </a:pPr>
            <a:r>
              <a:rPr sz="3300" b="1">
                <a:latin typeface="Times New Roman" panose="02020603050405020304"/>
                <a:ea typeface="Times New Roman" panose="02020603050405020304"/>
                <a:cs typeface="Times New Roman" panose="02020603050405020304"/>
              </a:rPr>
              <a:t>1.Intro or Lead </a:t>
            </a:r>
            <a:r>
              <a:rPr sz="3300">
                <a:latin typeface="Times New Roman" panose="02020603050405020304"/>
                <a:ea typeface="Times New Roman" panose="02020603050405020304"/>
                <a:cs typeface="Times New Roman" panose="02020603050405020304"/>
              </a:rPr>
              <a:t>The lead must attract immediate attention and pull the reader </a:t>
            </a:r>
            <a:endParaRPr sz="3300">
              <a:latin typeface="Times New Roman" panose="02020603050405020304"/>
              <a:ea typeface="Times New Roman" panose="02020603050405020304"/>
              <a:cs typeface="Times New Roman" panose="0202060305040502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into the story. </a:t>
            </a:r>
            <a:endParaRPr sz="3300">
              <a:latin typeface="Times New Roman" panose="02020603050405020304"/>
              <a:ea typeface="Times New Roman" panose="02020603050405020304"/>
              <a:cs typeface="Times New Roman" panose="0202060305040502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Leads can vary in style and content. You can use description, narration, dialogue, question, unusual statement, call to action, comparison-contrast. </a:t>
            </a:r>
            <a:endParaRPr sz="3300">
              <a:latin typeface="Times New Roman" panose="02020603050405020304"/>
              <a:ea typeface="Times New Roman" panose="02020603050405020304"/>
              <a:cs typeface="Times New Roman" panose="02020603050405020304"/>
            </a:endParaRPr>
          </a:p>
          <a:p>
            <a:pPr marL="0" indent="0" defTabSz="424815">
              <a:spcBef>
                <a:spcPts val="600"/>
              </a:spcBef>
              <a:buSzTx/>
              <a:buNone/>
              <a:defRPr sz="4465">
                <a:solidFill>
                  <a:srgbClr val="000000"/>
                </a:solidFill>
                <a:latin typeface="Times Roman"/>
                <a:ea typeface="Times Roman"/>
                <a:cs typeface="Times Roman"/>
                <a:sym typeface="Times Roman"/>
              </a:defRPr>
            </a:pPr>
            <a:endParaRPr>
              <a:latin typeface="Times Roman"/>
              <a:ea typeface="Times Roman"/>
              <a:cs typeface="Times Roman"/>
              <a:sym typeface="Times Roman"/>
            </a:endParaRPr>
          </a:p>
          <a:p>
            <a:pPr marL="0" indent="0" defTabSz="424815">
              <a:spcBef>
                <a:spcPts val="0"/>
              </a:spcBef>
              <a:buSzTx/>
              <a:buNone/>
              <a:defRPr sz="149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endParaRPr>
              <a:latin typeface="Times Roman"/>
              <a:ea typeface="Times Roman"/>
              <a:cs typeface="Times Roman"/>
              <a:sym typeface="Times Roman"/>
            </a:endParaRPr>
          </a:p>
        </p:txBody>
      </p:sp>
    </p:spTree>
    <p:custDataLst>
      <p:tags r:id="rId1"/>
    </p:custDataLst>
  </p:cSld>
  <p:clrMapOvr>
    <a:overrideClrMapping bg1="lt1" tx1="dk1" bg2="lt2" tx2="dk2" accent1="accent1" accent2="accent2" accent3="accent3" accent4="accent4" accent5="accent5" accent6="accent6" hlink="hlink" folHlink="folHlink"/>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t>Structure of a Feature </a:t>
            </a:r>
            <a:r>
              <a:rPr lang="en-US"/>
              <a:t>- Transtion</a:t>
            </a:r>
            <a:r>
              <a:t> </a:t>
            </a:r>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835025" y="1067435"/>
            <a:ext cx="10964545" cy="5485130"/>
          </a:xfrm>
          <a:prstGeom prst="rect">
            <a:avLst/>
          </a:prstGeom>
        </p:spPr>
        <p:txBody>
          <a:bodyPr>
            <a:normAutofit lnSpcReduction="10000"/>
          </a:bodyPr>
          <a:lstStyle/>
          <a:p>
            <a:pPr marL="0" indent="0" defTabSz="424815">
              <a:spcBef>
                <a:spcPts val="600"/>
              </a:spcBef>
              <a:buSzTx/>
              <a:buNone/>
              <a:defRPr sz="4465">
                <a:solidFill>
                  <a:srgbClr val="000000"/>
                </a:solidFill>
                <a:latin typeface="Times Roman"/>
                <a:ea typeface="Times Roman"/>
                <a:cs typeface="Times Roman"/>
                <a:sym typeface="Times Roman"/>
              </a:defRPr>
            </a:pPr>
            <a:r>
              <a:rPr sz="3300" b="1">
                <a:latin typeface="Times New Roman" panose="02020603050405020304"/>
                <a:ea typeface="Times New Roman" panose="02020603050405020304"/>
                <a:cs typeface="Times New Roman" panose="02020603050405020304"/>
              </a:rPr>
              <a:t>2.Transition</a:t>
            </a:r>
            <a:endParaRPr sz="3300" b="1">
              <a:latin typeface="Times New Roman" panose="02020603050405020304"/>
              <a:ea typeface="Times New Roman" panose="02020603050405020304"/>
              <a:cs typeface="Times New Roman" panose="0202060305040502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No matter how good the lead is, you need a solid transition into </a:t>
            </a:r>
            <a:endParaRPr sz="3300">
              <a:latin typeface="Times New Roman" panose="02020603050405020304"/>
              <a:ea typeface="Times New Roman" panose="02020603050405020304"/>
              <a:cs typeface="Times New Roman" panose="0202060305040502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the body of the feature. If you think of the lead as a lure to attract the audience, then the transition sets the hook. </a:t>
            </a:r>
            <a:endParaRPr sz="3300">
              <a:latin typeface="Times New Roman" panose="02020603050405020304"/>
              <a:ea typeface="Times New Roman" panose="02020603050405020304"/>
              <a:cs typeface="Times New Roman" panose="0202060305040502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It makes the reader want to continue.  And it promises some kind of satisfaction  or reward. The reward can be entertainment, information or self-awareness but has to be something of value to the reader.</a:t>
            </a:r>
            <a:endParaRPr sz="2185">
              <a:latin typeface="Times New Roman" panose="02020603050405020304"/>
              <a:ea typeface="Times New Roman" panose="02020603050405020304"/>
              <a:cs typeface="Times New Roman" panose="02020603050405020304"/>
            </a:endParaRPr>
          </a:p>
          <a:p>
            <a:pPr marL="0" indent="0" defTabSz="424815">
              <a:spcBef>
                <a:spcPts val="0"/>
              </a:spcBef>
              <a:buSzTx/>
              <a:buNone/>
              <a:defRPr sz="4370" b="1">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endParaRPr>
              <a:latin typeface="Times Roman"/>
              <a:ea typeface="Times Roman"/>
              <a:cs typeface="Times Roman"/>
              <a:sym typeface="Times Roman"/>
            </a:endParaRPr>
          </a:p>
          <a:p>
            <a:pPr marL="0" indent="0" defTabSz="424815">
              <a:spcBef>
                <a:spcPts val="0"/>
              </a:spcBef>
              <a:buSzTx/>
              <a:buNone/>
              <a:defRPr sz="149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endParaRPr>
              <a:latin typeface="Times Roman"/>
              <a:ea typeface="Times Roman"/>
              <a:cs typeface="Times Roman"/>
              <a:sym typeface="Times Roman"/>
            </a:endParaRPr>
          </a:p>
        </p:txBody>
      </p:sp>
    </p:spTree>
    <p:custDataLst>
      <p:tags r:id="rId1"/>
    </p:custDataLst>
  </p:cSld>
  <p:clrMapOvr>
    <a:overrideClrMapping bg1="lt1" tx1="dk1" bg2="lt2" tx2="dk2" accent1="accent1" accent2="accent2" accent3="accent3" accent4="accent4" accent5="accent5" accent6="accent6" hlink="hlink" folHlink="folHlink"/>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t>Structure of a Feature </a:t>
            </a:r>
            <a:r>
              <a:rPr lang="en-US"/>
              <a:t>- Body</a:t>
            </a:r>
            <a:endParaRPr lang="en-US"/>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835025" y="1067435"/>
            <a:ext cx="10964545" cy="5485130"/>
          </a:xfrm>
          <a:prstGeom prst="rect">
            <a:avLst/>
          </a:prstGeom>
        </p:spPr>
        <p:txBody>
          <a:bodyPr>
            <a:normAutofit lnSpcReduction="10000"/>
          </a:bodyPr>
          <a:lstStyle/>
          <a:p>
            <a:pPr marL="0" indent="0" defTabSz="424815">
              <a:spcBef>
                <a:spcPts val="600"/>
              </a:spcBef>
              <a:buSzTx/>
              <a:buNone/>
              <a:defRPr sz="4465">
                <a:solidFill>
                  <a:srgbClr val="000000"/>
                </a:solidFill>
                <a:latin typeface="Times Roman"/>
                <a:ea typeface="Times Roman"/>
                <a:cs typeface="Times Roman"/>
                <a:sym typeface="Times Roman"/>
              </a:defRPr>
            </a:pPr>
            <a:r>
              <a:rPr sz="3300"/>
              <a:t>3. Body</a:t>
            </a:r>
            <a:endParaRPr sz="3300" b="0">
              <a:latin typeface="Times Roman"/>
              <a:ea typeface="Times Roman"/>
              <a:cs typeface="Times Roman"/>
              <a:sym typeface="Times Roman"/>
            </a:endParaRPr>
          </a:p>
          <a:p>
            <a:pPr marL="0" indent="0" defTabSz="424815">
              <a:spcBef>
                <a:spcPts val="0"/>
              </a:spcBef>
              <a:buSzTx/>
              <a:buNone/>
              <a:defRPr sz="437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Sound knowledge of the subject, coupled with good writing </a:t>
            </a:r>
            <a:endParaRPr sz="3300"/>
          </a:p>
          <a:p>
            <a:pPr marL="0" indent="0" defTabSz="424815">
              <a:spcBef>
                <a:spcPts val="0"/>
              </a:spcBef>
              <a:buSzTx/>
              <a:buNone/>
              <a:defRPr sz="437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skills, will let you take the reader through a variety of experiences. You should use the standard writing devices of crisp dialogue, documental but vivid fact and detail, </a:t>
            </a:r>
            <a:endParaRPr sz="3300"/>
          </a:p>
          <a:p>
            <a:pPr marL="0" indent="0" defTabSz="424815">
              <a:spcBef>
                <a:spcPts val="0"/>
              </a:spcBef>
              <a:buSzTx/>
              <a:buNone/>
              <a:defRPr sz="437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careful observation, suspense and if appropriate, plot.</a:t>
            </a:r>
            <a:endParaRPr>
              <a:latin typeface="Times Roman"/>
              <a:ea typeface="Times Roman"/>
              <a:cs typeface="Times Roman"/>
              <a:sym typeface="Times Roman"/>
            </a:endParaRPr>
          </a:p>
          <a:p>
            <a:pPr marL="0" indent="0" defTabSz="424815">
              <a:spcBef>
                <a:spcPts val="0"/>
              </a:spcBef>
              <a:buSzTx/>
              <a:buNone/>
              <a:defRPr sz="149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endParaRPr>
              <a:latin typeface="Times Roman"/>
              <a:ea typeface="Times Roman"/>
              <a:cs typeface="Times Roman"/>
              <a:sym typeface="Times Roman"/>
            </a:endParaRPr>
          </a:p>
        </p:txBody>
      </p:sp>
    </p:spTree>
    <p:custDataLst>
      <p:tags r:id="rId1"/>
    </p:custDataLst>
  </p:cSld>
  <p:clrMapOvr>
    <a:overrideClrMapping bg1="lt1" tx1="dk1" bg2="lt2" tx2="dk2" accent1="accent1" accent2="accent2" accent3="accent3" accent4="accent4" accent5="accent5" accent6="accent6" hlink="hlink" folHlink="folHlink"/>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tructure of a Feature"/>
          <p:cNvSpPr txBox="1"/>
          <p:nvPr>
            <p:ph type="title"/>
          </p:nvPr>
        </p:nvSpPr>
        <p:spPr>
          <a:xfrm>
            <a:off x="736600" y="38264"/>
            <a:ext cx="10718800" cy="899589"/>
          </a:xfrm>
          <a:prstGeom prst="rect">
            <a:avLst/>
          </a:prstGeom>
        </p:spPr>
        <p:txBody>
          <a:bodyPr>
            <a:normAutofit fontScale="90000"/>
          </a:bodyPr>
          <a:lstStyle>
            <a:lvl1pPr defTabSz="445770">
              <a:defRPr sz="5830">
                <a:effectLst>
                  <a:outerShdw blurRad="34290" dist="6858" dir="5400000" rotWithShape="0">
                    <a:srgbClr val="000000">
                      <a:alpha val="30000"/>
                    </a:srgbClr>
                  </a:outerShdw>
                </a:effectLst>
              </a:defRPr>
            </a:lvl1pPr>
          </a:lstStyle>
          <a:p>
            <a:r>
              <a:t>Structure of a Feature </a:t>
            </a:r>
            <a:r>
              <a:rPr lang="en-US"/>
              <a:t>- Conclusion</a:t>
            </a:r>
            <a:endParaRPr lang="en-US"/>
          </a:p>
        </p:txBody>
      </p:sp>
      <p:sp>
        <p:nvSpPr>
          <p:cNvPr id="224" name="3.5 But never omit important if it is required so…"/>
          <p:cNvSpPr txBox="1"/>
          <p:nvPr>
            <p:ph type="body" idx="1"/>
          </p:nvPr>
        </p:nvSpPr>
        <p:spPr>
          <a:xfrm>
            <a:off x="614680" y="701993"/>
            <a:ext cx="11184890" cy="6058853"/>
          </a:xfrm>
          <a:prstGeom prst="rect">
            <a:avLst/>
          </a:prstGeom>
        </p:spPr>
        <p:txBody>
          <a:bodyPr>
            <a:normAutofit lnSpcReduction="10000"/>
          </a:bodyPr>
          <a:lstStyle/>
          <a:p>
            <a:pPr marL="0" indent="0" defTabSz="333375">
              <a:spcBef>
                <a:spcPts val="400"/>
              </a:spcBef>
              <a:buSzTx/>
              <a:buNone/>
              <a:defRPr sz="3505" b="1">
                <a:solidFill>
                  <a:srgbClr val="000000"/>
                </a:solidFill>
                <a:latin typeface="Times Roman"/>
                <a:ea typeface="Times Roman"/>
                <a:cs typeface="Times Roman"/>
                <a:sym typeface="Times Roman"/>
              </a:defRPr>
            </a:pPr>
            <a:endParaRPr b="1"/>
          </a:p>
          <a:p>
            <a:pPr marL="0" indent="0" defTabSz="333375">
              <a:spcBef>
                <a:spcPts val="400"/>
              </a:spcBef>
              <a:buSzTx/>
              <a:buNone/>
              <a:defRPr sz="3505" b="1">
                <a:solidFill>
                  <a:srgbClr val="000000"/>
                </a:solidFill>
                <a:latin typeface="Times Roman"/>
                <a:ea typeface="Times Roman"/>
                <a:cs typeface="Times Roman"/>
                <a:sym typeface="Times Roman"/>
              </a:defRPr>
            </a:pPr>
          </a:p>
          <a:p>
            <a:pPr marL="0" indent="0" defTabSz="333375">
              <a:spcBef>
                <a:spcPts val="400"/>
              </a:spcBef>
              <a:buSzTx/>
              <a:buNone/>
              <a:defRPr sz="3505" b="1">
                <a:solidFill>
                  <a:srgbClr val="000000"/>
                </a:solidFill>
                <a:latin typeface="Times Roman"/>
                <a:ea typeface="Times Roman"/>
                <a:cs typeface="Times Roman"/>
                <a:sym typeface="Times Roman"/>
              </a:defRPr>
            </a:pPr>
            <a:r>
              <a:rPr sz="3300"/>
              <a:t>4 Conclusion</a:t>
            </a:r>
            <a:endParaRPr sz="3300" b="0"/>
          </a:p>
          <a:p>
            <a:pPr marL="0" indent="0" defTabSz="333375">
              <a:spcBef>
                <a:spcPts val="400"/>
              </a:spcBef>
              <a:buSzTx/>
              <a:buNone/>
              <a:defRPr sz="3505" b="1">
                <a:solidFill>
                  <a:srgbClr val="000000"/>
                </a:solidFill>
                <a:latin typeface="Times Roman"/>
                <a:ea typeface="Times Roman"/>
                <a:cs typeface="Times Roman"/>
                <a:sym typeface="Times Roman"/>
              </a:defRPr>
            </a:pPr>
            <a:r>
              <a:rPr sz="3300" b="0"/>
              <a:t>The conclusion should give the reader a sense of </a:t>
            </a:r>
            <a:endParaRPr sz="3300" b="0"/>
          </a:p>
          <a:p>
            <a:pPr marL="0" indent="0" defTabSz="333375">
              <a:spcBef>
                <a:spcPts val="400"/>
              </a:spcBef>
              <a:buSzTx/>
              <a:buNone/>
              <a:defRPr sz="3505" b="1">
                <a:solidFill>
                  <a:srgbClr val="000000"/>
                </a:solidFill>
                <a:latin typeface="Times Roman"/>
                <a:ea typeface="Times Roman"/>
                <a:cs typeface="Times Roman"/>
                <a:sym typeface="Times Roman"/>
              </a:defRPr>
            </a:pPr>
            <a:r>
              <a:rPr sz="3300" b="0"/>
              <a:t>satisfaction. You need to tie the conclusion to the lead sothat the story has unity. Often you can do this through a short, tight summary, occasionally, </a:t>
            </a:r>
            <a:endParaRPr sz="3300" b="0"/>
          </a:p>
          <a:p>
            <a:pPr marL="0" indent="0" defTabSz="333375">
              <a:spcBef>
                <a:spcPts val="400"/>
              </a:spcBef>
              <a:buSzTx/>
              <a:buNone/>
              <a:defRPr sz="3505" b="1">
                <a:solidFill>
                  <a:srgbClr val="000000"/>
                </a:solidFill>
                <a:latin typeface="Times Roman"/>
                <a:ea typeface="Times Roman"/>
                <a:cs typeface="Times Roman"/>
                <a:sym typeface="Times Roman"/>
              </a:defRPr>
            </a:pPr>
            <a:r>
              <a:rPr sz="3300" b="0"/>
              <a:t>you can conclude with an anecdote or a quote that </a:t>
            </a:r>
            <a:endParaRPr sz="3300" b="0"/>
          </a:p>
          <a:p>
            <a:pPr marL="0" indent="0" defTabSz="333375">
              <a:spcBef>
                <a:spcPts val="400"/>
              </a:spcBef>
              <a:buSzTx/>
              <a:buNone/>
              <a:defRPr sz="3505" b="1">
                <a:solidFill>
                  <a:srgbClr val="000000"/>
                </a:solidFill>
                <a:latin typeface="Times Roman"/>
                <a:ea typeface="Times Roman"/>
                <a:cs typeface="Times Roman"/>
                <a:sym typeface="Times Roman"/>
              </a:defRPr>
            </a:pPr>
            <a:r>
              <a:rPr sz="3300" b="0"/>
              <a:t>sums up the substance of the story. With a narrative </a:t>
            </a:r>
            <a:endParaRPr sz="3300" b="0"/>
          </a:p>
          <a:p>
            <a:pPr marL="0" indent="0" defTabSz="333375">
              <a:spcBef>
                <a:spcPts val="400"/>
              </a:spcBef>
              <a:buSzTx/>
              <a:buNone/>
              <a:defRPr sz="3505" b="1">
                <a:solidFill>
                  <a:srgbClr val="000000"/>
                </a:solidFill>
                <a:latin typeface="Times Roman"/>
                <a:ea typeface="Times Roman"/>
                <a:cs typeface="Times Roman"/>
                <a:sym typeface="Times Roman"/>
              </a:defRPr>
            </a:pPr>
            <a:r>
              <a:rPr sz="3300" b="0"/>
              <a:t>approach, you build toward a climax.</a:t>
            </a:r>
            <a:endParaRPr b="0"/>
          </a:p>
          <a:p>
            <a:pPr marL="0" indent="0" defTabSz="333375">
              <a:spcBef>
                <a:spcPts val="400"/>
              </a:spcBef>
              <a:buSzTx/>
              <a:buNone/>
              <a:defRPr sz="3505">
                <a:solidFill>
                  <a:srgbClr val="000000"/>
                </a:solidFill>
                <a:latin typeface="Times Roman"/>
                <a:ea typeface="Times Roman"/>
                <a:cs typeface="Times Roman"/>
                <a:sym typeface="Times Roman"/>
              </a:defRPr>
            </a:pPr>
          </a:p>
          <a:p>
            <a:pPr marL="0" indent="0" defTabSz="333375">
              <a:spcBef>
                <a:spcPts val="400"/>
              </a:spcBef>
              <a:buSzTx/>
              <a:buNone/>
              <a:defRPr sz="3505">
                <a:solidFill>
                  <a:srgbClr val="000000"/>
                </a:solidFill>
                <a:latin typeface="Times Roman"/>
                <a:ea typeface="Times Roman"/>
                <a:cs typeface="Times Roman"/>
                <a:sym typeface="Times Roman"/>
              </a:defRPr>
            </a:pPr>
          </a:p>
        </p:txBody>
      </p:sp>
    </p:spTree>
    <p:custDataLst>
      <p:tags r:id="rId1"/>
    </p:custDataLst>
  </p:cSld>
  <p:clrMapOvr>
    <a:overrideClrMapping bg1="lt1" tx1="dk1" bg2="lt2" tx2="dk2" accent1="accent1" accent2="accent2" accent3="accent3" accent4="accent4" accent5="accent5" accent6="accent6" hlink="hlink" folHlink="folHlink"/>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tructure of a Feature"/>
          <p:cNvSpPr txBox="1"/>
          <p:nvPr>
            <p:ph type="title"/>
          </p:nvPr>
        </p:nvSpPr>
        <p:spPr>
          <a:xfrm>
            <a:off x="736600" y="193521"/>
            <a:ext cx="10718800" cy="899589"/>
          </a:xfrm>
          <a:prstGeom prst="rect">
            <a:avLst/>
          </a:prstGeom>
        </p:spPr>
        <p:txBody>
          <a:bodyPr>
            <a:normAutofit fontScale="90000"/>
          </a:bodyPr>
          <a:lstStyle>
            <a:lvl1pPr defTabSz="445770">
              <a:defRPr sz="5830">
                <a:effectLst>
                  <a:outerShdw blurRad="34290" dist="6858" dir="5400000" rotWithShape="0">
                    <a:srgbClr val="000000">
                      <a:alpha val="30000"/>
                    </a:srgbClr>
                  </a:outerShdw>
                </a:effectLst>
              </a:defRPr>
            </a:lvl1pPr>
          </a:lstStyle>
          <a:p>
            <a:r>
              <a:t>Structure of a Feature </a:t>
            </a:r>
            <a:r>
              <a:rPr lang="en-US"/>
              <a:t>- Length</a:t>
            </a:r>
            <a:endParaRPr lang="en-US"/>
          </a:p>
        </p:txBody>
      </p:sp>
      <p:sp>
        <p:nvSpPr>
          <p:cNvPr id="224" name="3.5 But never omit important if it is required so…"/>
          <p:cNvSpPr txBox="1"/>
          <p:nvPr>
            <p:ph type="body" idx="1"/>
          </p:nvPr>
        </p:nvSpPr>
        <p:spPr>
          <a:xfrm>
            <a:off x="736600" y="1324610"/>
            <a:ext cx="11184890" cy="4208463"/>
          </a:xfrm>
          <a:prstGeom prst="rect">
            <a:avLst/>
          </a:prstGeom>
        </p:spPr>
        <p:txBody>
          <a:bodyPr>
            <a:normAutofit fontScale="60000"/>
          </a:bodyPr>
          <a:lstStyle/>
          <a:p>
            <a:pPr marL="0" indent="0" defTabSz="333375">
              <a:spcBef>
                <a:spcPts val="400"/>
              </a:spcBef>
              <a:buSzTx/>
              <a:buNone/>
              <a:defRPr sz="3505" b="1">
                <a:solidFill>
                  <a:srgbClr val="000000"/>
                </a:solidFill>
                <a:latin typeface="Times Roman"/>
                <a:ea typeface="Times Roman"/>
                <a:cs typeface="Times Roman"/>
                <a:sym typeface="Times Roman"/>
              </a:defRPr>
            </a:pPr>
            <a:endParaRPr b="1"/>
          </a:p>
          <a:p>
            <a:pPr marL="0" indent="0" defTabSz="333375">
              <a:spcBef>
                <a:spcPts val="400"/>
              </a:spcBef>
              <a:buSzTx/>
              <a:buNone/>
              <a:defRPr sz="3505" b="1">
                <a:solidFill>
                  <a:srgbClr val="000000"/>
                </a:solidFill>
                <a:latin typeface="Times Roman"/>
                <a:ea typeface="Times Roman"/>
                <a:cs typeface="Times Roman"/>
                <a:sym typeface="Times Roman"/>
              </a:defRPr>
            </a:pPr>
          </a:p>
          <a:p>
            <a:pPr marL="0" indent="0" defTabSz="333375">
              <a:spcBef>
                <a:spcPts val="400"/>
              </a:spcBef>
              <a:buSzTx/>
              <a:buNone/>
              <a:defRPr sz="3505" b="1">
                <a:solidFill>
                  <a:srgbClr val="000000"/>
                </a:solidFill>
                <a:latin typeface="Times Roman"/>
                <a:ea typeface="Times Roman"/>
                <a:cs typeface="Times Roman"/>
                <a:sym typeface="Times Roman"/>
              </a:defRPr>
            </a:pPr>
            <a:endParaRPr b="0"/>
          </a:p>
          <a:p>
            <a:pPr marL="0" indent="0" defTabSz="333375">
              <a:spcBef>
                <a:spcPts val="400"/>
              </a:spcBef>
              <a:buSzTx/>
              <a:buNone/>
              <a:defRPr sz="3505">
                <a:solidFill>
                  <a:srgbClr val="000000"/>
                </a:solidFill>
                <a:latin typeface="Times Roman"/>
                <a:ea typeface="Times Roman"/>
                <a:cs typeface="Times Roman"/>
                <a:sym typeface="Times Roman"/>
              </a:defRPr>
            </a:pPr>
          </a:p>
          <a:p>
            <a:pPr marL="0" indent="0" defTabSz="333375">
              <a:spcBef>
                <a:spcPts val="400"/>
              </a:spcBef>
              <a:buSzTx/>
              <a:buNone/>
              <a:defRPr sz="3505" b="1">
                <a:solidFill>
                  <a:srgbClr val="000000"/>
                </a:solidFill>
                <a:latin typeface="Times Roman"/>
                <a:ea typeface="Times Roman"/>
                <a:cs typeface="Times Roman"/>
                <a:sym typeface="Times Roman"/>
              </a:defRPr>
            </a:pPr>
            <a:r>
              <a:rPr sz="3300"/>
              <a:t>5 Length</a:t>
            </a:r>
            <a:endParaRPr sz="3300"/>
          </a:p>
          <a:p>
            <a:pPr marL="0" indent="0" defTabSz="333375">
              <a:spcBef>
                <a:spcPts val="400"/>
              </a:spcBef>
              <a:buSzTx/>
              <a:buNone/>
              <a:defRPr sz="3505" b="1">
                <a:solidFill>
                  <a:srgbClr val="000000"/>
                </a:solidFill>
                <a:latin typeface="Times Roman"/>
                <a:ea typeface="Times Roman"/>
                <a:cs typeface="Times Roman"/>
                <a:sym typeface="Times Roman"/>
              </a:defRPr>
            </a:pPr>
            <a:endParaRPr sz="3300" b="0"/>
          </a:p>
          <a:p>
            <a:pPr marL="0" indent="0" defTabSz="333375">
              <a:spcBef>
                <a:spcPts val="0"/>
              </a:spcBef>
              <a:buSzTx/>
              <a:buNone/>
              <a:defRPr sz="3505">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If a reporter asks how long a feature story should be, the editor </a:t>
            </a:r>
            <a:endParaRPr sz="3300"/>
          </a:p>
          <a:p>
            <a:pPr marL="0" indent="0" defTabSz="333375">
              <a:spcBef>
                <a:spcPts val="0"/>
              </a:spcBef>
              <a:buSzTx/>
              <a:buNone/>
              <a:defRPr sz="3505">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may reply, 'as long as you keep it interesting.'  Feature  stories  vary in length from two or three paragraphs to 15 or 20 triple-spaced sheets ofcopy. Readers' interest is  the  main  yardstick </a:t>
            </a:r>
            <a:endParaRPr sz="3300"/>
          </a:p>
          <a:p>
            <a:pPr marL="0" indent="0" defTabSz="333375">
              <a:spcBef>
                <a:spcPts val="0"/>
              </a:spcBef>
              <a:buSzTx/>
              <a:buNone/>
              <a:defRPr sz="3505">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by which they are judged. And editors are paid to accurately</a:t>
            </a:r>
            <a:endParaRPr sz="3300">
              <a:latin typeface="Times Roman"/>
              <a:ea typeface="Times Roman"/>
              <a:cs typeface="Times Roman"/>
              <a:sym typeface="Times Roman"/>
            </a:endParaRPr>
          </a:p>
          <a:p>
            <a:pPr marL="0" indent="0" defTabSz="333375">
              <a:spcBef>
                <a:spcPts val="0"/>
              </a:spcBef>
              <a:buSzTx/>
              <a:buNone/>
              <a:defRPr sz="3505">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assess readers' interest.</a:t>
            </a:r>
            <a:endParaRPr>
              <a:latin typeface="Times Roman"/>
              <a:ea typeface="Times Roman"/>
              <a:cs typeface="Times Roman"/>
              <a:sym typeface="Times Roman"/>
            </a:endParaRPr>
          </a:p>
          <a:p>
            <a:pPr marL="0" indent="0" defTabSz="333375">
              <a:spcBef>
                <a:spcPts val="400"/>
              </a:spcBef>
              <a:buSzTx/>
              <a:buNone/>
              <a:defRPr sz="3505">
                <a:solidFill>
                  <a:srgbClr val="000000"/>
                </a:solidFill>
                <a:latin typeface="Times Roman"/>
                <a:ea typeface="Times Roman"/>
                <a:cs typeface="Times Roman"/>
                <a:sym typeface="Times Roman"/>
              </a:defRPr>
            </a:pPr>
          </a:p>
        </p:txBody>
      </p:sp>
    </p:spTree>
    <p:custDataLst>
      <p:tags r:id="rId1"/>
    </p:custDataLst>
  </p:cSld>
  <p:clrMapOvr>
    <a:overrideClrMapping bg1="lt1" tx1="dk1" bg2="lt2" tx2="dk2" accent1="accent1" accent2="accent2" accent3="accent3" accent4="accent4" accent5="accent5" accent6="accent6" hlink="hlink" folHlink="folHlink"/>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Rectangle 2"/>
          <p:cNvSpPr>
            <a:spLocks noGrp="1" noChangeArrowheads="1"/>
          </p:cNvSpPr>
          <p:nvPr>
            <p:ph type="ctrTitle"/>
          </p:nvPr>
        </p:nvSpPr>
        <p:spPr>
          <a:xfrm>
            <a:off x="2351088" y="1844675"/>
            <a:ext cx="7772400" cy="1431925"/>
          </a:xfrm>
        </p:spPr>
        <p:txBody>
          <a:bodyPr vert="horz" wrap="square" lIns="91440" tIns="45720" rIns="91440" bIns="45720" numCol="1" anchor="b" anchorCtr="0" compatLnSpc="1">
            <a:normAutofit fontScale="90000"/>
          </a:bodyPr>
          <a:lstStyle/>
          <a:p>
            <a:pPr marL="0" marR="0" lvl="0" indent="0" algn="ctr" defTabSz="914400" rtl="0" eaLnBrk="0" fontAlgn="auto" latinLnBrk="0" hangingPunct="0">
              <a:lnSpc>
                <a:spcPct val="100000"/>
              </a:lnSpc>
              <a:spcBef>
                <a:spcPct val="0"/>
              </a:spcBef>
              <a:spcAft>
                <a:spcPts val="0"/>
              </a:spcAft>
              <a:buClrTx/>
              <a:buSzTx/>
              <a:buFontTx/>
              <a:buNone/>
              <a:defRPr/>
            </a:pPr>
            <a:r>
              <a:rPr kumimoji="0" lang="zh-CN" altLang="en-US" sz="4500" b="0" i="0" u="none" strike="noStrike" kern="1200" cap="none" spc="0" normalizeH="0" baseline="0" noProof="0" dirty="0">
                <a:ln>
                  <a:noFill/>
                </a:ln>
                <a:solidFill>
                  <a:schemeClr val="tx2"/>
                </a:solidFill>
                <a:effectLst/>
                <a:uLnTx/>
                <a:uFillTx/>
                <a:latin typeface="+mj-lt"/>
                <a:ea typeface="+mj-ea"/>
                <a:cs typeface="+mj-cs"/>
              </a:rPr>
              <a:t>英语新闻写作</a:t>
            </a:r>
            <a:br>
              <a:rPr kumimoji="0" lang="zh-CN" altLang="en-US" sz="4500" b="0" i="0" u="none" strike="noStrike" kern="1200" cap="none" spc="0" normalizeH="0" baseline="0" noProof="0" dirty="0">
                <a:ln>
                  <a:noFill/>
                </a:ln>
                <a:solidFill>
                  <a:schemeClr val="tx2"/>
                </a:solidFill>
                <a:effectLst/>
                <a:uLnTx/>
                <a:uFillTx/>
                <a:latin typeface="+mj-lt"/>
                <a:ea typeface="+mj-ea"/>
                <a:cs typeface="+mj-cs"/>
              </a:rPr>
            </a:br>
            <a:r>
              <a:rPr kumimoji="0" lang="en-US" altLang="zh-CN" sz="4500" b="0" i="0" u="none" strike="noStrike" kern="1200" cap="none" spc="0" normalizeH="0" baseline="0" noProof="0" dirty="0">
                <a:ln>
                  <a:noFill/>
                </a:ln>
                <a:solidFill>
                  <a:schemeClr val="tx2"/>
                </a:solidFill>
                <a:effectLst/>
                <a:uLnTx/>
                <a:uFillTx/>
                <a:latin typeface="+mj-lt"/>
                <a:ea typeface="+mj-ea"/>
                <a:cs typeface="+mj-cs"/>
              </a:rPr>
              <a:t>English news writing</a:t>
            </a:r>
            <a:endParaRPr kumimoji="0" lang="en-US" altLang="zh-CN" sz="4500" b="0" i="0" u="none" strike="noStrike" kern="1200" cap="none" spc="0" normalizeH="0" baseline="0" noProof="0" dirty="0">
              <a:ln>
                <a:noFill/>
              </a:ln>
              <a:solidFill>
                <a:schemeClr val="tx2"/>
              </a:solidFill>
              <a:effectLst/>
              <a:uLnTx/>
              <a:uFillTx/>
              <a:latin typeface="+mj-lt"/>
              <a:ea typeface="+mj-ea"/>
              <a:cs typeface="+mj-cs"/>
            </a:endParaRPr>
          </a:p>
        </p:txBody>
      </p:sp>
      <p:sp>
        <p:nvSpPr>
          <p:cNvPr id="37890" name="副标题 5"/>
          <p:cNvSpPr>
            <a:spLocks noGrp="1"/>
          </p:cNvSpPr>
          <p:nvPr>
            <p:ph type="subTitle" idx="1"/>
          </p:nvPr>
        </p:nvSpPr>
        <p:spPr>
          <a:xfrm>
            <a:off x="2209800" y="3611563"/>
            <a:ext cx="7772400" cy="1200150"/>
          </a:xfrm>
        </p:spPr>
        <p:txBody>
          <a:bodyPr vert="horz" wrap="square" lIns="91440" tIns="45720" rIns="91440" bIns="45720" anchor="t" anchorCtr="0"/>
          <a:p>
            <a:pPr>
              <a:buClrTx/>
              <a:buSzTx/>
              <a:buFontTx/>
            </a:pPr>
            <a:endParaRPr lang="zh-CN" altLang="en-US" kern="1200" dirty="0">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linds(horizontal)">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3"/>
          <p:cNvSpPr>
            <a:spLocks noGrp="1"/>
          </p:cNvSpPr>
          <p:nvPr>
            <p:ph idx="1"/>
          </p:nvPr>
        </p:nvSpPr>
        <p:spPr>
          <a:xfrm>
            <a:off x="1981200" y="1412875"/>
            <a:ext cx="8229600" cy="5111750"/>
          </a:xfrm>
        </p:spPr>
        <p:txBody>
          <a:bodyPr vert="horz" wrap="square" lIns="91440" tIns="45720" rIns="91440" bIns="45720" anchor="t" anchorCtr="0"/>
          <a:p>
            <a:r>
              <a:rPr lang="zh-CN" altLang="en-US" sz="2800" dirty="0"/>
              <a:t>按传播工具分：</a:t>
            </a:r>
            <a:r>
              <a:rPr lang="en-US" altLang="zh-CN" sz="2800" dirty="0">
                <a:latin typeface="Times New Roman" panose="02020603050405020304" pitchFamily="18" charset="0"/>
              </a:rPr>
              <a:t>Newspaper coverage, magazine coverage, radio news, TV news,  cable news, dispatches. </a:t>
            </a:r>
            <a:endParaRPr lang="en-US" altLang="zh-CN" sz="2800" dirty="0">
              <a:latin typeface="Times New Roman" panose="02020603050405020304" pitchFamily="18" charset="0"/>
            </a:endParaRPr>
          </a:p>
          <a:p>
            <a:r>
              <a:rPr lang="zh-CN" altLang="en-US" sz="2800" dirty="0"/>
              <a:t>新闻事实发生的地域和范围：</a:t>
            </a:r>
            <a:r>
              <a:rPr lang="en-US" altLang="zh-CN" sz="2800" dirty="0">
                <a:latin typeface="Times New Roman" panose="02020603050405020304" pitchFamily="18" charset="0"/>
              </a:rPr>
              <a:t>home news, local news</a:t>
            </a:r>
            <a:endParaRPr lang="en-US" altLang="zh-CN" sz="2800" dirty="0">
              <a:latin typeface="Times New Roman" panose="02020603050405020304" pitchFamily="18" charset="0"/>
            </a:endParaRPr>
          </a:p>
          <a:p>
            <a:r>
              <a:rPr lang="zh-CN" altLang="en-US" sz="2800" dirty="0"/>
              <a:t>报道的内容：</a:t>
            </a:r>
            <a:r>
              <a:rPr lang="en-US" altLang="zh-CN" sz="2800" dirty="0">
                <a:latin typeface="Times New Roman" panose="02020603050405020304" pitchFamily="18" charset="0"/>
              </a:rPr>
              <a:t>political news, economic news, technological news, cultural news, sports news, violence and crime news, disaster news, weather news, obituary, entertainment</a:t>
            </a:r>
            <a:r>
              <a:rPr lang="en-US" altLang="zh-CN" sz="2800" dirty="0"/>
              <a:t>.</a:t>
            </a:r>
            <a:endParaRPr lang="en-US" altLang="zh-CN" sz="2800" dirty="0"/>
          </a:p>
          <a:p>
            <a:pPr>
              <a:buNone/>
            </a:pPr>
            <a:endParaRPr lang="en-US" altLang="zh-CN" sz="2800" dirty="0">
              <a:latin typeface="Times New Roman" panose="02020603050405020304" pitchFamily="18" charset="0"/>
            </a:endParaRPr>
          </a:p>
          <a:p>
            <a:endParaRPr lang="en-US" altLang="zh-CN" sz="2800" dirty="0"/>
          </a:p>
          <a:p>
            <a:endParaRPr lang="en-US" altLang="zh-CN" sz="2800" dirty="0"/>
          </a:p>
        </p:txBody>
      </p:sp>
      <p:sp>
        <p:nvSpPr>
          <p:cNvPr id="38914" name="Rectangle 2"/>
          <p:cNvSpPr>
            <a:spLocks noGrp="1"/>
          </p:cNvSpPr>
          <p:nvPr>
            <p:ph type="title"/>
          </p:nvPr>
        </p:nvSpPr>
        <p:spPr>
          <a:xfrm>
            <a:off x="1847850" y="188913"/>
            <a:ext cx="8229600" cy="1143000"/>
          </a:xfrm>
        </p:spPr>
        <p:txBody>
          <a:bodyPr vert="horz" wrap="square" lIns="91440" tIns="45720" rIns="91440" bIns="45720" anchor="ctr" anchorCtr="0"/>
          <a:p>
            <a:r>
              <a:rPr lang="en-US" altLang="zh-CN" dirty="0"/>
              <a:t>Classifications</a:t>
            </a:r>
            <a:endParaRPr lang="zh-CN" altLang="en-US"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Rectangle 3"/>
          <p:cNvSpPr>
            <a:spLocks noGrp="1"/>
          </p:cNvSpPr>
          <p:nvPr>
            <p:ph idx="1"/>
          </p:nvPr>
        </p:nvSpPr>
        <p:spPr>
          <a:xfrm>
            <a:off x="1981200" y="1600200"/>
            <a:ext cx="8229600" cy="5257800"/>
          </a:xfrm>
        </p:spPr>
        <p:txBody>
          <a:bodyPr vert="horz" wrap="square" lIns="91440" tIns="45720" rIns="91440" bIns="45720" anchor="t" anchorCtr="0"/>
          <a:p>
            <a:r>
              <a:rPr lang="zh-CN" altLang="en-US" dirty="0"/>
              <a:t>新闻与新闻价值（</a:t>
            </a:r>
            <a:r>
              <a:rPr lang="en-US" altLang="zh-CN" dirty="0"/>
              <a:t>news and news value)</a:t>
            </a:r>
            <a:endParaRPr lang="en-US" altLang="zh-CN" dirty="0"/>
          </a:p>
          <a:p>
            <a:r>
              <a:rPr lang="en-US" altLang="zh-CN" dirty="0"/>
              <a:t>News value determiners/determinants</a:t>
            </a:r>
            <a:endParaRPr lang="en-US" altLang="zh-CN" dirty="0"/>
          </a:p>
          <a:p>
            <a:pPr>
              <a:buClr>
                <a:schemeClr val="tx1"/>
              </a:buClr>
              <a:buFont typeface="Wingdings" panose="05000000000000000000" pitchFamily="2" charset="2"/>
              <a:buChar char="Ø"/>
            </a:pPr>
            <a:r>
              <a:rPr lang="zh-CN" altLang="en-US" dirty="0">
                <a:solidFill>
                  <a:srgbClr val="FF0066"/>
                </a:solidFill>
                <a:latin typeface="Times New Roman" panose="02020603050405020304" pitchFamily="18" charset="0"/>
              </a:rPr>
              <a:t>时效性</a:t>
            </a:r>
            <a:r>
              <a:rPr lang="en-US" altLang="zh-CN" dirty="0">
                <a:latin typeface="Times New Roman" panose="02020603050405020304" pitchFamily="18" charset="0"/>
              </a:rPr>
              <a:t>timeliness </a:t>
            </a:r>
            <a:r>
              <a:rPr lang="zh-CN" altLang="en-US" dirty="0">
                <a:latin typeface="Times New Roman" panose="02020603050405020304" pitchFamily="18" charset="0"/>
              </a:rPr>
              <a:t>和新鲜感</a:t>
            </a:r>
            <a:r>
              <a:rPr lang="en-US" altLang="zh-CN" dirty="0">
                <a:latin typeface="Times New Roman" panose="02020603050405020304" pitchFamily="18" charset="0"/>
              </a:rPr>
              <a:t>freshness</a:t>
            </a:r>
            <a:endParaRPr lang="en-US" altLang="zh-CN" dirty="0">
              <a:latin typeface="Times New Roman" panose="02020603050405020304" pitchFamily="18" charset="0"/>
            </a:endParaRPr>
          </a:p>
          <a:p>
            <a:pPr>
              <a:buClr>
                <a:schemeClr val="tx1"/>
              </a:buClr>
              <a:buFont typeface="Wingdings" panose="05000000000000000000" pitchFamily="2" charset="2"/>
              <a:buChar char="Ø"/>
            </a:pPr>
            <a:r>
              <a:rPr lang="zh-CN" altLang="en-US" dirty="0">
                <a:solidFill>
                  <a:srgbClr val="FF0066"/>
                </a:solidFill>
                <a:latin typeface="Times New Roman" panose="02020603050405020304" pitchFamily="18" charset="0"/>
              </a:rPr>
              <a:t>重要性</a:t>
            </a:r>
            <a:r>
              <a:rPr lang="en-US" altLang="zh-CN" dirty="0">
                <a:latin typeface="Times New Roman" panose="02020603050405020304" pitchFamily="18" charset="0"/>
              </a:rPr>
              <a:t>importance, consequence, impact or significance </a:t>
            </a:r>
            <a:endParaRPr lang="en-US" altLang="zh-CN" dirty="0">
              <a:latin typeface="Times New Roman" panose="02020603050405020304" pitchFamily="18" charset="0"/>
            </a:endParaRPr>
          </a:p>
          <a:p>
            <a:pPr>
              <a:buClr>
                <a:schemeClr val="tx1"/>
              </a:buClr>
              <a:buFont typeface="Wingdings" panose="05000000000000000000" pitchFamily="2" charset="2"/>
              <a:buChar char="Ø"/>
            </a:pPr>
            <a:r>
              <a:rPr lang="zh-CN" altLang="en-US" dirty="0">
                <a:solidFill>
                  <a:srgbClr val="FF0066"/>
                </a:solidFill>
                <a:latin typeface="Times New Roman" panose="02020603050405020304" pitchFamily="18" charset="0"/>
              </a:rPr>
              <a:t>显著性</a:t>
            </a:r>
            <a:r>
              <a:rPr lang="en-US" altLang="zh-CN" dirty="0">
                <a:latin typeface="Times New Roman" panose="02020603050405020304" pitchFamily="18" charset="0"/>
              </a:rPr>
              <a:t>prominence </a:t>
            </a:r>
            <a:endParaRPr lang="en-US" altLang="zh-CN" dirty="0">
              <a:latin typeface="Times New Roman" panose="02020603050405020304" pitchFamily="18" charset="0"/>
            </a:endParaRPr>
          </a:p>
          <a:p>
            <a:pPr>
              <a:buClr>
                <a:schemeClr val="tx1"/>
              </a:buClr>
              <a:buFont typeface="Wingdings" panose="05000000000000000000" pitchFamily="2" charset="2"/>
              <a:buChar char="Ø"/>
            </a:pPr>
            <a:r>
              <a:rPr lang="zh-CN" altLang="en-US" dirty="0">
                <a:solidFill>
                  <a:srgbClr val="FF0066"/>
                </a:solidFill>
                <a:latin typeface="Times New Roman" panose="02020603050405020304" pitchFamily="18" charset="0"/>
              </a:rPr>
              <a:t>接近性</a:t>
            </a:r>
            <a:r>
              <a:rPr lang="en-US" altLang="zh-CN" dirty="0">
                <a:latin typeface="Times New Roman" panose="02020603050405020304" pitchFamily="18" charset="0"/>
              </a:rPr>
              <a:t>nearness, proximity or locality </a:t>
            </a:r>
            <a:endParaRPr lang="en-US" altLang="zh-CN" dirty="0">
              <a:latin typeface="Times New Roman" panose="02020603050405020304" pitchFamily="18" charset="0"/>
            </a:endParaRPr>
          </a:p>
          <a:p>
            <a:endParaRPr lang="en-US" altLang="zh-CN" dirty="0">
              <a:latin typeface="Times New Roman" panose="02020603050405020304" pitchFamily="18" charset="0"/>
            </a:endParaRPr>
          </a:p>
        </p:txBody>
      </p:sp>
      <p:sp>
        <p:nvSpPr>
          <p:cNvPr id="28674" name="Rectangle 2"/>
          <p:cNvSpPr>
            <a:spLocks noGrp="1"/>
          </p:cNvSpPr>
          <p:nvPr>
            <p:ph type="title"/>
          </p:nvPr>
        </p:nvSpPr>
        <p:spPr/>
        <p:txBody>
          <a:bodyPr vert="horz" wrap="square" lIns="91440" tIns="45720" rIns="91440" bIns="45720" anchor="ctr" anchorCtr="0"/>
          <a:p>
            <a:r>
              <a:rPr lang="en-US" altLang="zh-CN" dirty="0"/>
              <a:t>News Value</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blinds(horizontal)">
                                      <p:cBhvr>
                                        <p:cTn id="7" dur="500"/>
                                        <p:tgtEl>
                                          <p:spTgt spid="2867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675">
                                            <p:txEl>
                                              <p:charRg st="0" end="29"/>
                                            </p:txEl>
                                          </p:spTgt>
                                        </p:tgtEl>
                                        <p:attrNameLst>
                                          <p:attrName>style.visibility</p:attrName>
                                        </p:attrNameLst>
                                      </p:cBhvr>
                                      <p:to>
                                        <p:strVal val="visible"/>
                                      </p:to>
                                    </p:set>
                                    <p:animEffect transition="in" filter="blinds(horizontal)">
                                      <p:cBhvr>
                                        <p:cTn id="12" dur="500"/>
                                        <p:tgtEl>
                                          <p:spTgt spid="28675">
                                            <p:txEl>
                                              <p:charRg st="0" end="2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8675">
                                            <p:txEl>
                                              <p:charRg st="29" end="65"/>
                                            </p:txEl>
                                          </p:spTgt>
                                        </p:tgtEl>
                                        <p:attrNameLst>
                                          <p:attrName>style.visibility</p:attrName>
                                        </p:attrNameLst>
                                      </p:cBhvr>
                                      <p:to>
                                        <p:strVal val="visible"/>
                                      </p:to>
                                    </p:set>
                                    <p:anim calcmode="lin" valueType="num">
                                      <p:cBhvr additive="base">
                                        <p:cTn id="17" dur="500" fill="hold"/>
                                        <p:tgtEl>
                                          <p:spTgt spid="28675">
                                            <p:txEl>
                                              <p:charRg st="29" end="6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8675">
                                            <p:txEl>
                                              <p:charRg st="29" end="6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8675">
                                            <p:txEl>
                                              <p:charRg st="65" end="93"/>
                                            </p:txEl>
                                          </p:spTgt>
                                        </p:tgtEl>
                                        <p:attrNameLst>
                                          <p:attrName>style.visibility</p:attrName>
                                        </p:attrNameLst>
                                      </p:cBhvr>
                                      <p:to>
                                        <p:strVal val="visible"/>
                                      </p:to>
                                    </p:set>
                                    <p:anim calcmode="lin" valueType="num">
                                      <p:cBhvr additive="base">
                                        <p:cTn id="21" dur="500" fill="hold"/>
                                        <p:tgtEl>
                                          <p:spTgt spid="28675">
                                            <p:txEl>
                                              <p:charRg st="65" end="9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8675">
                                            <p:txEl>
                                              <p:charRg st="65" end="9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8675">
                                            <p:txEl>
                                              <p:charRg st="93" end="145"/>
                                            </p:txEl>
                                          </p:spTgt>
                                        </p:tgtEl>
                                        <p:attrNameLst>
                                          <p:attrName>style.visibility</p:attrName>
                                        </p:attrNameLst>
                                      </p:cBhvr>
                                      <p:to>
                                        <p:strVal val="visible"/>
                                      </p:to>
                                    </p:set>
                                    <p:anim calcmode="lin" valueType="num">
                                      <p:cBhvr additive="base">
                                        <p:cTn id="25" dur="500" fill="hold"/>
                                        <p:tgtEl>
                                          <p:spTgt spid="28675">
                                            <p:txEl>
                                              <p:charRg st="93" end="14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5">
                                            <p:txEl>
                                              <p:charRg st="93" end="14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8675">
                                            <p:txEl>
                                              <p:charRg st="145" end="160"/>
                                            </p:txEl>
                                          </p:spTgt>
                                        </p:tgtEl>
                                        <p:attrNameLst>
                                          <p:attrName>style.visibility</p:attrName>
                                        </p:attrNameLst>
                                      </p:cBhvr>
                                      <p:to>
                                        <p:strVal val="visible"/>
                                      </p:to>
                                    </p:set>
                                    <p:anim calcmode="lin" valueType="num">
                                      <p:cBhvr additive="base">
                                        <p:cTn id="29" dur="500" fill="hold"/>
                                        <p:tgtEl>
                                          <p:spTgt spid="28675">
                                            <p:txEl>
                                              <p:charRg st="145" end="16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8675">
                                            <p:txEl>
                                              <p:charRg st="145" end="16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8675">
                                            <p:txEl>
                                              <p:charRg st="160" end="196"/>
                                            </p:txEl>
                                          </p:spTgt>
                                        </p:tgtEl>
                                        <p:attrNameLst>
                                          <p:attrName>style.visibility</p:attrName>
                                        </p:attrNameLst>
                                      </p:cBhvr>
                                      <p:to>
                                        <p:strVal val="visible"/>
                                      </p:to>
                                    </p:set>
                                    <p:anim calcmode="lin" valueType="num">
                                      <p:cBhvr additive="base">
                                        <p:cTn id="33" dur="500" fill="hold"/>
                                        <p:tgtEl>
                                          <p:spTgt spid="28675">
                                            <p:txEl>
                                              <p:charRg st="160" end="19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8675">
                                            <p:txEl>
                                              <p:charRg st="160" end="19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3"/>
          <p:cNvSpPr>
            <a:spLocks noGrp="1"/>
          </p:cNvSpPr>
          <p:nvPr>
            <p:ph idx="1"/>
          </p:nvPr>
        </p:nvSpPr>
        <p:spPr/>
        <p:txBody>
          <a:bodyPr vert="horz" wrap="square" lIns="91440" tIns="45720" rIns="91440" bIns="45720" anchor="t" anchorCtr="0"/>
          <a:p>
            <a:r>
              <a:rPr lang="zh-CN" altLang="en-US" dirty="0"/>
              <a:t>新闻与新闻价值</a:t>
            </a:r>
            <a:endParaRPr lang="zh-CN" altLang="en-US" dirty="0"/>
          </a:p>
          <a:p>
            <a:pPr>
              <a:buClr>
                <a:schemeClr val="tx1"/>
              </a:buClr>
              <a:buFont typeface="Wingdings" panose="05000000000000000000" pitchFamily="2" charset="2"/>
              <a:buChar char="Ø"/>
            </a:pPr>
            <a:r>
              <a:rPr lang="zh-CN" altLang="en-US" sz="2800" dirty="0">
                <a:solidFill>
                  <a:srgbClr val="FF0066"/>
                </a:solidFill>
                <a:latin typeface="Times New Roman" panose="02020603050405020304" pitchFamily="18" charset="0"/>
              </a:rPr>
              <a:t>奇异性</a:t>
            </a:r>
            <a:r>
              <a:rPr lang="en-US" altLang="zh-CN" sz="2800" dirty="0">
                <a:latin typeface="Times New Roman" panose="02020603050405020304" pitchFamily="18" charset="0"/>
              </a:rPr>
              <a:t>unusualness, bizarreness, oddity or novelty ( when a dog bites a man, that’s not news; but when a man bites a dog, that’s news)</a:t>
            </a:r>
            <a:endParaRPr lang="en-US" altLang="zh-CN" sz="2800" dirty="0">
              <a:latin typeface="Times New Roman" panose="02020603050405020304" pitchFamily="18" charset="0"/>
            </a:endParaRPr>
          </a:p>
          <a:p>
            <a:pPr>
              <a:buClr>
                <a:schemeClr val="tx1"/>
              </a:buClr>
              <a:buFont typeface="Wingdings" panose="05000000000000000000" pitchFamily="2" charset="2"/>
              <a:buChar char="Ø"/>
            </a:pPr>
            <a:r>
              <a:rPr lang="zh-CN" altLang="en-US" sz="2800" dirty="0">
                <a:solidFill>
                  <a:srgbClr val="FF0066"/>
                </a:solidFill>
                <a:latin typeface="Times New Roman" panose="02020603050405020304" pitchFamily="18" charset="0"/>
              </a:rPr>
              <a:t>趣味性</a:t>
            </a:r>
            <a:r>
              <a:rPr lang="zh-CN" altLang="en-US" sz="2800" dirty="0">
                <a:latin typeface="Times New Roman" panose="02020603050405020304" pitchFamily="18" charset="0"/>
              </a:rPr>
              <a:t> </a:t>
            </a:r>
            <a:r>
              <a:rPr lang="en-US" altLang="zh-CN" sz="2800" dirty="0">
                <a:latin typeface="Times New Roman" panose="02020603050405020304" pitchFamily="18" charset="0"/>
              </a:rPr>
              <a:t>interest, crime, morals and ethics, population, life, marriage, family, friendship, love and emotion, money, sex</a:t>
            </a:r>
            <a:r>
              <a:rPr lang="en-US" altLang="zh-CN" dirty="0"/>
              <a:t>.</a:t>
            </a:r>
            <a:endParaRPr lang="en-US" altLang="zh-CN" dirty="0"/>
          </a:p>
          <a:p>
            <a:endParaRPr lang="en-US" altLang="zh-CN" dirty="0"/>
          </a:p>
        </p:txBody>
      </p:sp>
      <p:sp>
        <p:nvSpPr>
          <p:cNvPr id="40962" name="标题 3"/>
          <p:cNvSpPr>
            <a:spLocks noGrp="1"/>
          </p:cNvSpPr>
          <p:nvPr>
            <p:ph type="title"/>
          </p:nvPr>
        </p:nvSpPr>
        <p:spPr/>
        <p:txBody>
          <a:bodyPr vert="horz" wrap="square" lIns="91440" tIns="45720" rIns="91440" bIns="45720" anchor="ctr" anchorCtr="0"/>
          <a:p>
            <a:endParaRPr lang="zh-CN" alt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3"/>
          <p:cNvSpPr>
            <a:spLocks noGrp="1"/>
          </p:cNvSpPr>
          <p:nvPr>
            <p:ph idx="1"/>
          </p:nvPr>
        </p:nvSpPr>
        <p:spPr/>
        <p:txBody>
          <a:bodyPr vert="horz" wrap="square" lIns="91440" tIns="45720" rIns="91440" bIns="45720" anchor="t" anchorCtr="0"/>
          <a:p>
            <a:r>
              <a:rPr lang="en-US" altLang="zh-CN" sz="2800" dirty="0">
                <a:latin typeface="Times New Roman" panose="02020603050405020304" pitchFamily="18" charset="0"/>
              </a:rPr>
              <a:t>News- headline</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Lead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Inverted Pyramid Style</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body</a:t>
            </a:r>
            <a:endParaRPr lang="en-US" altLang="zh-CN" sz="2800" dirty="0">
              <a:latin typeface="Times New Roman" panose="02020603050405020304" pitchFamily="18" charset="0"/>
            </a:endParaRPr>
          </a:p>
        </p:txBody>
      </p:sp>
      <p:sp>
        <p:nvSpPr>
          <p:cNvPr id="41986" name="Rectangle 2"/>
          <p:cNvSpPr>
            <a:spLocks noGrp="1"/>
          </p:cNvSpPr>
          <p:nvPr>
            <p:ph type="title"/>
          </p:nvPr>
        </p:nvSpPr>
        <p:spPr/>
        <p:txBody>
          <a:bodyPr vert="horz" wrap="square" lIns="91440" tIns="45720" rIns="91440" bIns="45720" anchor="ctr" anchorCtr="0"/>
          <a:p>
            <a:r>
              <a:rPr lang="zh-CN" altLang="en-US" dirty="0"/>
              <a:t>消息的基本结构</a:t>
            </a:r>
            <a:endParaRPr lang="zh-CN" altLang="en-US"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5" name="Rectangle 3"/>
          <p:cNvSpPr>
            <a:spLocks noGrp="1"/>
          </p:cNvSpPr>
          <p:nvPr>
            <p:ph idx="1"/>
          </p:nvPr>
        </p:nvSpPr>
        <p:spPr>
          <a:xfrm>
            <a:off x="5232400" y="1628775"/>
            <a:ext cx="1868488" cy="493713"/>
          </a:xfrm>
        </p:spPr>
        <p:txBody>
          <a:bodyPr vert="horz" wrap="square" lIns="91440" tIns="45720" rIns="91440" bIns="45720" anchor="t" anchorCtr="0"/>
          <a:p>
            <a:pPr marL="609600" indent="-609600">
              <a:lnSpc>
                <a:spcPct val="80000"/>
              </a:lnSpc>
              <a:buNone/>
            </a:pPr>
            <a:endParaRPr lang="zh-CN" altLang="en-US" sz="2600" dirty="0"/>
          </a:p>
        </p:txBody>
      </p:sp>
      <p:sp>
        <p:nvSpPr>
          <p:cNvPr id="57346" name="Rectangle 20"/>
          <p:cNvSpPr>
            <a:spLocks noGrp="1"/>
          </p:cNvSpPr>
          <p:nvPr>
            <p:ph type="title"/>
          </p:nvPr>
        </p:nvSpPr>
        <p:spPr>
          <a:xfrm>
            <a:off x="2895600" y="188913"/>
            <a:ext cx="7772400" cy="1143000"/>
          </a:xfrm>
        </p:spPr>
        <p:txBody>
          <a:bodyPr vert="horz" wrap="square" lIns="91440" tIns="45720" rIns="91440" bIns="45720" anchor="ctr" anchorCtr="0"/>
          <a:p>
            <a:pPr marL="1117600" indent="-1117600"/>
            <a:r>
              <a:rPr lang="en-US" altLang="zh-CN" sz="4000" dirty="0">
                <a:solidFill>
                  <a:srgbClr val="0066CC"/>
                </a:solidFill>
              </a:rPr>
              <a:t>The Inverted Pyramid</a:t>
            </a:r>
            <a:r>
              <a:rPr lang="en-US" altLang="zh-CN" dirty="0"/>
              <a:t> </a:t>
            </a:r>
            <a:endParaRPr lang="zh-CN" altLang="en-US" dirty="0"/>
          </a:p>
        </p:txBody>
      </p:sp>
      <p:sp>
        <p:nvSpPr>
          <p:cNvPr id="57347" name="AutoShape 4"/>
          <p:cNvSpPr/>
          <p:nvPr/>
        </p:nvSpPr>
        <p:spPr>
          <a:xfrm rot="10800000">
            <a:off x="3503613" y="1341438"/>
            <a:ext cx="5329237" cy="4321175"/>
          </a:xfrm>
          <a:prstGeom prst="triangle">
            <a:avLst>
              <a:gd name="adj" fmla="val 50000"/>
            </a:avLst>
          </a:prstGeom>
          <a:solidFill>
            <a:srgbClr val="FFFFCC"/>
          </a:solidFill>
          <a:ln w="9525" cap="flat" cmpd="sng">
            <a:solidFill>
              <a:srgbClr val="000000"/>
            </a:solidFill>
            <a:prstDash val="solid"/>
            <a:miter/>
            <a:headEnd type="none" w="med" len="med"/>
            <a:tailEnd type="none" w="med" len="med"/>
          </a:ln>
        </p:spPr>
        <p:txBody>
          <a:bodyPr rot="10800000" wrap="none" anchor="ctr" anchorCtr="0"/>
          <a:p>
            <a:pPr indent="0"/>
            <a:endParaRPr lang="zh-CN" altLang="en-US" sz="1800" dirty="0">
              <a:solidFill>
                <a:srgbClr val="0066CC"/>
              </a:solidFill>
              <a:latin typeface="Arial" panose="020B0604020202020204" pitchFamily="34" charset="0"/>
              <a:ea typeface="宋体" panose="02010600030101010101" pitchFamily="2" charset="-122"/>
            </a:endParaRPr>
          </a:p>
        </p:txBody>
      </p:sp>
      <p:sp>
        <p:nvSpPr>
          <p:cNvPr id="57348" name="Line 12"/>
          <p:cNvSpPr/>
          <p:nvPr/>
        </p:nvSpPr>
        <p:spPr>
          <a:xfrm>
            <a:off x="5303838" y="4221163"/>
            <a:ext cx="1728787" cy="0"/>
          </a:xfrm>
          <a:prstGeom prst="line">
            <a:avLst/>
          </a:prstGeom>
          <a:ln w="9525" cap="flat" cmpd="sng">
            <a:solidFill>
              <a:srgbClr val="000000"/>
            </a:solidFill>
            <a:prstDash val="solid"/>
            <a:round/>
            <a:headEnd type="none" w="med" len="med"/>
            <a:tailEnd type="none" w="med" len="med"/>
          </a:ln>
        </p:spPr>
      </p:sp>
      <p:sp>
        <p:nvSpPr>
          <p:cNvPr id="57349" name="Line 13"/>
          <p:cNvSpPr/>
          <p:nvPr/>
        </p:nvSpPr>
        <p:spPr>
          <a:xfrm>
            <a:off x="4079875" y="2205038"/>
            <a:ext cx="4176713" cy="0"/>
          </a:xfrm>
          <a:prstGeom prst="line">
            <a:avLst/>
          </a:prstGeom>
          <a:ln w="9525" cap="flat" cmpd="sng">
            <a:solidFill>
              <a:srgbClr val="000000"/>
            </a:solidFill>
            <a:prstDash val="solid"/>
            <a:round/>
            <a:headEnd type="none" w="med" len="med"/>
            <a:tailEnd type="none" w="med" len="med"/>
          </a:ln>
        </p:spPr>
      </p:sp>
      <p:sp>
        <p:nvSpPr>
          <p:cNvPr id="57350" name="Line 15"/>
          <p:cNvSpPr/>
          <p:nvPr/>
        </p:nvSpPr>
        <p:spPr>
          <a:xfrm>
            <a:off x="4727575" y="3213100"/>
            <a:ext cx="2952750" cy="0"/>
          </a:xfrm>
          <a:prstGeom prst="line">
            <a:avLst/>
          </a:prstGeom>
          <a:ln w="9525" cap="flat" cmpd="sng">
            <a:solidFill>
              <a:srgbClr val="000000"/>
            </a:solidFill>
            <a:prstDash val="solid"/>
            <a:round/>
            <a:headEnd type="none" w="med" len="med"/>
            <a:tailEnd type="none" w="med" len="med"/>
          </a:ln>
        </p:spPr>
      </p:sp>
      <p:sp>
        <p:nvSpPr>
          <p:cNvPr id="57351" name="Text Box 16"/>
          <p:cNvSpPr txBox="1"/>
          <p:nvPr/>
        </p:nvSpPr>
        <p:spPr>
          <a:xfrm>
            <a:off x="5087938" y="1844675"/>
            <a:ext cx="2303462" cy="368300"/>
          </a:xfrm>
          <a:prstGeom prst="rect">
            <a:avLst/>
          </a:prstGeom>
          <a:noFill/>
          <a:ln w="9525">
            <a:noFill/>
          </a:ln>
        </p:spPr>
        <p:txBody>
          <a:bodyPr anchor="t" anchorCtr="0">
            <a:spAutoFit/>
          </a:bodyPr>
          <a:p>
            <a:pPr indent="0">
              <a:spcBef>
                <a:spcPct val="50000"/>
              </a:spcBef>
            </a:pPr>
            <a:r>
              <a:rPr lang="en-US" altLang="zh-CN" sz="1800" dirty="0">
                <a:latin typeface="Arial" panose="020B0604020202020204" pitchFamily="34" charset="0"/>
                <a:ea typeface="宋体" panose="02010600030101010101" pitchFamily="2" charset="-122"/>
              </a:rPr>
              <a:t>Summary lead</a:t>
            </a:r>
            <a:endParaRPr lang="en-US" altLang="zh-CN" sz="1800" dirty="0">
              <a:latin typeface="Arial" panose="020B0604020202020204" pitchFamily="34" charset="0"/>
              <a:ea typeface="宋体" panose="02010600030101010101" pitchFamily="2" charset="-122"/>
            </a:endParaRPr>
          </a:p>
        </p:txBody>
      </p:sp>
      <p:sp>
        <p:nvSpPr>
          <p:cNvPr id="57352" name="Text Box 17"/>
          <p:cNvSpPr txBox="1"/>
          <p:nvPr/>
        </p:nvSpPr>
        <p:spPr>
          <a:xfrm>
            <a:off x="5089525" y="2403475"/>
            <a:ext cx="2303463" cy="783590"/>
          </a:xfrm>
          <a:prstGeom prst="rect">
            <a:avLst/>
          </a:prstGeom>
          <a:noFill/>
          <a:ln w="9525">
            <a:noFill/>
          </a:ln>
        </p:spPr>
        <p:txBody>
          <a:bodyPr anchor="t" anchorCtr="0">
            <a:spAutoFit/>
          </a:bodyPr>
          <a:p>
            <a:pPr indent="0" algn="ctr">
              <a:spcBef>
                <a:spcPct val="50000"/>
              </a:spcBef>
            </a:pPr>
            <a:r>
              <a:rPr lang="en-US" altLang="zh-CN" sz="1800" dirty="0">
                <a:latin typeface="Arial" panose="020B0604020202020204" pitchFamily="34" charset="0"/>
                <a:ea typeface="宋体" panose="02010600030101010101" pitchFamily="2" charset="-122"/>
              </a:rPr>
              <a:t>Backup</a:t>
            </a:r>
            <a:endParaRPr lang="en-US" altLang="zh-CN" sz="1800" dirty="0">
              <a:latin typeface="Arial" panose="020B0604020202020204" pitchFamily="34" charset="0"/>
              <a:ea typeface="宋体" panose="02010600030101010101" pitchFamily="2" charset="-122"/>
            </a:endParaRPr>
          </a:p>
          <a:p>
            <a:pPr indent="0">
              <a:spcBef>
                <a:spcPct val="50000"/>
              </a:spcBef>
            </a:pPr>
            <a:r>
              <a:rPr lang="en-US" altLang="zh-CN" sz="1800" dirty="0">
                <a:latin typeface="Arial" panose="020B0604020202020204" pitchFamily="34" charset="0"/>
                <a:ea typeface="宋体" panose="02010600030101010101" pitchFamily="2" charset="-122"/>
              </a:rPr>
              <a:t>(quotes or facts)</a:t>
            </a:r>
            <a:endParaRPr lang="en-US" altLang="zh-CN" sz="1800" dirty="0">
              <a:latin typeface="Arial" panose="020B0604020202020204" pitchFamily="34" charset="0"/>
              <a:ea typeface="宋体" panose="02010600030101010101" pitchFamily="2" charset="-122"/>
            </a:endParaRPr>
          </a:p>
        </p:txBody>
      </p:sp>
      <p:sp>
        <p:nvSpPr>
          <p:cNvPr id="57353" name="Text Box 18"/>
          <p:cNvSpPr txBox="1"/>
          <p:nvPr/>
        </p:nvSpPr>
        <p:spPr>
          <a:xfrm>
            <a:off x="5232400" y="3619500"/>
            <a:ext cx="2303463" cy="368300"/>
          </a:xfrm>
          <a:prstGeom prst="rect">
            <a:avLst/>
          </a:prstGeom>
          <a:noFill/>
          <a:ln w="9525">
            <a:noFill/>
          </a:ln>
        </p:spPr>
        <p:txBody>
          <a:bodyPr anchor="t" anchorCtr="0">
            <a:spAutoFit/>
          </a:bodyPr>
          <a:p>
            <a:pPr indent="0">
              <a:spcBef>
                <a:spcPct val="50000"/>
              </a:spcBef>
            </a:pPr>
            <a:r>
              <a:rPr lang="en-US" altLang="zh-CN" sz="1800" dirty="0">
                <a:latin typeface="Arial" panose="020B0604020202020204" pitchFamily="34" charset="0"/>
                <a:ea typeface="宋体" panose="02010600030101010101" pitchFamily="2" charset="-122"/>
              </a:rPr>
              <a:t>Supporting points</a:t>
            </a:r>
            <a:endParaRPr lang="en-US" altLang="zh-CN" sz="1800" dirty="0">
              <a:latin typeface="Arial" panose="020B0604020202020204" pitchFamily="34" charset="0"/>
              <a:ea typeface="宋体" panose="02010600030101010101" pitchFamily="2" charset="-122"/>
            </a:endParaRPr>
          </a:p>
        </p:txBody>
      </p:sp>
      <p:sp>
        <p:nvSpPr>
          <p:cNvPr id="57354" name="Text Box 19"/>
          <p:cNvSpPr txBox="1"/>
          <p:nvPr/>
        </p:nvSpPr>
        <p:spPr>
          <a:xfrm>
            <a:off x="5629275" y="4392613"/>
            <a:ext cx="2303463" cy="368300"/>
          </a:xfrm>
          <a:prstGeom prst="rect">
            <a:avLst/>
          </a:prstGeom>
          <a:noFill/>
          <a:ln w="9525">
            <a:noFill/>
          </a:ln>
        </p:spPr>
        <p:txBody>
          <a:bodyPr anchor="t" anchorCtr="0">
            <a:spAutoFit/>
          </a:bodyPr>
          <a:p>
            <a:pPr indent="0">
              <a:spcBef>
                <a:spcPct val="50000"/>
              </a:spcBef>
            </a:pPr>
            <a:r>
              <a:rPr lang="en-US" altLang="zh-CN" sz="1800" dirty="0">
                <a:latin typeface="Arial" panose="020B0604020202020204" pitchFamily="34" charset="0"/>
                <a:ea typeface="宋体" panose="02010600030101010101" pitchFamily="2" charset="-122"/>
              </a:rPr>
              <a:t>Ending</a:t>
            </a:r>
            <a:endParaRPr lang="en-US" altLang="zh-CN" sz="1800"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79875">
                                            <p:txEl>
                                              <p:charRg st="0" end="1"/>
                                            </p:txEl>
                                          </p:spTgt>
                                        </p:tgtEl>
                                        <p:attrNameLst>
                                          <p:attrName>style.visibility</p:attrName>
                                        </p:attrNameLst>
                                      </p:cBhvr>
                                      <p:to>
                                        <p:strVal val="visible"/>
                                      </p:to>
                                    </p:set>
                                    <p:animEffect transition="in" filter="blinds(horizontal)">
                                      <p:cBhvr>
                                        <p:cTn id="7" dur="500"/>
                                        <p:tgtEl>
                                          <p:spTgt spid="79875">
                                            <p:txEl>
                                              <p:charRg st="0"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vert="horz" wrap="square" lIns="91440" tIns="45720" rIns="91440" bIns="45720" numCol="1" anchor="t" anchorCtr="0" compatLnSpc="1">
            <a:normAutofit/>
          </a:bodyPr>
          <a:lstStyle/>
          <a:p>
            <a:pPr marL="365760" marR="0" lvl="0" indent="-255905" algn="l" defTabSz="914400" rtl="0" eaLnBrk="0" fontAlgn="auto" latinLnBrk="0" hangingPunct="0">
              <a:lnSpc>
                <a:spcPct val="100000"/>
              </a:lnSpc>
              <a:spcBef>
                <a:spcPct val="20000"/>
              </a:spcBef>
              <a:spcAft>
                <a:spcPts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Requirement: </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14350" marR="0" lvl="0" indent="-514350" algn="l" defTabSz="914400" rtl="0" eaLnBrk="0" fontAlgn="auto" latinLnBrk="0" hangingPunct="0">
              <a:lnSpc>
                <a:spcPct val="100000"/>
              </a:lnSpc>
              <a:spcBef>
                <a:spcPct val="20000"/>
              </a:spcBef>
              <a:spcAft>
                <a:spcPts val="0"/>
              </a:spcAft>
              <a:buClrTx/>
              <a:buSzTx/>
              <a:buFont typeface="Wingdings 3" panose="05040102010807070707"/>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Usually one sentence</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14350" marR="0" lvl="0" indent="-514350" algn="l" defTabSz="914400" rtl="0" eaLnBrk="0" fontAlgn="auto" latinLnBrk="0" hangingPunct="0">
              <a:lnSpc>
                <a:spcPct val="100000"/>
              </a:lnSpc>
              <a:spcBef>
                <a:spcPct val="20000"/>
              </a:spcBef>
              <a:spcAft>
                <a:spcPts val="0"/>
              </a:spcAft>
              <a:buClrTx/>
              <a:buSzTx/>
              <a:buFont typeface="Wingdings 3" panose="05040102010807070707"/>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 Summarize the news</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14350" marR="0" lvl="0" indent="-514350" algn="l" defTabSz="914400" rtl="0" eaLnBrk="0" fontAlgn="auto" latinLnBrk="0" hangingPunct="0">
              <a:lnSpc>
                <a:spcPct val="100000"/>
              </a:lnSpc>
              <a:spcBef>
                <a:spcPct val="20000"/>
              </a:spcBef>
              <a:spcAft>
                <a:spcPts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 Attract the reader’s attention </a:t>
            </a:r>
            <a:endPar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6082" name="标题 1"/>
          <p:cNvSpPr>
            <a:spLocks noGrp="1"/>
          </p:cNvSpPr>
          <p:nvPr>
            <p:ph type="title"/>
          </p:nvPr>
        </p:nvSpPr>
        <p:spPr/>
        <p:txBody>
          <a:bodyPr vert="horz" wrap="square" lIns="91440" tIns="45720" rIns="91440" bIns="45720" anchor="ctr" anchorCtr="0"/>
          <a:p>
            <a:r>
              <a:rPr lang="en-US" altLang="zh-CN" dirty="0">
                <a:latin typeface="Times New Roman" panose="02020603050405020304" pitchFamily="18" charset="0"/>
              </a:rPr>
              <a:t>Writing a Lead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charRg st="0" end="14"/>
                                            </p:txEl>
                                          </p:spTgt>
                                        </p:tgtEl>
                                        <p:attrNameLst>
                                          <p:attrName>style.visibility</p:attrName>
                                        </p:attrNameLst>
                                      </p:cBhvr>
                                      <p:to>
                                        <p:strVal val="visible"/>
                                      </p:to>
                                    </p:set>
                                    <p:anim calcmode="lin" valueType="num">
                                      <p:cBhvr additive="base">
                                        <p:cTn id="7" dur="500" fill="hold"/>
                                        <p:tgtEl>
                                          <p:spTgt spid="3">
                                            <p:txEl>
                                              <p:charRg st="0" end="1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0" end="1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charRg st="14" end="38"/>
                                            </p:txEl>
                                          </p:spTgt>
                                        </p:tgtEl>
                                        <p:attrNameLst>
                                          <p:attrName>style.visibility</p:attrName>
                                        </p:attrNameLst>
                                      </p:cBhvr>
                                      <p:to>
                                        <p:strVal val="visible"/>
                                      </p:to>
                                    </p:set>
                                    <p:anim calcmode="lin" valueType="num">
                                      <p:cBhvr additive="base">
                                        <p:cTn id="13" dur="500" fill="hold"/>
                                        <p:tgtEl>
                                          <p:spTgt spid="3">
                                            <p:txEl>
                                              <p:charRg st="14" end="3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charRg st="14" end="3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charRg st="38" end="60"/>
                                            </p:txEl>
                                          </p:spTgt>
                                        </p:tgtEl>
                                        <p:attrNameLst>
                                          <p:attrName>style.visibility</p:attrName>
                                        </p:attrNameLst>
                                      </p:cBhvr>
                                      <p:to>
                                        <p:strVal val="visible"/>
                                      </p:to>
                                    </p:set>
                                    <p:anim calcmode="lin" valueType="num">
                                      <p:cBhvr additive="base">
                                        <p:cTn id="19" dur="500" fill="hold"/>
                                        <p:tgtEl>
                                          <p:spTgt spid="3">
                                            <p:txEl>
                                              <p:charRg st="38" end="6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charRg st="38" end="6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charRg st="60" end="95"/>
                                            </p:txEl>
                                          </p:spTgt>
                                        </p:tgtEl>
                                        <p:attrNameLst>
                                          <p:attrName>style.visibility</p:attrName>
                                        </p:attrNameLst>
                                      </p:cBhvr>
                                      <p:to>
                                        <p:strVal val="visible"/>
                                      </p:to>
                                    </p:set>
                                    <p:anim calcmode="lin" valueType="num">
                                      <p:cBhvr additive="base">
                                        <p:cTn id="25" dur="500" fill="hold"/>
                                        <p:tgtEl>
                                          <p:spTgt spid="3">
                                            <p:txEl>
                                              <p:charRg st="60" end="9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charRg st="60" end="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A lead should contain the essence of the story. </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628650" algn="just" defTabSz="914400" rtl="0" eaLnBrk="0" fontAlgn="base" latinLnBrk="0" hangingPunct="0">
              <a:lnSpc>
                <a:spcPct val="100000"/>
              </a:lnSpc>
              <a:spcBef>
                <a:spcPct val="2000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Noble Prize laureate Jim Hoffman went up to the stage and greeted the students of Nanjing University when they were gathered to celebrate the May Fourth Youth Day yesterday. </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a:buNone/>
            </a:pPr>
            <a:r>
              <a:rPr lang="en-US" altLang="zh-CN" sz="3200" dirty="0">
                <a:latin typeface="Times New Roman" panose="02020603050405020304" pitchFamily="18" charset="0"/>
                <a:sym typeface="+mn-ea"/>
              </a:rPr>
              <a:t>2.  A lead should begin with the most important elements of information.</a:t>
            </a:r>
            <a:endParaRPr lang="en-US" altLang="zh-CN" sz="3200" dirty="0">
              <a:latin typeface="Times New Roman" panose="02020603050405020304" pitchFamily="18" charset="0"/>
            </a:endParaRPr>
          </a:p>
          <a:p>
            <a:pPr>
              <a:buNone/>
            </a:pPr>
            <a:r>
              <a:rPr lang="en-US" altLang="zh-CN" sz="3200" dirty="0">
                <a:latin typeface="Times New Roman" panose="02020603050405020304" pitchFamily="18" charset="0"/>
                <a:sym typeface="+mn-ea"/>
              </a:rPr>
              <a:t> The death toll soar to 750 as a devastating </a:t>
            </a:r>
            <a:r>
              <a:rPr lang="en-US" altLang="zh-CN" sz="3200" b="1" dirty="0">
                <a:latin typeface="Times New Roman" panose="02020603050405020304" pitchFamily="18" charset="0"/>
                <a:sym typeface="+mn-ea"/>
              </a:rPr>
              <a:t>8.8-magnitude </a:t>
            </a:r>
            <a:r>
              <a:rPr lang="en-US" altLang="zh-CN" sz="3200" dirty="0">
                <a:latin typeface="Times New Roman" panose="02020603050405020304" pitchFamily="18" charset="0"/>
                <a:sym typeface="+mn-ea"/>
              </a:rPr>
              <a:t>earthquake hit Chile on early Saturday. </a:t>
            </a:r>
            <a:endParaRPr lang="en-US" altLang="zh-CN" sz="3200" dirty="0">
              <a:latin typeface="Times New Roman" panose="02020603050405020304" pitchFamily="18" charset="0"/>
            </a:endParaRPr>
          </a:p>
          <a:p>
            <a:pPr marL="0" marR="0" lvl="0" indent="628650" algn="just"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362" name="标题 1"/>
          <p:cNvSpPr>
            <a:spLocks noGrp="1"/>
          </p:cNvSpPr>
          <p:nvPr>
            <p:ph type="title"/>
          </p:nvPr>
        </p:nvSpPr>
        <p:spPr/>
        <p:txBody>
          <a:bodyPr vert="horz" wrap="square" lIns="91440" tIns="45720" rIns="91440" bIns="45720" anchor="ctr" anchorCtr="0"/>
          <a:p>
            <a:r>
              <a:rPr lang="en-US" altLang="zh-CN" sz="3200" dirty="0">
                <a:latin typeface="Times New Roman" panose="02020603050405020304" pitchFamily="18" charset="0"/>
              </a:rPr>
              <a:t>Tips for Writing a Lead</a:t>
            </a:r>
            <a:endParaRPr lang="zh-CN" altLang="en-US" sz="3200"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additive="base">
                                        <p:cTn id="7" dur="500" fill="hold"/>
                                        <p:tgtEl>
                                          <p:spTgt spid="15362"/>
                                        </p:tgtEl>
                                        <p:attrNameLst>
                                          <p:attrName>ppt_x</p:attrName>
                                        </p:attrNameLst>
                                      </p:cBhvr>
                                      <p:tavLst>
                                        <p:tav tm="0">
                                          <p:val>
                                            <p:strVal val="#ppt_x"/>
                                          </p:val>
                                        </p:tav>
                                        <p:tav tm="100000">
                                          <p:val>
                                            <p:strVal val="#ppt_x"/>
                                          </p:val>
                                        </p:tav>
                                      </p:tavLst>
                                    </p:anim>
                                    <p:anim calcmode="lin" valueType="num">
                                      <p:cBhvr additive="base">
                                        <p:cTn id="8" dur="500" fill="hold"/>
                                        <p:tgtEl>
                                          <p:spTgt spid="153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3">
                                            <p:txEl>
                                              <p:charRg st="0" end="55"/>
                                            </p:txEl>
                                          </p:spTgt>
                                        </p:tgtEl>
                                        <p:attrNameLst>
                                          <p:attrName>style.visibility</p:attrName>
                                        </p:attrNameLst>
                                      </p:cBhvr>
                                      <p:to>
                                        <p:strVal val="visible"/>
                                      </p:to>
                                    </p:set>
                                    <p:anim calcmode="lin" valueType="num">
                                      <p:cBhvr additive="base">
                                        <p:cTn id="13" dur="500" fill="hold"/>
                                        <p:tgtEl>
                                          <p:spTgt spid="15363">
                                            <p:txEl>
                                              <p:charRg st="0" end="5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charRg st="0" end="5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3">
                                            <p:txEl>
                                              <p:charRg st="55" end="230"/>
                                            </p:txEl>
                                          </p:spTgt>
                                        </p:tgtEl>
                                        <p:attrNameLst>
                                          <p:attrName>style.visibility</p:attrName>
                                        </p:attrNameLst>
                                      </p:cBhvr>
                                      <p:to>
                                        <p:strVal val="visible"/>
                                      </p:to>
                                    </p:set>
                                    <p:anim calcmode="lin" valueType="num">
                                      <p:cBhvr additive="base">
                                        <p:cTn id="19" dur="500" fill="hold"/>
                                        <p:tgtEl>
                                          <p:spTgt spid="15363">
                                            <p:txEl>
                                              <p:charRg st="55" end="23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charRg st="55" end="23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363">
                                            <p:txEl>
                                              <p:charRg st="2" end="2"/>
                                            </p:txEl>
                                          </p:spTgt>
                                        </p:tgtEl>
                                        <p:attrNameLst>
                                          <p:attrName>style.visibility</p:attrName>
                                        </p:attrNameLst>
                                      </p:cBhvr>
                                      <p:to>
                                        <p:strVal val="visible"/>
                                      </p:to>
                                    </p:set>
                                    <p:anim calcmode="lin" valueType="num">
                                      <p:cBhvr additive="base">
                                        <p:cTn id="25" dur="500" fill="hold"/>
                                        <p:tgtEl>
                                          <p:spTgt spid="15363">
                                            <p:txEl>
                                              <p:char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363">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363">
                                            <p:txEl>
                                              <p:charRg st="3" end="3"/>
                                            </p:txEl>
                                          </p:spTgt>
                                        </p:tgtEl>
                                        <p:attrNameLst>
                                          <p:attrName>style.visibility</p:attrName>
                                        </p:attrNameLst>
                                      </p:cBhvr>
                                      <p:to>
                                        <p:strVal val="visible"/>
                                      </p:to>
                                    </p:set>
                                    <p:anim calcmode="lin" valueType="num">
                                      <p:cBhvr additive="base">
                                        <p:cTn id="31" dur="500" fill="hold"/>
                                        <p:tgtEl>
                                          <p:spTgt spid="15363">
                                            <p:txEl>
                                              <p:char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363">
                                            <p:txEl>
                                              <p:char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内容占位符 2"/>
          <p:cNvSpPr>
            <a:spLocks noGrp="1"/>
          </p:cNvSpPr>
          <p:nvPr>
            <p:ph idx="1"/>
          </p:nvPr>
        </p:nvSpPr>
        <p:spPr/>
        <p:txBody>
          <a:bodyPr vert="horz" wrap="square" lIns="91440" tIns="45720" rIns="91440" bIns="45720" anchor="t" anchorCtr="0"/>
          <a:p>
            <a:pPr>
              <a:buNone/>
            </a:pPr>
            <a:r>
              <a:rPr lang="en-US" altLang="zh-CN" dirty="0">
                <a:latin typeface="Times New Roman" panose="02020603050405020304" pitchFamily="18" charset="0"/>
              </a:rPr>
              <a:t>3. A lead writer should use active voice if possible</a:t>
            </a:r>
            <a:endParaRPr lang="en-US" altLang="zh-CN" dirty="0">
              <a:latin typeface="Times New Roman" panose="02020603050405020304" pitchFamily="18" charset="0"/>
            </a:endParaRPr>
          </a:p>
          <a:p>
            <a:pPr>
              <a:buNone/>
            </a:pPr>
            <a:r>
              <a:rPr lang="en-US" altLang="zh-CN" dirty="0">
                <a:latin typeface="Times New Roman" panose="02020603050405020304" pitchFamily="18" charset="0"/>
              </a:rPr>
              <a:t>A power outrage last night was caused by a fuse blowout in Dormitory No.12. </a:t>
            </a:r>
            <a:endParaRPr lang="en-US" altLang="zh-CN" dirty="0">
              <a:latin typeface="Times New Roman" panose="02020603050405020304" pitchFamily="18" charset="0"/>
            </a:endParaRPr>
          </a:p>
          <a:p>
            <a:pPr>
              <a:buNone/>
            </a:pPr>
            <a:r>
              <a:rPr lang="en-US" altLang="zh-CN" dirty="0">
                <a:latin typeface="Times New Roman" panose="02020603050405020304" pitchFamily="18" charset="0"/>
              </a:rPr>
              <a:t> A power outrage last night angered dozens of students in Dormitory No.12 who lost files in their computers. </a:t>
            </a:r>
            <a:endParaRPr lang="zh-CN" altLang="en-US" dirty="0">
              <a:latin typeface="Times New Roman" panose="02020603050405020304" pitchFamily="18" charset="0"/>
              <a:ea typeface="Times New Roman" panose="02020603050405020304" pitchFamily="18" charset="0"/>
            </a:endParaRPr>
          </a:p>
        </p:txBody>
      </p:sp>
      <p:sp>
        <p:nvSpPr>
          <p:cNvPr id="49154" name="标题 1"/>
          <p:cNvSpPr>
            <a:spLocks noGrp="1"/>
          </p:cNvSpPr>
          <p:nvPr>
            <p:ph type="title"/>
          </p:nvPr>
        </p:nvSpPr>
        <p:spPr/>
        <p:txBody>
          <a:bodyPr vert="horz" wrap="square" lIns="91440" tIns="45720" rIns="91440" bIns="45720" anchor="ctr" anchorCtr="0"/>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charRg st="0" end="53"/>
                                            </p:txEl>
                                          </p:spTgt>
                                        </p:tgtEl>
                                        <p:attrNameLst>
                                          <p:attrName>style.visibility</p:attrName>
                                        </p:attrNameLst>
                                      </p:cBhvr>
                                      <p:to>
                                        <p:strVal val="visible"/>
                                      </p:to>
                                    </p:set>
                                    <p:anim calcmode="lin" valueType="num">
                                      <p:cBhvr additive="base">
                                        <p:cTn id="7" dur="500" fill="hold"/>
                                        <p:tgtEl>
                                          <p:spTgt spid="17411">
                                            <p:txEl>
                                              <p:charRg st="0" end="5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charRg st="0" end="5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1">
                                            <p:txEl>
                                              <p:charRg st="53" end="130"/>
                                            </p:txEl>
                                          </p:spTgt>
                                        </p:tgtEl>
                                        <p:attrNameLst>
                                          <p:attrName>style.visibility</p:attrName>
                                        </p:attrNameLst>
                                      </p:cBhvr>
                                      <p:to>
                                        <p:strVal val="visible"/>
                                      </p:to>
                                    </p:set>
                                    <p:anim calcmode="lin" valueType="num">
                                      <p:cBhvr additive="base">
                                        <p:cTn id="13" dur="500" fill="hold"/>
                                        <p:tgtEl>
                                          <p:spTgt spid="17411">
                                            <p:txEl>
                                              <p:charRg st="53" end="13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charRg st="53" end="13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411">
                                            <p:txEl>
                                              <p:charRg st="130" end="240"/>
                                            </p:txEl>
                                          </p:spTgt>
                                        </p:tgtEl>
                                        <p:attrNameLst>
                                          <p:attrName>style.visibility</p:attrName>
                                        </p:attrNameLst>
                                      </p:cBhvr>
                                      <p:to>
                                        <p:strVal val="visible"/>
                                      </p:to>
                                    </p:set>
                                    <p:anim calcmode="lin" valueType="num">
                                      <p:cBhvr additive="base">
                                        <p:cTn id="19" dur="500" fill="hold"/>
                                        <p:tgtEl>
                                          <p:spTgt spid="17411">
                                            <p:txEl>
                                              <p:charRg st="130" end="24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charRg st="130" end="24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5" name="内容占位符 2"/>
          <p:cNvSpPr>
            <a:spLocks noGrp="1"/>
          </p:cNvSpPr>
          <p:nvPr>
            <p:ph idx="1"/>
          </p:nvPr>
        </p:nvSpPr>
        <p:spPr/>
        <p:txBody>
          <a:bodyPr vert="horz" wrap="square" lIns="91440" tIns="45720" rIns="91440" bIns="45720" numCol="1" anchor="t" anchorCtr="0" compatLnSpc="1">
            <a:normAutofit lnSpcReduction="20000"/>
          </a:bodyPr>
          <a:lstStyle/>
          <a:p>
            <a:pPr marL="365760" marR="0" lvl="0" indent="-255905" algn="l" defTabSz="914400" rtl="0" eaLnBrk="0" fontAlgn="auto" latinLnBrk="0" hangingPunct="0">
              <a:lnSpc>
                <a:spcPct val="100000"/>
              </a:lnSpc>
              <a:spcBef>
                <a:spcPct val="20000"/>
              </a:spcBef>
              <a:spcAft>
                <a:spcPts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  A lead writer should try not to overwhelm the reader with too much detail</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4205" marR="0" lvl="0" indent="-514350" algn="l" defTabSz="914400" rtl="0" eaLnBrk="0" fontAlgn="auto" latinLnBrk="0" hangingPunct="0">
              <a:lnSpc>
                <a:spcPct val="100000"/>
              </a:lnSpc>
              <a:spcBef>
                <a:spcPct val="20000"/>
              </a:spcBef>
              <a:spcAft>
                <a:spcPts val="0"/>
              </a:spcAft>
              <a:buClrTx/>
              <a:buSzTx/>
              <a:buFont typeface="Wingdings 3" panose="05040102010807070707"/>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5. A leader writer should weed out anything indicative of your own opinion </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indent="0">
              <a:buNone/>
            </a:pPr>
            <a:r>
              <a:rPr lang="en-US" altLang="zh-CN" sz="3200" dirty="0">
                <a:latin typeface="Times New Roman" panose="02020603050405020304" pitchFamily="18" charset="0"/>
                <a:sym typeface="+mn-ea"/>
              </a:rPr>
              <a:t>6. </a:t>
            </a:r>
            <a:r>
              <a:rPr lang="zh-CN" altLang="en-US" sz="3200" dirty="0">
                <a:latin typeface="Times New Roman" panose="02020603050405020304" pitchFamily="18" charset="0"/>
                <a:sym typeface="+mn-ea"/>
              </a:rPr>
              <a:t>“</a:t>
            </a:r>
            <a:r>
              <a:rPr lang="en-US" altLang="zh-CN" sz="3200" dirty="0">
                <a:latin typeface="Times New Roman" panose="02020603050405020304" pitchFamily="18" charset="0"/>
                <a:sym typeface="+mn-ea"/>
              </a:rPr>
              <a:t>A good lead is one that gets the most readers to the next paragraph.”</a:t>
            </a:r>
            <a:endParaRPr lang="en-US" altLang="zh-CN" sz="3200" dirty="0">
              <a:latin typeface="Times New Roman" panose="02020603050405020304" pitchFamily="18" charset="0"/>
            </a:endParaRPr>
          </a:p>
          <a:p>
            <a:pPr marL="609600" indent="-609600"/>
            <a:r>
              <a:rPr lang="en-US" altLang="zh-CN" sz="3200" dirty="0">
                <a:latin typeface="Times New Roman" panose="02020603050405020304" pitchFamily="18" charset="0"/>
                <a:sym typeface="+mn-ea"/>
              </a:rPr>
              <a:t>A good lead should </a:t>
            </a:r>
            <a:r>
              <a:rPr lang="en-US" altLang="zh-CN" sz="3200" i="1" dirty="0">
                <a:latin typeface="Times New Roman" panose="02020603050405020304" pitchFamily="18" charset="0"/>
                <a:sym typeface="+mn-ea"/>
              </a:rPr>
              <a:t>inform</a:t>
            </a:r>
            <a:r>
              <a:rPr lang="en-US" altLang="zh-CN" sz="3200" dirty="0">
                <a:latin typeface="Times New Roman" panose="02020603050405020304" pitchFamily="18" charset="0"/>
                <a:sym typeface="+mn-ea"/>
              </a:rPr>
              <a:t>, </a:t>
            </a:r>
            <a:r>
              <a:rPr lang="en-US" altLang="zh-CN" sz="3200" i="1" dirty="0">
                <a:latin typeface="Times New Roman" panose="02020603050405020304" pitchFamily="18" charset="0"/>
                <a:sym typeface="+mn-ea"/>
              </a:rPr>
              <a:t>underline</a:t>
            </a:r>
            <a:r>
              <a:rPr lang="en-US" altLang="zh-CN" sz="3200" dirty="0">
                <a:latin typeface="Times New Roman" panose="02020603050405020304" pitchFamily="18" charset="0"/>
                <a:sym typeface="+mn-ea"/>
              </a:rPr>
              <a:t>, and </a:t>
            </a:r>
            <a:r>
              <a:rPr lang="en-US" altLang="zh-CN" sz="3200" i="1" dirty="0">
                <a:latin typeface="Times New Roman" panose="02020603050405020304" pitchFamily="18" charset="0"/>
                <a:sym typeface="+mn-ea"/>
              </a:rPr>
              <a:t>stimulate</a:t>
            </a:r>
            <a:r>
              <a:rPr lang="en-US" altLang="zh-CN" sz="3200" dirty="0">
                <a:latin typeface="Times New Roman" panose="02020603050405020304" pitchFamily="18" charset="0"/>
                <a:sym typeface="+mn-ea"/>
              </a:rPr>
              <a:t> in a way the best conveys a story’s </a:t>
            </a:r>
            <a:r>
              <a:rPr lang="en-US" altLang="zh-CN" sz="3200" i="1" dirty="0">
                <a:latin typeface="Times New Roman" panose="02020603050405020304" pitchFamily="18" charset="0"/>
                <a:sym typeface="+mn-ea"/>
              </a:rPr>
              <a:t>meaning</a:t>
            </a:r>
            <a:r>
              <a:rPr lang="en-US" altLang="zh-CN" sz="3200" dirty="0">
                <a:latin typeface="Times New Roman" panose="02020603050405020304" pitchFamily="18" charset="0"/>
                <a:sym typeface="+mn-ea"/>
              </a:rPr>
              <a:t>. </a:t>
            </a:r>
            <a:endParaRPr lang="en-US" altLang="zh-CN" sz="3200" dirty="0">
              <a:latin typeface="Times New Roman" panose="02020603050405020304" pitchFamily="18" charset="0"/>
            </a:endParaRPr>
          </a:p>
          <a:p>
            <a:pPr marL="609600" indent="-609600">
              <a:buNone/>
            </a:pPr>
            <a:r>
              <a:rPr lang="en-US" altLang="zh-CN" sz="3200" dirty="0">
                <a:latin typeface="Times New Roman" panose="02020603050405020304" pitchFamily="18" charset="0"/>
                <a:sym typeface="+mn-ea"/>
              </a:rPr>
              <a:t>       e.g., Dental surgeons said yesterday they had discovered why snoring can kill sometimes: it can damage the arteries.</a:t>
            </a:r>
            <a:endPar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50178" name="标题 1"/>
          <p:cNvSpPr>
            <a:spLocks noGrp="1"/>
          </p:cNvSpPr>
          <p:nvPr>
            <p:ph type="title"/>
          </p:nvPr>
        </p:nvSpPr>
        <p:spPr/>
        <p:txBody>
          <a:bodyPr vert="horz" wrap="square" lIns="91440" tIns="45720" rIns="91440" bIns="45720" anchor="ctr" anchorCtr="0"/>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5">
                                            <p:txEl>
                                              <p:charRg st="0" end="78"/>
                                            </p:txEl>
                                          </p:spTgt>
                                        </p:tgtEl>
                                        <p:attrNameLst>
                                          <p:attrName>style.visibility</p:attrName>
                                        </p:attrNameLst>
                                      </p:cBhvr>
                                      <p:to>
                                        <p:strVal val="visible"/>
                                      </p:to>
                                    </p:set>
                                    <p:anim calcmode="lin" valueType="num">
                                      <p:cBhvr additive="base">
                                        <p:cTn id="7" dur="500" fill="hold"/>
                                        <p:tgtEl>
                                          <p:spTgt spid="18435">
                                            <p:txEl>
                                              <p:charRg st="0" end="7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charRg st="0" end="7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5">
                                            <p:txEl>
                                              <p:charRg st="78" end="154"/>
                                            </p:txEl>
                                          </p:spTgt>
                                        </p:tgtEl>
                                        <p:attrNameLst>
                                          <p:attrName>style.visibility</p:attrName>
                                        </p:attrNameLst>
                                      </p:cBhvr>
                                      <p:to>
                                        <p:strVal val="visible"/>
                                      </p:to>
                                    </p:set>
                                    <p:anim calcmode="lin" valueType="num">
                                      <p:cBhvr additive="base">
                                        <p:cTn id="13" dur="500" fill="hold"/>
                                        <p:tgtEl>
                                          <p:spTgt spid="18435">
                                            <p:txEl>
                                              <p:charRg st="78" end="15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charRg st="78" end="15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35">
                                            <p:txEl>
                                              <p:charRg st="2" end="2"/>
                                            </p:txEl>
                                          </p:spTgt>
                                        </p:tgtEl>
                                        <p:attrNameLst>
                                          <p:attrName>style.visibility</p:attrName>
                                        </p:attrNameLst>
                                      </p:cBhvr>
                                      <p:to>
                                        <p:strVal val="visible"/>
                                      </p:to>
                                    </p:set>
                                    <p:anim calcmode="lin" valueType="num">
                                      <p:cBhvr additive="base">
                                        <p:cTn id="19" dur="500" fill="hold"/>
                                        <p:tgtEl>
                                          <p:spTgt spid="18435">
                                            <p:txEl>
                                              <p:char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435">
                                            <p:txEl>
                                              <p:charRg st="3" end="3"/>
                                            </p:txEl>
                                          </p:spTgt>
                                        </p:tgtEl>
                                        <p:attrNameLst>
                                          <p:attrName>style.visibility</p:attrName>
                                        </p:attrNameLst>
                                      </p:cBhvr>
                                      <p:to>
                                        <p:strVal val="visible"/>
                                      </p:to>
                                    </p:set>
                                    <p:anim calcmode="lin" valueType="num">
                                      <p:cBhvr additive="base">
                                        <p:cTn id="25" dur="500" fill="hold"/>
                                        <p:tgtEl>
                                          <p:spTgt spid="18435">
                                            <p:txEl>
                                              <p:char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35">
                                            <p:txEl>
                                              <p:char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435">
                                            <p:txEl>
                                              <p:charRg st="4" end="4"/>
                                            </p:txEl>
                                          </p:spTgt>
                                        </p:tgtEl>
                                        <p:attrNameLst>
                                          <p:attrName>style.visibility</p:attrName>
                                        </p:attrNameLst>
                                      </p:cBhvr>
                                      <p:to>
                                        <p:strVal val="visible"/>
                                      </p:to>
                                    </p:set>
                                    <p:anim calcmode="lin" valueType="num">
                                      <p:cBhvr additive="base">
                                        <p:cTn id="31" dur="500" fill="hold"/>
                                        <p:tgtEl>
                                          <p:spTgt spid="18435">
                                            <p:txEl>
                                              <p:char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435">
                                            <p:txEl>
                                              <p:char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内容占位符 2"/>
          <p:cNvSpPr>
            <a:spLocks noGrp="1"/>
          </p:cNvSpPr>
          <p:nvPr>
            <p:ph idx="1"/>
          </p:nvPr>
        </p:nvSpPr>
        <p:spPr/>
        <p:txBody>
          <a:bodyPr vert="horz" wrap="square" lIns="91440" tIns="45720" rIns="91440" bIns="45720" anchor="t" anchorCtr="0"/>
          <a:p>
            <a:pPr>
              <a:buNone/>
            </a:pPr>
            <a:r>
              <a:rPr lang="en-US" altLang="zh-CN" sz="2400" dirty="0">
                <a:latin typeface="Times New Roman" panose="02020603050405020304" pitchFamily="18" charset="0"/>
              </a:rPr>
              <a:t>           </a:t>
            </a:r>
            <a:r>
              <a:rPr lang="en-US" altLang="zh-CN" sz="2800" dirty="0">
                <a:latin typeface="Times New Roman" panose="02020603050405020304" pitchFamily="18" charset="0"/>
              </a:rPr>
              <a:t>The student union next week will award the title of “Model Student in Learning from Lei Feng” to a fourth-year computer major who has been, for more than three years, helping a disabled roommate climb stairs, carry books , and get meals and hot water. </a:t>
            </a:r>
            <a:endParaRPr lang="zh-CN" altLang="en-US" sz="2800" dirty="0">
              <a:latin typeface="Times New Roman" panose="02020603050405020304" pitchFamily="18" charset="0"/>
              <a:ea typeface="Times New Roman" panose="02020603050405020304" pitchFamily="18" charset="0"/>
            </a:endParaRPr>
          </a:p>
        </p:txBody>
      </p:sp>
      <p:sp>
        <p:nvSpPr>
          <p:cNvPr id="54274" name="标题 1"/>
          <p:cNvSpPr>
            <a:spLocks noGrp="1"/>
          </p:cNvSpPr>
          <p:nvPr>
            <p:ph type="title"/>
          </p:nvPr>
        </p:nvSpPr>
        <p:spPr/>
        <p:txBody>
          <a:bodyPr vert="horz" wrap="square" lIns="91440" tIns="45720" rIns="91440" bIns="45720" anchor="ctr" anchorCtr="0"/>
          <a:p>
            <a:r>
              <a:rPr lang="en-US" altLang="zh-CN" dirty="0"/>
              <a:t>Sample lead</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内容占位符 2"/>
          <p:cNvSpPr>
            <a:spLocks noGrp="1"/>
          </p:cNvSpPr>
          <p:nvPr>
            <p:ph idx="1"/>
          </p:nvPr>
        </p:nvSpPr>
        <p:spPr>
          <a:xfrm>
            <a:off x="1992313" y="692150"/>
            <a:ext cx="8229600" cy="5329238"/>
          </a:xfrm>
        </p:spPr>
        <p:txBody>
          <a:bodyPr vert="horz" wrap="square" lIns="91440" tIns="45720" rIns="91440" bIns="45720" anchor="t" anchorCtr="0"/>
          <a:p>
            <a:pPr algn="just">
              <a:buNone/>
            </a:pPr>
            <a:r>
              <a:rPr lang="en-US" altLang="zh-CN" sz="2400" dirty="0">
                <a:latin typeface="Times New Roman" panose="02020603050405020304" pitchFamily="18" charset="0"/>
              </a:rPr>
              <a:t>    Body:  Li Jun and Wang Hao are fourth-year computer major sharing the same dormitory. Due to a severe case of polio in childhood, Wang Hao has to walk with two crutches. For more than three years since they entered the University, Li Jun has been helping his roommate climb stairs, carry things, and get meals and hot water regardless of how bad the weather is. Last semester when the class had an outing, Li Jun borrowed a wheelchair so that Wang Hao could go hiking with others. Li and other students pushed the wheelchair all the way to the top of the mountain. Because of what Li Jun has done for Wang Hao over the years, the student union of the University decided at a recent meeting to award Li Jun the title of “ Model Student in Learning from Lei Feng” when they hold the May Fourth Youth Day student meeting next week. </a:t>
            </a:r>
            <a:endParaRPr lang="zh-CN" altLang="zh-CN" sz="2400" dirty="0">
              <a:latin typeface="Times New Roman" panose="02020603050405020304" pitchFamily="18" charset="0"/>
            </a:endParaRPr>
          </a:p>
          <a:p>
            <a:pPr algn="just">
              <a:buNone/>
            </a:pP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标题 1"/>
          <p:cNvSpPr>
            <a:spLocks noGrp="1"/>
          </p:cNvSpPr>
          <p:nvPr>
            <p:ph type="title"/>
          </p:nvPr>
        </p:nvSpPr>
        <p:spPr/>
        <p:txBody>
          <a:bodyPr vert="horz" wrap="square" lIns="91440" tIns="45720" rIns="91440" bIns="45720" anchor="ctr" anchorCtr="0"/>
          <a:p>
            <a:endParaRPr lang="zh-CN" altLang="en-US" dirty="0"/>
          </a:p>
        </p:txBody>
      </p:sp>
      <p:sp>
        <p:nvSpPr>
          <p:cNvPr id="61442" name="内容占位符 2"/>
          <p:cNvSpPr>
            <a:spLocks noGrp="1"/>
          </p:cNvSpPr>
          <p:nvPr>
            <p:ph idx="1"/>
          </p:nvPr>
        </p:nvSpPr>
        <p:spPr/>
        <p:txBody>
          <a:bodyPr vert="horz" wrap="square" lIns="91440" tIns="45720" rIns="91440" bIns="45720" anchor="t" anchorCtr="0"/>
          <a:p>
            <a:r>
              <a:rPr lang="en-US" altLang="zh-CN" dirty="0">
                <a:hlinkClick r:id="rId1"/>
              </a:rPr>
              <a:t>http://www.chinadaily.com.cn/china/2015-06/01/content_20871762.htm</a:t>
            </a:r>
            <a:endParaRPr lang="en-US" altLang="zh-CN" dirty="0"/>
          </a:p>
          <a:p>
            <a:r>
              <a:rPr lang="en-US" altLang="zh-CN" dirty="0"/>
              <a:t>http://www.chinadaily.com.cn/china/2016-05/20/content_25388367.htm</a:t>
            </a:r>
            <a:endParaRPr lang="en-US" altLang="zh-CN" dirty="0"/>
          </a:p>
        </p:txBody>
      </p:sp>
    </p:spTree>
  </p:cSld>
  <p:clrMapOvr>
    <a:masterClrMapping/>
  </p:clrMapOvr>
</p:sld>
</file>

<file path=ppt/tags/tag1.xml><?xml version="1.0" encoding="utf-8"?>
<p:tagLst xmlns:p="http://schemas.openxmlformats.org/presentationml/2006/main">
  <p:tag name="KSO_WM_UNIT_TABLE_BEAUTIFY" val="smartTable{83fe4a60-72a2-4ce5-a69c-3a8a3d5f0fd6}"/>
</p:tagLst>
</file>

<file path=ppt/tags/tag2.xml><?xml version="1.0" encoding="utf-8"?>
<p:tagLst xmlns:p="http://schemas.openxmlformats.org/presentationml/2006/main">
  <p:tag name="KSO_WM_SPECIAL_SOURCE" val="bdnull"/>
</p:tagLst>
</file>

<file path=ppt/tags/tag3.xml><?xml version="1.0" encoding="utf-8"?>
<p:tagLst xmlns:p="http://schemas.openxmlformats.org/presentationml/2006/main">
  <p:tag name="KSO_WM_SPECIAL_SOURCE" val="bdnull"/>
</p:tagLst>
</file>

<file path=ppt/tags/tag4.xml><?xml version="1.0" encoding="utf-8"?>
<p:tagLst xmlns:p="http://schemas.openxmlformats.org/presentationml/2006/main">
  <p:tag name="KSO_WM_SPECIAL_SOURCE" val="bdnull"/>
</p:tagLst>
</file>

<file path=ppt/tags/tag5.xml><?xml version="1.0" encoding="utf-8"?>
<p:tagLst xmlns:p="http://schemas.openxmlformats.org/presentationml/2006/main">
  <p:tag name="KSO_WM_SPECIAL_SOURCE" val="bdnull"/>
</p:tagLst>
</file>

<file path=ppt/tags/tag6.xml><?xml version="1.0" encoding="utf-8"?>
<p:tagLst xmlns:p="http://schemas.openxmlformats.org/presentationml/2006/main">
  <p:tag name="KSO_WM_SPECIAL_SOURCE" val="bdnull"/>
</p:tagLst>
</file>

<file path=ppt/tags/tag7.xml><?xml version="1.0" encoding="utf-8"?>
<p:tagLst xmlns:p="http://schemas.openxmlformats.org/presentationml/2006/main">
  <p:tag name="KSO_WM_SPECIAL_SOURCE" val="bdnull"/>
</p:tagLst>
</file>

<file path=ppt/tags/tag8.xml><?xml version="1.0" encoding="utf-8"?>
<p:tagLst xmlns:p="http://schemas.openxmlformats.org/presentationml/2006/main">
  <p:tag name="KSO_WM_SPECIAL_SOURCE" val="bdnull"/>
</p:tagLst>
</file>

<file path=ppt/tags/tag9.xml><?xml version="1.0" encoding="utf-8"?>
<p:tagLst xmlns:p="http://schemas.openxmlformats.org/presentationml/2006/main">
  <p:tag name="KSO_WM_SPECIAL_SOURCE" val="bdnull"/>
</p:tagLst>
</file>

<file path=ppt/tags/tag10.xml><?xml version="1.0" encoding="utf-8"?>
<p:tagLst xmlns:p="http://schemas.openxmlformats.org/presentationml/2006/main">
  <p:tag name="KSO_WM_SPECIAL_SOURCE" val="bdnull"/>
</p:tagLst>
</file>

<file path=ppt/tags/tag11.xml><?xml version="1.0" encoding="utf-8"?>
<p:tagLst xmlns:p="http://schemas.openxmlformats.org/presentationml/2006/main">
  <p:tag name="KSO_WM_SPECIAL_SOURCE" val="bdnull"/>
</p:tagLst>
</file>

<file path=ppt/tags/tag12.xml><?xml version="1.0" encoding="utf-8"?>
<p:tagLst xmlns:p="http://schemas.openxmlformats.org/presentationml/2006/main">
  <p:tag name="KSO_WM_SPECIAL_SOURCE" val="bdnull"/>
</p:tagLst>
</file>

<file path=ppt/theme/theme1.xml><?xml version="1.0" encoding="utf-8"?>
<a:theme xmlns:a="http://schemas.openxmlformats.org/drawingml/2006/main" name="1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19455</Words>
  <Application>WPS 演示</Application>
  <PresentationFormat>宽屏</PresentationFormat>
  <Paragraphs>517</Paragraphs>
  <Slides>55</Slides>
  <Notes>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55</vt:i4>
      </vt:variant>
    </vt:vector>
  </HeadingPairs>
  <TitlesOfParts>
    <vt:vector size="75" baseType="lpstr">
      <vt:lpstr>Arial</vt:lpstr>
      <vt:lpstr>宋体</vt:lpstr>
      <vt:lpstr>Wingdings</vt:lpstr>
      <vt:lpstr>Wingdings</vt:lpstr>
      <vt:lpstr>Arial Italic</vt:lpstr>
      <vt:lpstr>Calibri</vt:lpstr>
      <vt:lpstr>微软雅黑</vt:lpstr>
      <vt:lpstr>Arial Unicode MS</vt:lpstr>
      <vt:lpstr>Arial Bold</vt:lpstr>
      <vt:lpstr>Times New Roman</vt:lpstr>
      <vt:lpstr>Times New Roman</vt:lpstr>
      <vt:lpstr>Calibri</vt:lpstr>
      <vt:lpstr>Arial</vt:lpstr>
      <vt:lpstr>Helvetica</vt:lpstr>
      <vt:lpstr>Times Roman</vt:lpstr>
      <vt:lpstr>Segoe Print</vt:lpstr>
      <vt:lpstr>Verdana</vt:lpstr>
      <vt:lpstr>Helvetica Neue</vt:lpstr>
      <vt:lpstr>Wingdings 3</vt:lpstr>
      <vt:lpstr>1_空白设计模板</vt:lpstr>
      <vt:lpstr>新闻语体特征</vt:lpstr>
      <vt:lpstr>Features of News Headlines </vt:lpstr>
      <vt:lpstr>1.Omission</vt:lpstr>
      <vt:lpstr>2. Tense </vt:lpstr>
      <vt:lpstr> 3. Voice</vt:lpstr>
      <vt:lpstr>4. Punctuations</vt:lpstr>
      <vt:lpstr>4. Punctuations</vt:lpstr>
      <vt:lpstr>4. Punctuations</vt:lpstr>
      <vt:lpstr>What newspaper or magazine do you know or read?</vt:lpstr>
      <vt:lpstr>Lexical features</vt:lpstr>
      <vt:lpstr>Lexical Features</vt:lpstr>
      <vt:lpstr>Lexical Features</vt:lpstr>
      <vt:lpstr>Lexical features</vt:lpstr>
      <vt:lpstr>Lexical features</vt:lpstr>
      <vt:lpstr>Lexical features</vt:lpstr>
      <vt:lpstr>Lexical features</vt:lpstr>
      <vt:lpstr>Lexical features</vt:lpstr>
      <vt:lpstr>Lexical features</vt:lpstr>
      <vt:lpstr>Grammatical Features of News English</vt:lpstr>
      <vt:lpstr>Flexible use of ellipitical sentences</vt:lpstr>
      <vt:lpstr>Using parenthesis</vt:lpstr>
      <vt:lpstr>Using parenthesis</vt:lpstr>
      <vt:lpstr>Flexible sentence structure to include more details</vt:lpstr>
      <vt:lpstr>Flexible use of tenses</vt:lpstr>
      <vt:lpstr>Premodifiers</vt:lpstr>
      <vt:lpstr>Premodifiers</vt:lpstr>
      <vt:lpstr>Premodifiers</vt:lpstr>
      <vt:lpstr>Premodifiers</vt:lpstr>
      <vt:lpstr>Language features of news (structure) </vt:lpstr>
      <vt:lpstr>PowerPoint 演示文稿</vt:lpstr>
      <vt:lpstr>PowerPoint 演示文稿</vt:lpstr>
      <vt:lpstr>What is a Feature?</vt:lpstr>
      <vt:lpstr>Types of Features </vt:lpstr>
      <vt:lpstr>Types of Features </vt:lpstr>
      <vt:lpstr>Definitions of Features </vt:lpstr>
      <vt:lpstr>Difference between a News story and  a Feature </vt:lpstr>
      <vt:lpstr>Structure of a Feature </vt:lpstr>
      <vt:lpstr>Structure of a Feature - Intro or Lead</vt:lpstr>
      <vt:lpstr>Structure of a Feature - Transtion </vt:lpstr>
      <vt:lpstr>Structure of a Feature - Body</vt:lpstr>
      <vt:lpstr>Structure of a Feature - Conclusion</vt:lpstr>
      <vt:lpstr>Structure of a Feature - Length</vt:lpstr>
      <vt:lpstr>英语新闻写作 English news writing</vt:lpstr>
      <vt:lpstr>Classifications</vt:lpstr>
      <vt:lpstr>News Value</vt:lpstr>
      <vt:lpstr>PowerPoint 演示文稿</vt:lpstr>
      <vt:lpstr>消息的基本结构</vt:lpstr>
      <vt:lpstr>The Inverted Pyramid </vt:lpstr>
      <vt:lpstr>Writing a Lead </vt:lpstr>
      <vt:lpstr>Tips for Writing a Lead</vt:lpstr>
      <vt:lpstr>PowerPoint 演示文稿</vt:lpstr>
      <vt:lpstr>PowerPoint 演示文稿</vt:lpstr>
      <vt:lpstr>Sample lead</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任芳</cp:lastModifiedBy>
  <cp:revision>15</cp:revision>
  <dcterms:created xsi:type="dcterms:W3CDTF">2026-04-27T15:37:00Z</dcterms:created>
  <dcterms:modified xsi:type="dcterms:W3CDTF">2026-04-28T12:26:31Z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2052-11.8.2.12118</vt:lpwstr>
  </property>
  <property fmtid="{D5CDD505-2E9C-101B-9397-08002B2CF9AE}" pid="3" name="ICV">
    <vt:lpwstr>6C378D0985B13027ADC25864BD180F09</vt:lpwstr>
  </property>
</Properties>
</file>